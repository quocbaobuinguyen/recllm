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19"/>
  </p:notesMasterIdLst>
  <p:sldIdLst>
    <p:sldId id="256" r:id="rId2"/>
    <p:sldId id="257" r:id="rId3"/>
    <p:sldId id="263" r:id="rId4"/>
    <p:sldId id="288" r:id="rId5"/>
    <p:sldId id="282" r:id="rId6"/>
    <p:sldId id="280" r:id="rId7"/>
    <p:sldId id="283" r:id="rId8"/>
    <p:sldId id="284" r:id="rId9"/>
    <p:sldId id="269" r:id="rId10"/>
    <p:sldId id="273" r:id="rId11"/>
    <p:sldId id="289" r:id="rId12"/>
    <p:sldId id="274" r:id="rId13"/>
    <p:sldId id="275" r:id="rId14"/>
    <p:sldId id="276" r:id="rId15"/>
    <p:sldId id="290" r:id="rId16"/>
    <p:sldId id="278" r:id="rId17"/>
    <p:sldId id="287" r:id="rId18"/>
  </p:sldIdLst>
  <p:sldSz cx="9144000" cy="5143500" type="screen16x9"/>
  <p:notesSz cx="9144000" cy="51435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41" autoAdjust="0"/>
    <p:restoredTop sz="93872" autoAdjust="0"/>
  </p:normalViewPr>
  <p:slideViewPr>
    <p:cSldViewPr snapToGrid="0">
      <p:cViewPr varScale="1">
        <p:scale>
          <a:sx n="207" d="100"/>
          <a:sy n="207" d="100"/>
        </p:scale>
        <p:origin x="380" y="112"/>
      </p:cViewPr>
      <p:guideLst>
        <p:guide orient="horz" pos="2880"/>
        <p:guide pos="2160"/>
      </p:guideLst>
    </p:cSldViewPr>
  </p:slideViewPr>
  <p:outlineViewPr>
    <p:cViewPr>
      <p:scale>
        <a:sx n="33" d="100"/>
        <a:sy n="33" d="100"/>
      </p:scale>
      <p:origin x="0" y="-1538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2571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80013" y="0"/>
            <a:ext cx="3962400" cy="257175"/>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2474913"/>
            <a:ext cx="7315200" cy="20256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4886325"/>
            <a:ext cx="3962400" cy="25717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80013" y="4886325"/>
            <a:ext cx="3962400" cy="257175"/>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vi-V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1: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 name="Google Shape;47;p1:notes"/>
          <p:cNvSpPr txBox="1">
            <a:spLocks noGrp="1"/>
          </p:cNvSpPr>
          <p:nvPr>
            <p:ph type="body" idx="1"/>
          </p:nvPr>
        </p:nvSpPr>
        <p:spPr>
          <a:xfrm>
            <a:off x="914400" y="2474913"/>
            <a:ext cx="7315200" cy="2025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 name="Google Shape;48;p1:notes"/>
          <p:cNvSpPr txBox="1">
            <a:spLocks noGrp="1"/>
          </p:cNvSpPr>
          <p:nvPr>
            <p:ph type="sldNum" idx="12"/>
          </p:nvPr>
        </p:nvSpPr>
        <p:spPr>
          <a:xfrm>
            <a:off x="5180013" y="4886325"/>
            <a:ext cx="3962400" cy="2571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2: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026201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738934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897382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29861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208481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981326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2: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17393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58037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27018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54115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2: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512533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97435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577247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2: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91758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85655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2"/>
          <p:cNvSpPr txBox="1">
            <a:spLocks noGrp="1"/>
          </p:cNvSpPr>
          <p:nvPr>
            <p:ph type="title"/>
          </p:nvPr>
        </p:nvSpPr>
        <p:spPr>
          <a:xfrm>
            <a:off x="4092575" y="126492"/>
            <a:ext cx="1649729" cy="5130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200" b="0" i="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2"/>
          <p:cNvSpPr txBox="1">
            <a:spLocks noGrp="1"/>
          </p:cNvSpPr>
          <p:nvPr>
            <p:ph type="body" idx="1"/>
          </p:nvPr>
        </p:nvSpPr>
        <p:spPr>
          <a:xfrm>
            <a:off x="542274" y="904747"/>
            <a:ext cx="5541010" cy="181483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2400" b="0" i="0">
                <a:solidFill>
                  <a:schemeClr val="dk1"/>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vi-VN"/>
              <a:t>‹#›</a:t>
            </a:fld>
            <a:endParaRPr sz="1800">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Blank">
  <p:cSld name="Blank">
    <p:bg>
      <p:bgPr>
        <a:solidFill>
          <a:schemeClr val="lt1"/>
        </a:solidFill>
        <a:effectLst/>
      </p:bgPr>
    </p:bg>
    <p:spTree>
      <p:nvGrpSpPr>
        <p:cNvPr id="1" name="Shape 40"/>
        <p:cNvGrpSpPr/>
        <p:nvPr/>
      </p:nvGrpSpPr>
      <p:grpSpPr>
        <a:xfrm>
          <a:off x="0" y="0"/>
          <a:ext cx="0" cy="0"/>
          <a:chOff x="0" y="0"/>
          <a:chExt cx="0" cy="0"/>
        </a:xfrm>
      </p:grpSpPr>
      <p:sp>
        <p:nvSpPr>
          <p:cNvPr id="41" name="Google Shape;41;p6"/>
          <p:cNvSpPr/>
          <p:nvPr/>
        </p:nvSpPr>
        <p:spPr>
          <a:xfrm>
            <a:off x="530543" y="635698"/>
            <a:ext cx="3465195" cy="3465195"/>
          </a:xfrm>
          <a:custGeom>
            <a:avLst/>
            <a:gdLst/>
            <a:ahLst/>
            <a:cxnLst/>
            <a:rect l="l" t="t" r="r" b="b"/>
            <a:pathLst>
              <a:path w="3465195" h="3465195" extrusionOk="0">
                <a:moveTo>
                  <a:pt x="1732481" y="0"/>
                </a:moveTo>
                <a:lnTo>
                  <a:pt x="1683988" y="665"/>
                </a:lnTo>
                <a:lnTo>
                  <a:pt x="1635824" y="2650"/>
                </a:lnTo>
                <a:lnTo>
                  <a:pt x="1588008" y="5938"/>
                </a:lnTo>
                <a:lnTo>
                  <a:pt x="1540555" y="10510"/>
                </a:lnTo>
                <a:lnTo>
                  <a:pt x="1493485" y="16350"/>
                </a:lnTo>
                <a:lnTo>
                  <a:pt x="1446813" y="23439"/>
                </a:lnTo>
                <a:lnTo>
                  <a:pt x="1400558" y="31762"/>
                </a:lnTo>
                <a:lnTo>
                  <a:pt x="1354737" y="41300"/>
                </a:lnTo>
                <a:lnTo>
                  <a:pt x="1309368" y="52036"/>
                </a:lnTo>
                <a:lnTo>
                  <a:pt x="1264466" y="63952"/>
                </a:lnTo>
                <a:lnTo>
                  <a:pt x="1220051" y="77032"/>
                </a:lnTo>
                <a:lnTo>
                  <a:pt x="1176139" y="91258"/>
                </a:lnTo>
                <a:lnTo>
                  <a:pt x="1132748" y="106612"/>
                </a:lnTo>
                <a:lnTo>
                  <a:pt x="1089895" y="123078"/>
                </a:lnTo>
                <a:lnTo>
                  <a:pt x="1047597" y="140637"/>
                </a:lnTo>
                <a:lnTo>
                  <a:pt x="1005872" y="159273"/>
                </a:lnTo>
                <a:lnTo>
                  <a:pt x="964737" y="178968"/>
                </a:lnTo>
                <a:lnTo>
                  <a:pt x="924210" y="199704"/>
                </a:lnTo>
                <a:lnTo>
                  <a:pt x="884307" y="221465"/>
                </a:lnTo>
                <a:lnTo>
                  <a:pt x="845047" y="244233"/>
                </a:lnTo>
                <a:lnTo>
                  <a:pt x="806447" y="267990"/>
                </a:lnTo>
                <a:lnTo>
                  <a:pt x="768523" y="292720"/>
                </a:lnTo>
                <a:lnTo>
                  <a:pt x="731294" y="318405"/>
                </a:lnTo>
                <a:lnTo>
                  <a:pt x="694776" y="345027"/>
                </a:lnTo>
                <a:lnTo>
                  <a:pt x="658988" y="372569"/>
                </a:lnTo>
                <a:lnTo>
                  <a:pt x="623946" y="401014"/>
                </a:lnTo>
                <a:lnTo>
                  <a:pt x="589668" y="430344"/>
                </a:lnTo>
                <a:lnTo>
                  <a:pt x="556171" y="460542"/>
                </a:lnTo>
                <a:lnTo>
                  <a:pt x="523473" y="491591"/>
                </a:lnTo>
                <a:lnTo>
                  <a:pt x="491591" y="523474"/>
                </a:lnTo>
                <a:lnTo>
                  <a:pt x="460542" y="556172"/>
                </a:lnTo>
                <a:lnTo>
                  <a:pt x="430343" y="589669"/>
                </a:lnTo>
                <a:lnTo>
                  <a:pt x="401013" y="623947"/>
                </a:lnTo>
                <a:lnTo>
                  <a:pt x="372568" y="658989"/>
                </a:lnTo>
                <a:lnTo>
                  <a:pt x="345026" y="694777"/>
                </a:lnTo>
                <a:lnTo>
                  <a:pt x="318404" y="731295"/>
                </a:lnTo>
                <a:lnTo>
                  <a:pt x="292720" y="768524"/>
                </a:lnTo>
                <a:lnTo>
                  <a:pt x="267990" y="806447"/>
                </a:lnTo>
                <a:lnTo>
                  <a:pt x="244233" y="845048"/>
                </a:lnTo>
                <a:lnTo>
                  <a:pt x="221465" y="884308"/>
                </a:lnTo>
                <a:lnTo>
                  <a:pt x="199704" y="924211"/>
                </a:lnTo>
                <a:lnTo>
                  <a:pt x="178967" y="964738"/>
                </a:lnTo>
                <a:lnTo>
                  <a:pt x="159273" y="1005873"/>
                </a:lnTo>
                <a:lnTo>
                  <a:pt x="140637" y="1047598"/>
                </a:lnTo>
                <a:lnTo>
                  <a:pt x="123078" y="1089896"/>
                </a:lnTo>
                <a:lnTo>
                  <a:pt x="106612" y="1132749"/>
                </a:lnTo>
                <a:lnTo>
                  <a:pt x="91258" y="1176140"/>
                </a:lnTo>
                <a:lnTo>
                  <a:pt x="77032" y="1220052"/>
                </a:lnTo>
                <a:lnTo>
                  <a:pt x="63952" y="1264467"/>
                </a:lnTo>
                <a:lnTo>
                  <a:pt x="52036" y="1309369"/>
                </a:lnTo>
                <a:lnTo>
                  <a:pt x="41300" y="1354739"/>
                </a:lnTo>
                <a:lnTo>
                  <a:pt x="31762" y="1400560"/>
                </a:lnTo>
                <a:lnTo>
                  <a:pt x="23439" y="1446815"/>
                </a:lnTo>
                <a:lnTo>
                  <a:pt x="16350" y="1493486"/>
                </a:lnTo>
                <a:lnTo>
                  <a:pt x="10510" y="1540557"/>
                </a:lnTo>
                <a:lnTo>
                  <a:pt x="5938" y="1588009"/>
                </a:lnTo>
                <a:lnTo>
                  <a:pt x="2650" y="1635826"/>
                </a:lnTo>
                <a:lnTo>
                  <a:pt x="665" y="1683989"/>
                </a:lnTo>
                <a:lnTo>
                  <a:pt x="0" y="1732483"/>
                </a:lnTo>
                <a:lnTo>
                  <a:pt x="665" y="1780975"/>
                </a:lnTo>
                <a:lnTo>
                  <a:pt x="2650" y="1829139"/>
                </a:lnTo>
                <a:lnTo>
                  <a:pt x="5938" y="1876955"/>
                </a:lnTo>
                <a:lnTo>
                  <a:pt x="10510" y="1924406"/>
                </a:lnTo>
                <a:lnTo>
                  <a:pt x="16350" y="1971476"/>
                </a:lnTo>
                <a:lnTo>
                  <a:pt x="23439" y="2018147"/>
                </a:lnTo>
                <a:lnTo>
                  <a:pt x="31762" y="2064402"/>
                </a:lnTo>
                <a:lnTo>
                  <a:pt x="41300" y="2110222"/>
                </a:lnTo>
                <a:lnTo>
                  <a:pt x="52036" y="2155592"/>
                </a:lnTo>
                <a:lnTo>
                  <a:pt x="63952" y="2200493"/>
                </a:lnTo>
                <a:lnTo>
                  <a:pt x="77032" y="2244908"/>
                </a:lnTo>
                <a:lnTo>
                  <a:pt x="91258" y="2288819"/>
                </a:lnTo>
                <a:lnTo>
                  <a:pt x="106612" y="2332210"/>
                </a:lnTo>
                <a:lnTo>
                  <a:pt x="123078" y="2375063"/>
                </a:lnTo>
                <a:lnTo>
                  <a:pt x="140637" y="2417360"/>
                </a:lnTo>
                <a:lnTo>
                  <a:pt x="159273" y="2459085"/>
                </a:lnTo>
                <a:lnTo>
                  <a:pt x="178967" y="2500220"/>
                </a:lnTo>
                <a:lnTo>
                  <a:pt x="199704" y="2540747"/>
                </a:lnTo>
                <a:lnTo>
                  <a:pt x="221465" y="2580649"/>
                </a:lnTo>
                <a:lnTo>
                  <a:pt x="244233" y="2619909"/>
                </a:lnTo>
                <a:lnTo>
                  <a:pt x="267990" y="2658509"/>
                </a:lnTo>
                <a:lnTo>
                  <a:pt x="292720" y="2696432"/>
                </a:lnTo>
                <a:lnTo>
                  <a:pt x="318404" y="2733661"/>
                </a:lnTo>
                <a:lnTo>
                  <a:pt x="345026" y="2770179"/>
                </a:lnTo>
                <a:lnTo>
                  <a:pt x="372568" y="2805967"/>
                </a:lnTo>
                <a:lnTo>
                  <a:pt x="401013" y="2841008"/>
                </a:lnTo>
                <a:lnTo>
                  <a:pt x="430343" y="2875286"/>
                </a:lnTo>
                <a:lnTo>
                  <a:pt x="460542" y="2908783"/>
                </a:lnTo>
                <a:lnTo>
                  <a:pt x="491591" y="2941481"/>
                </a:lnTo>
                <a:lnTo>
                  <a:pt x="523473" y="2973363"/>
                </a:lnTo>
                <a:lnTo>
                  <a:pt x="556171" y="3004412"/>
                </a:lnTo>
                <a:lnTo>
                  <a:pt x="589668" y="3034611"/>
                </a:lnTo>
                <a:lnTo>
                  <a:pt x="623946" y="3063941"/>
                </a:lnTo>
                <a:lnTo>
                  <a:pt x="658988" y="3092386"/>
                </a:lnTo>
                <a:lnTo>
                  <a:pt x="694776" y="3119928"/>
                </a:lnTo>
                <a:lnTo>
                  <a:pt x="731294" y="3146550"/>
                </a:lnTo>
                <a:lnTo>
                  <a:pt x="768523" y="3172234"/>
                </a:lnTo>
                <a:lnTo>
                  <a:pt x="806447" y="3196964"/>
                </a:lnTo>
                <a:lnTo>
                  <a:pt x="845047" y="3220721"/>
                </a:lnTo>
                <a:lnTo>
                  <a:pt x="884307" y="3243489"/>
                </a:lnTo>
                <a:lnTo>
                  <a:pt x="924210" y="3265250"/>
                </a:lnTo>
                <a:lnTo>
                  <a:pt x="964737" y="3285986"/>
                </a:lnTo>
                <a:lnTo>
                  <a:pt x="1005872" y="3305681"/>
                </a:lnTo>
                <a:lnTo>
                  <a:pt x="1047597" y="3324317"/>
                </a:lnTo>
                <a:lnTo>
                  <a:pt x="1089895" y="3341876"/>
                </a:lnTo>
                <a:lnTo>
                  <a:pt x="1132748" y="3358342"/>
                </a:lnTo>
                <a:lnTo>
                  <a:pt x="1176139" y="3373696"/>
                </a:lnTo>
                <a:lnTo>
                  <a:pt x="1220051" y="3387922"/>
                </a:lnTo>
                <a:lnTo>
                  <a:pt x="1264466" y="3401002"/>
                </a:lnTo>
                <a:lnTo>
                  <a:pt x="1309368" y="3412918"/>
                </a:lnTo>
                <a:lnTo>
                  <a:pt x="1354737" y="3423654"/>
                </a:lnTo>
                <a:lnTo>
                  <a:pt x="1400558" y="3433192"/>
                </a:lnTo>
                <a:lnTo>
                  <a:pt x="1446813" y="3441515"/>
                </a:lnTo>
                <a:lnTo>
                  <a:pt x="1493485" y="3448604"/>
                </a:lnTo>
                <a:lnTo>
                  <a:pt x="1540555" y="3454444"/>
                </a:lnTo>
                <a:lnTo>
                  <a:pt x="1588008" y="3459016"/>
                </a:lnTo>
                <a:lnTo>
                  <a:pt x="1635824" y="3462304"/>
                </a:lnTo>
                <a:lnTo>
                  <a:pt x="1683988" y="3464289"/>
                </a:lnTo>
                <a:lnTo>
                  <a:pt x="1732481" y="3464954"/>
                </a:lnTo>
                <a:lnTo>
                  <a:pt x="1780974" y="3464289"/>
                </a:lnTo>
                <a:lnTo>
                  <a:pt x="1829137" y="3462304"/>
                </a:lnTo>
                <a:lnTo>
                  <a:pt x="1876953" y="3459016"/>
                </a:lnTo>
                <a:lnTo>
                  <a:pt x="1924405" y="3454444"/>
                </a:lnTo>
                <a:lnTo>
                  <a:pt x="1971475" y="3448604"/>
                </a:lnTo>
                <a:lnTo>
                  <a:pt x="2018146" y="3441515"/>
                </a:lnTo>
                <a:lnTo>
                  <a:pt x="2064400" y="3433192"/>
                </a:lnTo>
                <a:lnTo>
                  <a:pt x="2110221" y="3423654"/>
                </a:lnTo>
                <a:lnTo>
                  <a:pt x="2155590" y="3412918"/>
                </a:lnTo>
                <a:lnTo>
                  <a:pt x="2200491" y="3401002"/>
                </a:lnTo>
                <a:lnTo>
                  <a:pt x="2244906" y="3387922"/>
                </a:lnTo>
                <a:lnTo>
                  <a:pt x="2288818" y="3373696"/>
                </a:lnTo>
                <a:lnTo>
                  <a:pt x="2332209" y="3358342"/>
                </a:lnTo>
                <a:lnTo>
                  <a:pt x="2375061" y="3341876"/>
                </a:lnTo>
                <a:lnTo>
                  <a:pt x="2417359" y="3324317"/>
                </a:lnTo>
                <a:lnTo>
                  <a:pt x="2459084" y="3305681"/>
                </a:lnTo>
                <a:lnTo>
                  <a:pt x="2500218" y="3285986"/>
                </a:lnTo>
                <a:lnTo>
                  <a:pt x="2540745" y="3265250"/>
                </a:lnTo>
                <a:lnTo>
                  <a:pt x="2580647" y="3243489"/>
                </a:lnTo>
                <a:lnTo>
                  <a:pt x="2619907" y="3220721"/>
                </a:lnTo>
                <a:lnTo>
                  <a:pt x="2658507" y="3196964"/>
                </a:lnTo>
                <a:lnTo>
                  <a:pt x="2696431" y="3172234"/>
                </a:lnTo>
                <a:lnTo>
                  <a:pt x="2733660" y="3146550"/>
                </a:lnTo>
                <a:lnTo>
                  <a:pt x="2770177" y="3119928"/>
                </a:lnTo>
                <a:lnTo>
                  <a:pt x="2805965" y="3092386"/>
                </a:lnTo>
                <a:lnTo>
                  <a:pt x="2841007" y="3063941"/>
                </a:lnTo>
                <a:lnTo>
                  <a:pt x="2875284" y="3034611"/>
                </a:lnTo>
                <a:lnTo>
                  <a:pt x="2908781" y="3004412"/>
                </a:lnTo>
                <a:lnTo>
                  <a:pt x="2941479" y="2973363"/>
                </a:lnTo>
                <a:lnTo>
                  <a:pt x="2973361" y="2941481"/>
                </a:lnTo>
                <a:lnTo>
                  <a:pt x="3004410" y="2908783"/>
                </a:lnTo>
                <a:lnTo>
                  <a:pt x="3034609" y="2875286"/>
                </a:lnTo>
                <a:lnTo>
                  <a:pt x="3063939" y="2841008"/>
                </a:lnTo>
                <a:lnTo>
                  <a:pt x="3092384" y="2805967"/>
                </a:lnTo>
                <a:lnTo>
                  <a:pt x="3119926" y="2770179"/>
                </a:lnTo>
                <a:lnTo>
                  <a:pt x="3146548" y="2733661"/>
                </a:lnTo>
                <a:lnTo>
                  <a:pt x="3172232" y="2696432"/>
                </a:lnTo>
                <a:lnTo>
                  <a:pt x="3196962" y="2658509"/>
                </a:lnTo>
                <a:lnTo>
                  <a:pt x="3220719" y="2619909"/>
                </a:lnTo>
                <a:lnTo>
                  <a:pt x="3243487" y="2580649"/>
                </a:lnTo>
                <a:lnTo>
                  <a:pt x="3265248" y="2540747"/>
                </a:lnTo>
                <a:lnTo>
                  <a:pt x="3285984" y="2500220"/>
                </a:lnTo>
                <a:lnTo>
                  <a:pt x="3305679" y="2459085"/>
                </a:lnTo>
                <a:lnTo>
                  <a:pt x="3324315" y="2417360"/>
                </a:lnTo>
                <a:lnTo>
                  <a:pt x="3341874" y="2375063"/>
                </a:lnTo>
                <a:lnTo>
                  <a:pt x="3358339" y="2332210"/>
                </a:lnTo>
                <a:lnTo>
                  <a:pt x="3373694" y="2288819"/>
                </a:lnTo>
                <a:lnTo>
                  <a:pt x="3387919" y="2244908"/>
                </a:lnTo>
                <a:lnTo>
                  <a:pt x="3400999" y="2200493"/>
                </a:lnTo>
                <a:lnTo>
                  <a:pt x="3412916" y="2155592"/>
                </a:lnTo>
                <a:lnTo>
                  <a:pt x="3423652" y="2110222"/>
                </a:lnTo>
                <a:lnTo>
                  <a:pt x="3433190" y="2064402"/>
                </a:lnTo>
                <a:lnTo>
                  <a:pt x="3441512" y="2018147"/>
                </a:lnTo>
                <a:lnTo>
                  <a:pt x="3448602" y="1971476"/>
                </a:lnTo>
                <a:lnTo>
                  <a:pt x="3454442" y="1924406"/>
                </a:lnTo>
                <a:lnTo>
                  <a:pt x="3459014" y="1876955"/>
                </a:lnTo>
                <a:lnTo>
                  <a:pt x="3462301" y="1829139"/>
                </a:lnTo>
                <a:lnTo>
                  <a:pt x="3464286" y="1780975"/>
                </a:lnTo>
                <a:lnTo>
                  <a:pt x="3464952" y="1732483"/>
                </a:lnTo>
                <a:lnTo>
                  <a:pt x="3464286" y="1683989"/>
                </a:lnTo>
                <a:lnTo>
                  <a:pt x="3462301" y="1635826"/>
                </a:lnTo>
                <a:lnTo>
                  <a:pt x="3459014" y="1588009"/>
                </a:lnTo>
                <a:lnTo>
                  <a:pt x="3454442" y="1540557"/>
                </a:lnTo>
                <a:lnTo>
                  <a:pt x="3448602" y="1493486"/>
                </a:lnTo>
                <a:lnTo>
                  <a:pt x="3441512" y="1446815"/>
                </a:lnTo>
                <a:lnTo>
                  <a:pt x="3433190" y="1400560"/>
                </a:lnTo>
                <a:lnTo>
                  <a:pt x="3423652" y="1354739"/>
                </a:lnTo>
                <a:lnTo>
                  <a:pt x="3412916" y="1309369"/>
                </a:lnTo>
                <a:lnTo>
                  <a:pt x="3400999" y="1264467"/>
                </a:lnTo>
                <a:lnTo>
                  <a:pt x="3387919" y="1220052"/>
                </a:lnTo>
                <a:lnTo>
                  <a:pt x="3373694" y="1176140"/>
                </a:lnTo>
                <a:lnTo>
                  <a:pt x="3358339" y="1132749"/>
                </a:lnTo>
                <a:lnTo>
                  <a:pt x="3341874" y="1089896"/>
                </a:lnTo>
                <a:lnTo>
                  <a:pt x="3324315" y="1047598"/>
                </a:lnTo>
                <a:lnTo>
                  <a:pt x="3305679" y="1005873"/>
                </a:lnTo>
                <a:lnTo>
                  <a:pt x="3285984" y="964738"/>
                </a:lnTo>
                <a:lnTo>
                  <a:pt x="3265248" y="924211"/>
                </a:lnTo>
                <a:lnTo>
                  <a:pt x="3243487" y="884308"/>
                </a:lnTo>
                <a:lnTo>
                  <a:pt x="3220719" y="845048"/>
                </a:lnTo>
                <a:lnTo>
                  <a:pt x="3196962" y="806447"/>
                </a:lnTo>
                <a:lnTo>
                  <a:pt x="3172232" y="768524"/>
                </a:lnTo>
                <a:lnTo>
                  <a:pt x="3146548" y="731295"/>
                </a:lnTo>
                <a:lnTo>
                  <a:pt x="3119926" y="694777"/>
                </a:lnTo>
                <a:lnTo>
                  <a:pt x="3092384" y="658989"/>
                </a:lnTo>
                <a:lnTo>
                  <a:pt x="3063939" y="623947"/>
                </a:lnTo>
                <a:lnTo>
                  <a:pt x="3034609" y="589669"/>
                </a:lnTo>
                <a:lnTo>
                  <a:pt x="3004410" y="556172"/>
                </a:lnTo>
                <a:lnTo>
                  <a:pt x="2973361" y="523474"/>
                </a:lnTo>
                <a:lnTo>
                  <a:pt x="2941479" y="491591"/>
                </a:lnTo>
                <a:lnTo>
                  <a:pt x="2908781" y="460542"/>
                </a:lnTo>
                <a:lnTo>
                  <a:pt x="2875284" y="430344"/>
                </a:lnTo>
                <a:lnTo>
                  <a:pt x="2841007" y="401014"/>
                </a:lnTo>
                <a:lnTo>
                  <a:pt x="2805965" y="372569"/>
                </a:lnTo>
                <a:lnTo>
                  <a:pt x="2770177" y="345027"/>
                </a:lnTo>
                <a:lnTo>
                  <a:pt x="2733660" y="318405"/>
                </a:lnTo>
                <a:lnTo>
                  <a:pt x="2696431" y="292720"/>
                </a:lnTo>
                <a:lnTo>
                  <a:pt x="2658507" y="267990"/>
                </a:lnTo>
                <a:lnTo>
                  <a:pt x="2619907" y="244233"/>
                </a:lnTo>
                <a:lnTo>
                  <a:pt x="2580647" y="221465"/>
                </a:lnTo>
                <a:lnTo>
                  <a:pt x="2540745" y="199704"/>
                </a:lnTo>
                <a:lnTo>
                  <a:pt x="2500218" y="178968"/>
                </a:lnTo>
                <a:lnTo>
                  <a:pt x="2459084" y="159273"/>
                </a:lnTo>
                <a:lnTo>
                  <a:pt x="2417359" y="140637"/>
                </a:lnTo>
                <a:lnTo>
                  <a:pt x="2375061" y="123078"/>
                </a:lnTo>
                <a:lnTo>
                  <a:pt x="2332209" y="106612"/>
                </a:lnTo>
                <a:lnTo>
                  <a:pt x="2288818" y="91258"/>
                </a:lnTo>
                <a:lnTo>
                  <a:pt x="2244906" y="77032"/>
                </a:lnTo>
                <a:lnTo>
                  <a:pt x="2200491" y="63952"/>
                </a:lnTo>
                <a:lnTo>
                  <a:pt x="2155590" y="52036"/>
                </a:lnTo>
                <a:lnTo>
                  <a:pt x="2110221" y="41300"/>
                </a:lnTo>
                <a:lnTo>
                  <a:pt x="2064400" y="31762"/>
                </a:lnTo>
                <a:lnTo>
                  <a:pt x="2018146" y="23439"/>
                </a:lnTo>
                <a:lnTo>
                  <a:pt x="1971475" y="16350"/>
                </a:lnTo>
                <a:lnTo>
                  <a:pt x="1924405" y="10510"/>
                </a:lnTo>
                <a:lnTo>
                  <a:pt x="1876953" y="5938"/>
                </a:lnTo>
                <a:lnTo>
                  <a:pt x="1829137" y="2650"/>
                </a:lnTo>
                <a:lnTo>
                  <a:pt x="1780974" y="665"/>
                </a:lnTo>
                <a:lnTo>
                  <a:pt x="1732481" y="0"/>
                </a:lnTo>
                <a:close/>
              </a:path>
            </a:pathLst>
          </a:custGeom>
          <a:solidFill>
            <a:srgbClr val="C0504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 name="Google Shape;42;p6"/>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vi-VN"/>
              <a:t>‹#›</a:t>
            </a:fld>
            <a:endParaRPr sz="1800">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p:nvPr/>
        </p:nvSpPr>
        <p:spPr>
          <a:xfrm>
            <a:off x="0" y="0"/>
            <a:ext cx="9144000" cy="5141975"/>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 name="Google Shape;11;p1"/>
          <p:cNvSpPr txBox="1">
            <a:spLocks noGrp="1"/>
          </p:cNvSpPr>
          <p:nvPr>
            <p:ph type="title"/>
          </p:nvPr>
        </p:nvSpPr>
        <p:spPr>
          <a:xfrm>
            <a:off x="4092575" y="126492"/>
            <a:ext cx="1649729" cy="51308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32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
          <p:cNvSpPr txBox="1">
            <a:spLocks noGrp="1"/>
          </p:cNvSpPr>
          <p:nvPr>
            <p:ph type="body" idx="1"/>
          </p:nvPr>
        </p:nvSpPr>
        <p:spPr>
          <a:xfrm>
            <a:off x="542274" y="904747"/>
            <a:ext cx="5541010" cy="1814830"/>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24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marR="0" lvl="0" algn="ctr" rtl="0">
              <a:spcBef>
                <a:spcPts val="0"/>
              </a:spcBef>
              <a:spcAft>
                <a:spcPts val="0"/>
              </a:spcAft>
              <a:buSzPts val="1400"/>
              <a:buNone/>
              <a:defRPr sz="18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1"/>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marR="0" lvl="0" indent="0" algn="r" rtl="0">
              <a:spcBef>
                <a:spcPts val="0"/>
              </a:spcBef>
              <a:buNone/>
              <a:defRPr sz="1800">
                <a:solidFill>
                  <a:srgbClr val="888888"/>
                </a:solidFill>
                <a:latin typeface="Calibri"/>
                <a:ea typeface="Calibri"/>
                <a:cs typeface="Calibri"/>
                <a:sym typeface="Calibri"/>
              </a:defRPr>
            </a:lvl1pPr>
            <a:lvl2pPr marL="0" marR="0" lvl="1" indent="0" algn="r" rtl="0">
              <a:spcBef>
                <a:spcPts val="0"/>
              </a:spcBef>
              <a:buNone/>
              <a:defRPr sz="1800">
                <a:solidFill>
                  <a:srgbClr val="888888"/>
                </a:solidFill>
                <a:latin typeface="Calibri"/>
                <a:ea typeface="Calibri"/>
                <a:cs typeface="Calibri"/>
                <a:sym typeface="Calibri"/>
              </a:defRPr>
            </a:lvl2pPr>
            <a:lvl3pPr marL="0" marR="0" lvl="2" indent="0" algn="r" rtl="0">
              <a:spcBef>
                <a:spcPts val="0"/>
              </a:spcBef>
              <a:buNone/>
              <a:defRPr sz="1800">
                <a:solidFill>
                  <a:srgbClr val="888888"/>
                </a:solidFill>
                <a:latin typeface="Calibri"/>
                <a:ea typeface="Calibri"/>
                <a:cs typeface="Calibri"/>
                <a:sym typeface="Calibri"/>
              </a:defRPr>
            </a:lvl3pPr>
            <a:lvl4pPr marL="0" marR="0" lvl="3" indent="0" algn="r" rtl="0">
              <a:spcBef>
                <a:spcPts val="0"/>
              </a:spcBef>
              <a:buNone/>
              <a:defRPr sz="1800">
                <a:solidFill>
                  <a:srgbClr val="888888"/>
                </a:solidFill>
                <a:latin typeface="Calibri"/>
                <a:ea typeface="Calibri"/>
                <a:cs typeface="Calibri"/>
                <a:sym typeface="Calibri"/>
              </a:defRPr>
            </a:lvl4pPr>
            <a:lvl5pPr marL="0" marR="0" lvl="4" indent="0" algn="r" rtl="0">
              <a:spcBef>
                <a:spcPts val="0"/>
              </a:spcBef>
              <a:buNone/>
              <a:defRPr sz="1800">
                <a:solidFill>
                  <a:srgbClr val="888888"/>
                </a:solidFill>
                <a:latin typeface="Calibri"/>
                <a:ea typeface="Calibri"/>
                <a:cs typeface="Calibri"/>
                <a:sym typeface="Calibri"/>
              </a:defRPr>
            </a:lvl5pPr>
            <a:lvl6pPr marL="0" marR="0" lvl="5" indent="0" algn="r" rtl="0">
              <a:spcBef>
                <a:spcPts val="0"/>
              </a:spcBef>
              <a:buNone/>
              <a:defRPr sz="1800">
                <a:solidFill>
                  <a:srgbClr val="888888"/>
                </a:solidFill>
                <a:latin typeface="Calibri"/>
                <a:ea typeface="Calibri"/>
                <a:cs typeface="Calibri"/>
                <a:sym typeface="Calibri"/>
              </a:defRPr>
            </a:lvl6pPr>
            <a:lvl7pPr marL="0" marR="0" lvl="6" indent="0" algn="r" rtl="0">
              <a:spcBef>
                <a:spcPts val="0"/>
              </a:spcBef>
              <a:buNone/>
              <a:defRPr sz="1800">
                <a:solidFill>
                  <a:srgbClr val="888888"/>
                </a:solidFill>
                <a:latin typeface="Calibri"/>
                <a:ea typeface="Calibri"/>
                <a:cs typeface="Calibri"/>
                <a:sym typeface="Calibri"/>
              </a:defRPr>
            </a:lvl7pPr>
            <a:lvl8pPr marL="0" marR="0" lvl="7" indent="0" algn="r" rtl="0">
              <a:spcBef>
                <a:spcPts val="0"/>
              </a:spcBef>
              <a:buNone/>
              <a:defRPr sz="1800">
                <a:solidFill>
                  <a:srgbClr val="888888"/>
                </a:solidFill>
                <a:latin typeface="Calibri"/>
                <a:ea typeface="Calibri"/>
                <a:cs typeface="Calibri"/>
                <a:sym typeface="Calibri"/>
              </a:defRPr>
            </a:lvl8pPr>
            <a:lvl9pPr marL="0" marR="0" lvl="8" indent="0" algn="r" rtl="0">
              <a:spcBef>
                <a:spcPts val="0"/>
              </a:spcBef>
              <a:buNone/>
              <a:defRPr sz="18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vi-VN"/>
              <a:t>‹#›</a:t>
            </a:fld>
            <a:endParaRPr b="0" u="none"/>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Lst>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9"/>
        <p:cNvGrpSpPr/>
        <p:nvPr/>
      </p:nvGrpSpPr>
      <p:grpSpPr>
        <a:xfrm>
          <a:off x="0" y="0"/>
          <a:ext cx="0" cy="0"/>
          <a:chOff x="0" y="0"/>
          <a:chExt cx="0" cy="0"/>
        </a:xfrm>
      </p:grpSpPr>
      <p:sp>
        <p:nvSpPr>
          <p:cNvPr id="50" name="Google Shape;50;p7"/>
          <p:cNvSpPr/>
          <p:nvPr/>
        </p:nvSpPr>
        <p:spPr>
          <a:xfrm>
            <a:off x="0" y="-19050"/>
            <a:ext cx="9144000" cy="51420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51" name="Google Shape;51;p7"/>
          <p:cNvSpPr txBox="1">
            <a:spLocks noGrp="1"/>
          </p:cNvSpPr>
          <p:nvPr>
            <p:ph type="title"/>
          </p:nvPr>
        </p:nvSpPr>
        <p:spPr>
          <a:xfrm>
            <a:off x="446421" y="716800"/>
            <a:ext cx="8145000" cy="1227880"/>
          </a:xfrm>
          <a:prstGeom prst="rect">
            <a:avLst/>
          </a:prstGeom>
          <a:noFill/>
          <a:ln>
            <a:noFill/>
          </a:ln>
        </p:spPr>
        <p:txBody>
          <a:bodyPr spcFirstLastPara="1" wrap="square" lIns="0" tIns="55225" rIns="0" bIns="0" anchor="t" anchorCtr="0">
            <a:spAutoFit/>
          </a:bodyPr>
          <a:lstStyle/>
          <a:p>
            <a:pPr marL="12700" marR="5080" lvl="0" indent="2540" algn="ctr">
              <a:lnSpc>
                <a:spcPct val="99700"/>
              </a:lnSpc>
              <a:spcBef>
                <a:spcPts val="540"/>
              </a:spcBef>
            </a:pPr>
            <a:r>
              <a:rPr lang="vi-VN" sz="2400" b="1" dirty="0">
                <a:solidFill>
                  <a:srgbClr val="FFFFFF"/>
                </a:solidFill>
              </a:rPr>
              <a:t>CĂN CHỈNH VÀ TÍCH HỢP THÔNG TIN CỘNG TÁC NHẰM NÂNG CAO HIỆU QUẢ CHO HỆ THỐNG TƯ VẤN DỰA TRÊN MÔ HÌNH NGÔN NGỮ LỚN</a:t>
            </a:r>
            <a:endParaRPr sz="2400" dirty="0">
              <a:latin typeface="Arial"/>
              <a:ea typeface="Arial"/>
              <a:cs typeface="Arial"/>
              <a:sym typeface="Arial"/>
            </a:endParaRPr>
          </a:p>
        </p:txBody>
      </p:sp>
      <p:pic>
        <p:nvPicPr>
          <p:cNvPr id="52" name="Google Shape;52;p7"/>
          <p:cNvPicPr preferRelativeResize="0"/>
          <p:nvPr/>
        </p:nvPicPr>
        <p:blipFill rotWithShape="1">
          <a:blip r:embed="rId4">
            <a:alphaModFix/>
          </a:blip>
          <a:srcRect/>
          <a:stretch/>
        </p:blipFill>
        <p:spPr>
          <a:xfrm>
            <a:off x="23734" y="3782921"/>
            <a:ext cx="1474120" cy="1474120"/>
          </a:xfrm>
          <a:prstGeom prst="rect">
            <a:avLst/>
          </a:prstGeom>
          <a:noFill/>
          <a:ln>
            <a:noFill/>
          </a:ln>
        </p:spPr>
      </p:pic>
      <p:sp>
        <p:nvSpPr>
          <p:cNvPr id="54" name="Google Shape;54;p7"/>
          <p:cNvSpPr txBox="1"/>
          <p:nvPr/>
        </p:nvSpPr>
        <p:spPr>
          <a:xfrm>
            <a:off x="2693617" y="2073227"/>
            <a:ext cx="7049855" cy="855983"/>
          </a:xfrm>
          <a:prstGeom prst="rect">
            <a:avLst/>
          </a:prstGeom>
          <a:noFill/>
          <a:ln>
            <a:noFill/>
          </a:ln>
        </p:spPr>
        <p:txBody>
          <a:bodyPr spcFirstLastPara="1" wrap="square" lIns="0" tIns="55225" rIns="0" bIns="0" anchor="t" anchorCtr="0">
            <a:spAutoFit/>
          </a:bodyPr>
          <a:lstStyle/>
          <a:p>
            <a:pPr marL="109220" lvl="0" algn="just">
              <a:spcBef>
                <a:spcPts val="434"/>
              </a:spcBef>
            </a:pPr>
            <a:r>
              <a:rPr lang="en-US" sz="1400" b="0" i="0" dirty="0" smtClean="0">
                <a:solidFill>
                  <a:schemeClr val="lt1"/>
                </a:solidFill>
                <a:latin typeface="Arial"/>
                <a:ea typeface="Arial"/>
                <a:cs typeface="Arial"/>
                <a:sym typeface="Arial"/>
              </a:rPr>
              <a:t>		</a:t>
            </a:r>
            <a:r>
              <a:rPr lang="vi-VN" sz="1400" b="0" i="0" dirty="0" smtClean="0">
                <a:solidFill>
                  <a:schemeClr val="lt1"/>
                </a:solidFill>
                <a:latin typeface="Arial"/>
                <a:ea typeface="Arial"/>
                <a:cs typeface="Arial"/>
                <a:sym typeface="Arial"/>
              </a:rPr>
              <a:t>Học </a:t>
            </a:r>
            <a:r>
              <a:rPr lang="vi-VN" sz="1400" b="0" i="0" dirty="0">
                <a:solidFill>
                  <a:schemeClr val="lt1"/>
                </a:solidFill>
                <a:latin typeface="Arial"/>
                <a:ea typeface="Arial"/>
                <a:cs typeface="Arial"/>
                <a:sym typeface="Arial"/>
              </a:rPr>
              <a:t>viên thực hiện: 	</a:t>
            </a:r>
            <a:r>
              <a:rPr lang="vi-VN" dirty="0" smtClean="0">
                <a:solidFill>
                  <a:schemeClr val="lt1"/>
                </a:solidFill>
              </a:rPr>
              <a:t>Bùi </a:t>
            </a:r>
            <a:r>
              <a:rPr lang="vi-VN" dirty="0">
                <a:solidFill>
                  <a:schemeClr val="lt1"/>
                </a:solidFill>
              </a:rPr>
              <a:t>Nguyên Quốc </a:t>
            </a:r>
            <a:r>
              <a:rPr lang="vi-VN" dirty="0" smtClean="0">
                <a:solidFill>
                  <a:schemeClr val="lt1"/>
                </a:solidFill>
              </a:rPr>
              <a:t>Bảo</a:t>
            </a:r>
            <a:endParaRPr lang="en-US" dirty="0" smtClean="0">
              <a:solidFill>
                <a:schemeClr val="lt1"/>
              </a:solidFill>
            </a:endParaRPr>
          </a:p>
          <a:p>
            <a:pPr marL="109220" lvl="0" algn="just">
              <a:spcBef>
                <a:spcPts val="434"/>
              </a:spcBef>
            </a:pPr>
            <a:r>
              <a:rPr lang="en-US" dirty="0">
                <a:solidFill>
                  <a:schemeClr val="lt1"/>
                </a:solidFill>
              </a:rPr>
              <a:t>	</a:t>
            </a:r>
            <a:r>
              <a:rPr lang="en-US" dirty="0" smtClean="0">
                <a:solidFill>
                  <a:schemeClr val="lt1"/>
                </a:solidFill>
              </a:rPr>
              <a:t>	MSHV:		24C12002</a:t>
            </a:r>
          </a:p>
          <a:p>
            <a:pPr marL="109220" lvl="0" algn="just">
              <a:spcBef>
                <a:spcPts val="434"/>
              </a:spcBef>
            </a:pPr>
            <a:r>
              <a:rPr lang="en-US" dirty="0">
                <a:solidFill>
                  <a:schemeClr val="lt1"/>
                </a:solidFill>
              </a:rPr>
              <a:t>	</a:t>
            </a:r>
            <a:r>
              <a:rPr lang="en-US" dirty="0" smtClean="0">
                <a:solidFill>
                  <a:schemeClr val="lt1"/>
                </a:solidFill>
              </a:rPr>
              <a:t>	</a:t>
            </a:r>
            <a:r>
              <a:rPr lang="en-US" dirty="0" err="1" smtClean="0">
                <a:solidFill>
                  <a:schemeClr val="lt1"/>
                </a:solidFill>
              </a:rPr>
              <a:t>Ngành</a:t>
            </a:r>
            <a:r>
              <a:rPr lang="en-US" dirty="0" smtClean="0">
                <a:solidFill>
                  <a:schemeClr val="lt1"/>
                </a:solidFill>
              </a:rPr>
              <a:t> </a:t>
            </a:r>
            <a:r>
              <a:rPr lang="en-US" dirty="0" err="1" smtClean="0">
                <a:solidFill>
                  <a:schemeClr val="lt1"/>
                </a:solidFill>
              </a:rPr>
              <a:t>đào</a:t>
            </a:r>
            <a:r>
              <a:rPr lang="en-US" dirty="0" smtClean="0">
                <a:solidFill>
                  <a:schemeClr val="lt1"/>
                </a:solidFill>
              </a:rPr>
              <a:t> </a:t>
            </a:r>
            <a:r>
              <a:rPr lang="en-US" dirty="0" err="1" smtClean="0">
                <a:solidFill>
                  <a:schemeClr val="lt1"/>
                </a:solidFill>
              </a:rPr>
              <a:t>tạo</a:t>
            </a:r>
            <a:r>
              <a:rPr lang="en-US" dirty="0" smtClean="0">
                <a:solidFill>
                  <a:schemeClr val="lt1"/>
                </a:solidFill>
              </a:rPr>
              <a:t>:	</a:t>
            </a:r>
            <a:r>
              <a:rPr lang="en-US" dirty="0" err="1" smtClean="0">
                <a:solidFill>
                  <a:schemeClr val="lt1"/>
                </a:solidFill>
              </a:rPr>
              <a:t>Hệ</a:t>
            </a:r>
            <a:r>
              <a:rPr lang="en-US" dirty="0" smtClean="0">
                <a:solidFill>
                  <a:schemeClr val="lt1"/>
                </a:solidFill>
              </a:rPr>
              <a:t> </a:t>
            </a:r>
            <a:r>
              <a:rPr lang="en-US" dirty="0" err="1">
                <a:solidFill>
                  <a:schemeClr val="lt1"/>
                </a:solidFill>
              </a:rPr>
              <a:t>T</a:t>
            </a:r>
            <a:r>
              <a:rPr lang="en-US" dirty="0" err="1" smtClean="0">
                <a:solidFill>
                  <a:schemeClr val="lt1"/>
                </a:solidFill>
              </a:rPr>
              <a:t>hống</a:t>
            </a:r>
            <a:r>
              <a:rPr lang="en-US" dirty="0" smtClean="0">
                <a:solidFill>
                  <a:schemeClr val="lt1"/>
                </a:solidFill>
              </a:rPr>
              <a:t> </a:t>
            </a:r>
            <a:r>
              <a:rPr lang="en-US" dirty="0" err="1">
                <a:solidFill>
                  <a:schemeClr val="lt1"/>
                </a:solidFill>
              </a:rPr>
              <a:t>T</a:t>
            </a:r>
            <a:r>
              <a:rPr lang="en-US" dirty="0" err="1" smtClean="0">
                <a:solidFill>
                  <a:schemeClr val="lt1"/>
                </a:solidFill>
              </a:rPr>
              <a:t>hông</a:t>
            </a:r>
            <a:r>
              <a:rPr lang="en-US" dirty="0" smtClean="0">
                <a:solidFill>
                  <a:schemeClr val="lt1"/>
                </a:solidFill>
              </a:rPr>
              <a:t> Tin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8"/>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vi-VN" sz="2800" dirty="0"/>
              <a:t>Nội dung</a:t>
            </a:r>
            <a:endParaRPr dirty="0"/>
          </a:p>
        </p:txBody>
      </p:sp>
      <p:sp>
        <p:nvSpPr>
          <p:cNvPr id="60" name="Google Shape;60;p8"/>
          <p:cNvSpPr txBox="1"/>
          <p:nvPr/>
        </p:nvSpPr>
        <p:spPr>
          <a:xfrm>
            <a:off x="914400" y="971550"/>
            <a:ext cx="7086600" cy="2195473"/>
          </a:xfrm>
          <a:prstGeom prst="rect">
            <a:avLst/>
          </a:prstGeom>
          <a:noFill/>
          <a:ln>
            <a:noFill/>
          </a:ln>
        </p:spPr>
        <p:txBody>
          <a:bodyPr spcFirstLastPara="1" wrap="square" lIns="0" tIns="152400" rIns="0" bIns="0" anchor="t" anchorCtr="0">
            <a:spAutoFit/>
          </a:bodyPr>
          <a:lstStyle/>
          <a:p>
            <a:pPr marL="360045" lvl="0" indent="-347345">
              <a:spcBef>
                <a:spcPts val="1130"/>
              </a:spcBef>
              <a:buClr>
                <a:srgbClr val="F79646"/>
              </a:buClr>
              <a:buSzPts val="2400"/>
              <a:buFont typeface="Arial"/>
              <a:buChar char="❖"/>
            </a:pPr>
            <a:r>
              <a:rPr lang="en-US" sz="2400" dirty="0" err="1"/>
              <a:t>Tổng</a:t>
            </a:r>
            <a:r>
              <a:rPr lang="en-US" sz="2400" dirty="0"/>
              <a:t> </a:t>
            </a:r>
            <a:r>
              <a:rPr lang="en-US" sz="2400" dirty="0" err="1"/>
              <a:t>quan</a:t>
            </a:r>
            <a:r>
              <a:rPr lang="en-US" sz="2400" dirty="0"/>
              <a:t> </a:t>
            </a:r>
            <a:r>
              <a:rPr lang="en-US" sz="2400" dirty="0" err="1"/>
              <a:t>nghiên</a:t>
            </a:r>
            <a:r>
              <a:rPr lang="en-US" sz="2400" dirty="0"/>
              <a:t> </a:t>
            </a:r>
            <a:r>
              <a:rPr lang="en-US" sz="2400" dirty="0" err="1"/>
              <a:t>cứu</a:t>
            </a:r>
            <a:r>
              <a:rPr lang="en-US" sz="2400" dirty="0"/>
              <a:t> </a:t>
            </a:r>
            <a:r>
              <a:rPr lang="en-US" sz="2400" dirty="0" smtClean="0"/>
              <a:t>trước</a:t>
            </a:r>
          </a:p>
          <a:p>
            <a:pPr marL="360045" lvl="0" indent="-347345">
              <a:spcBef>
                <a:spcPts val="1130"/>
              </a:spcBef>
              <a:buClr>
                <a:srgbClr val="F79646"/>
              </a:buClr>
              <a:buSzPts val="2400"/>
              <a:buFont typeface="Arial"/>
              <a:buChar char="❖"/>
            </a:pPr>
            <a:r>
              <a:rPr lang="en-US" sz="2400" dirty="0" err="1" smtClean="0"/>
              <a:t>Mô</a:t>
            </a:r>
            <a:r>
              <a:rPr lang="en-US" sz="2400" dirty="0" smtClean="0"/>
              <a:t> hình</a:t>
            </a:r>
            <a:r>
              <a:rPr lang="vi-VN" sz="2400" dirty="0" smtClean="0"/>
              <a:t> </a:t>
            </a:r>
            <a:r>
              <a:rPr lang="vi-VN" sz="2400" dirty="0"/>
              <a:t>Q-Former (BLIP-2</a:t>
            </a:r>
            <a:r>
              <a:rPr lang="vi-VN" sz="2400" dirty="0" smtClean="0"/>
              <a:t>)</a:t>
            </a:r>
            <a:endParaRPr lang="en-US" sz="2400" dirty="0" smtClean="0"/>
          </a:p>
          <a:p>
            <a:pPr marL="360045" lvl="0" indent="-347345">
              <a:spcBef>
                <a:spcPts val="1130"/>
              </a:spcBef>
              <a:buClr>
                <a:srgbClr val="F79646"/>
              </a:buClr>
              <a:buSzPts val="2400"/>
              <a:buFont typeface="Arial"/>
              <a:buChar char="❖"/>
            </a:pPr>
            <a:r>
              <a:rPr lang="en-US" sz="2400" dirty="0" err="1" smtClean="0">
                <a:solidFill>
                  <a:schemeClr val="dk1"/>
                </a:solidFill>
              </a:rPr>
              <a:t>I</a:t>
            </a:r>
            <a:r>
              <a:rPr lang="en-US" sz="2400" dirty="0" err="1" smtClean="0"/>
              <a:t>nstructBLIP</a:t>
            </a:r>
            <a:endParaRPr lang="en-US" sz="2400" dirty="0" smtClean="0"/>
          </a:p>
          <a:p>
            <a:pPr marL="360045" lvl="0" indent="-347345">
              <a:spcBef>
                <a:spcPts val="1130"/>
              </a:spcBef>
              <a:buClr>
                <a:srgbClr val="F79646"/>
              </a:buClr>
              <a:buSzPts val="2400"/>
              <a:buFont typeface="Arial"/>
              <a:buChar char="❖"/>
            </a:pPr>
            <a:r>
              <a:rPr lang="en-US" sz="2400" dirty="0" err="1" smtClean="0">
                <a:solidFill>
                  <a:schemeClr val="dk1"/>
                </a:solidFill>
              </a:rPr>
              <a:t>Đề</a:t>
            </a:r>
            <a:r>
              <a:rPr lang="en-US" sz="2400" dirty="0" smtClean="0">
                <a:solidFill>
                  <a:schemeClr val="dk1"/>
                </a:solidFill>
              </a:rPr>
              <a:t> </a:t>
            </a:r>
            <a:r>
              <a:rPr lang="en-US" sz="2400" dirty="0" err="1" smtClean="0">
                <a:solidFill>
                  <a:schemeClr val="dk1"/>
                </a:solidFill>
              </a:rPr>
              <a:t>xuất</a:t>
            </a:r>
            <a:r>
              <a:rPr lang="en-US" sz="2400" dirty="0" smtClean="0">
                <a:solidFill>
                  <a:schemeClr val="dk1"/>
                </a:solidFill>
              </a:rPr>
              <a:t> và </a:t>
            </a:r>
            <a:r>
              <a:rPr lang="en-US" sz="2400" dirty="0" err="1" smtClean="0">
                <a:solidFill>
                  <a:schemeClr val="dk1"/>
                </a:solidFill>
              </a:rPr>
              <a:t>cải</a:t>
            </a:r>
            <a:r>
              <a:rPr lang="en-US" sz="2400" dirty="0" smtClean="0">
                <a:solidFill>
                  <a:schemeClr val="dk1"/>
                </a:solidFill>
              </a:rPr>
              <a:t> </a:t>
            </a:r>
            <a:r>
              <a:rPr lang="en-US" sz="2400" dirty="0" err="1" smtClean="0">
                <a:solidFill>
                  <a:schemeClr val="dk1"/>
                </a:solidFill>
              </a:rPr>
              <a:t>tiến</a:t>
            </a:r>
            <a:endParaRPr lang="en-US" sz="2400" dirty="0" smtClean="0">
              <a:solidFill>
                <a:schemeClr val="dk1"/>
              </a:solidFill>
            </a:endParaRPr>
          </a:p>
        </p:txBody>
      </p:sp>
      <p:sp>
        <p:nvSpPr>
          <p:cNvPr id="61" name="Google Shape;61;p8"/>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2" name="Google Shape;62;p8"/>
          <p:cNvSpPr txBox="1"/>
          <p:nvPr/>
        </p:nvSpPr>
        <p:spPr>
          <a:xfrm>
            <a:off x="8423192" y="4521285"/>
            <a:ext cx="750900" cy="2196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11"/>
          </a:xfrm>
          <a:prstGeom prst="rect">
            <a:avLst/>
          </a:prstGeom>
          <a:noFill/>
          <a:ln>
            <a:noFill/>
          </a:ln>
        </p:spPr>
        <p:txBody>
          <a:bodyPr spcFirstLastPara="1" wrap="square" lIns="0" tIns="12700" rIns="0" bIns="0" anchor="t" anchorCtr="0">
            <a:spAutoFit/>
          </a:bodyPr>
          <a:lstStyle/>
          <a:p>
            <a:pPr marL="12700" algn="ctr"/>
            <a:r>
              <a:rPr lang="en-US" sz="2800" dirty="0" err="1" smtClean="0"/>
              <a:t>Tổng</a:t>
            </a:r>
            <a:r>
              <a:rPr lang="en-US" sz="2800" dirty="0" smtClean="0"/>
              <a:t> </a:t>
            </a:r>
            <a:r>
              <a:rPr lang="en-US" sz="2800" dirty="0" err="1"/>
              <a:t>quan</a:t>
            </a:r>
            <a:r>
              <a:rPr lang="en-US" sz="2800" dirty="0"/>
              <a:t> </a:t>
            </a:r>
            <a:r>
              <a:rPr lang="en-US" sz="2800" dirty="0" err="1"/>
              <a:t>nghiên</a:t>
            </a:r>
            <a:r>
              <a:rPr lang="en-US" sz="2800" dirty="0"/>
              <a:t> </a:t>
            </a:r>
            <a:r>
              <a:rPr lang="en-US" sz="2800" dirty="0" err="1" smtClean="0"/>
              <a:t>cứu</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628377"/>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000" dirty="0" smtClean="0">
                <a:solidFill>
                  <a:schemeClr val="tx1">
                    <a:lumMod val="50000"/>
                    <a:lumOff val="50000"/>
                  </a:schemeClr>
                </a:solidFill>
              </a:rPr>
              <a:t>Các </a:t>
            </a:r>
            <a:r>
              <a:rPr lang="vi-VN" sz="2000" dirty="0">
                <a:solidFill>
                  <a:schemeClr val="tx1">
                    <a:lumMod val="50000"/>
                    <a:lumOff val="50000"/>
                  </a:schemeClr>
                </a:solidFill>
              </a:rPr>
              <a:t>cấp độ kết hợp (Fusion Levels) trong Multimodal Alignment</a:t>
            </a:r>
          </a:p>
        </p:txBody>
      </p:sp>
      <p:sp>
        <p:nvSpPr>
          <p:cNvPr id="9" name="Google Shape;67;p9"/>
          <p:cNvSpPr txBox="1">
            <a:spLocks/>
          </p:cNvSpPr>
          <p:nvPr/>
        </p:nvSpPr>
        <p:spPr>
          <a:xfrm>
            <a:off x="717890" y="740883"/>
            <a:ext cx="7441372"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a:t>Multimodal Alignment and Fusion: A Survey</a:t>
            </a:r>
            <a:endParaRPr lang="vi-VN" sz="2400" dirty="0">
              <a:solidFill>
                <a:schemeClr val="tx1"/>
              </a:solidFill>
            </a:endParaRPr>
          </a:p>
        </p:txBody>
      </p:sp>
      <p:sp>
        <p:nvSpPr>
          <p:cNvPr id="2" name="TextBox 1"/>
          <p:cNvSpPr txBox="1"/>
          <p:nvPr/>
        </p:nvSpPr>
        <p:spPr>
          <a:xfrm>
            <a:off x="576306" y="1948030"/>
            <a:ext cx="5141588" cy="2462213"/>
          </a:xfrm>
          <a:prstGeom prst="rect">
            <a:avLst/>
          </a:prstGeom>
          <a:noFill/>
        </p:spPr>
        <p:txBody>
          <a:bodyPr wrap="square" rtlCol="0">
            <a:spAutoFit/>
          </a:bodyPr>
          <a:lstStyle/>
          <a:p>
            <a:r>
              <a:rPr lang="vi-VN" dirty="0"/>
              <a:t>Data-level Fusion – dữ liệu thô từ hai modality </a:t>
            </a:r>
            <a:r>
              <a:rPr lang="vi-VN" dirty="0" smtClean="0"/>
              <a:t>được </a:t>
            </a:r>
            <a:r>
              <a:rPr lang="vi-VN" dirty="0"/>
              <a:t>kết hợp trực tiếp và đưa vào một mô </a:t>
            </a:r>
            <a:r>
              <a:rPr lang="vi-VN" dirty="0" smtClean="0"/>
              <a:t>hình </a:t>
            </a:r>
            <a:r>
              <a:rPr lang="vi-VN" dirty="0"/>
              <a:t>duy </a:t>
            </a:r>
            <a:r>
              <a:rPr lang="vi-VN" dirty="0" smtClean="0"/>
              <a:t>nhất</a:t>
            </a:r>
          </a:p>
          <a:p>
            <a:endParaRPr lang="vi-VN" dirty="0" smtClean="0"/>
          </a:p>
          <a:p>
            <a:r>
              <a:rPr lang="vi-VN" dirty="0" smtClean="0"/>
              <a:t>Feature-Level Fusion</a:t>
            </a:r>
            <a:r>
              <a:rPr lang="vi-VN" dirty="0"/>
              <a:t>: mỗi modality qua một encoder trích đặc </a:t>
            </a:r>
            <a:r>
              <a:rPr lang="vi-VN" dirty="0" smtClean="0"/>
              <a:t>trưng riêng, </a:t>
            </a:r>
            <a:r>
              <a:rPr lang="vi-VN" dirty="0"/>
              <a:t>sau đó đặc trưng được hợp nhất qua module fusion </a:t>
            </a:r>
            <a:r>
              <a:rPr lang="vi-VN" dirty="0" smtClean="0"/>
              <a:t>và </a:t>
            </a:r>
            <a:r>
              <a:rPr lang="vi-VN" dirty="0"/>
              <a:t>đưa vào một mô hình dự đoán </a:t>
            </a:r>
            <a:r>
              <a:rPr lang="vi-VN" dirty="0" smtClean="0"/>
              <a:t>chung</a:t>
            </a:r>
            <a:r>
              <a:rPr lang="vi-VN" dirty="0"/>
              <a:t>: </a:t>
            </a:r>
            <a:r>
              <a:rPr lang="vi-VN" dirty="0" smtClean="0"/>
              <a:t>Cross-attention, Q-Former, MLP....</a:t>
            </a:r>
          </a:p>
          <a:p>
            <a:endParaRPr lang="vi-VN" dirty="0" smtClean="0"/>
          </a:p>
          <a:p>
            <a:r>
              <a:rPr lang="vi-VN" dirty="0"/>
              <a:t>Output-level Fusion – mỗi modality được xử lý hoàn chỉnh bởi mô hình riêng (ô màu hồng) tạo ra quyết định hoặc dự đoán riêng, rồi các quyết định này được kết hợp ở tầng quyết định</a:t>
            </a:r>
          </a:p>
        </p:txBody>
      </p:sp>
      <p:sp>
        <p:nvSpPr>
          <p:cNvPr id="7" name="TextBox 6"/>
          <p:cNvSpPr txBox="1"/>
          <p:nvPr/>
        </p:nvSpPr>
        <p:spPr>
          <a:xfrm>
            <a:off x="6021093" y="4191336"/>
            <a:ext cx="2569374" cy="400110"/>
          </a:xfrm>
          <a:prstGeom prst="rect">
            <a:avLst/>
          </a:prstGeom>
          <a:noFill/>
        </p:spPr>
        <p:txBody>
          <a:bodyPr wrap="square" rtlCol="0">
            <a:spAutoFit/>
          </a:bodyPr>
          <a:lstStyle/>
          <a:p>
            <a:pPr algn="ctr"/>
            <a:r>
              <a:rPr lang="en-US" sz="1000" dirty="0" smtClean="0"/>
              <a:t>Hình: Cá</a:t>
            </a:r>
            <a:r>
              <a:rPr lang="en-US" sz="1000" dirty="0" smtClean="0"/>
              <a:t>c cấp </a:t>
            </a:r>
            <a:r>
              <a:rPr lang="en-US" sz="1000" dirty="0" err="1" smtClean="0"/>
              <a:t>độ</a:t>
            </a:r>
            <a:r>
              <a:rPr lang="en-US" sz="1000" dirty="0" smtClean="0"/>
              <a:t> fusion </a:t>
            </a:r>
            <a:r>
              <a:rPr lang="en-US" sz="1000" dirty="0" err="1" smtClean="0"/>
              <a:t>kết</a:t>
            </a:r>
            <a:r>
              <a:rPr lang="en-US" sz="1000" dirty="0" smtClean="0"/>
              <a:t> hợp nhiều hình </a:t>
            </a:r>
            <a:r>
              <a:rPr lang="en-US" sz="1000" dirty="0" err="1" smtClean="0"/>
              <a:t>thái</a:t>
            </a:r>
            <a:r>
              <a:rPr lang="en-US" sz="1000" dirty="0"/>
              <a:t> </a:t>
            </a:r>
            <a:r>
              <a:rPr lang="en-US" sz="1000" dirty="0" smtClean="0"/>
              <a:t>vào </a:t>
            </a:r>
            <a:r>
              <a:rPr lang="en-US" sz="1000" dirty="0" err="1" smtClean="0"/>
              <a:t>mô</a:t>
            </a:r>
            <a:r>
              <a:rPr lang="en-US" sz="1000" dirty="0" smtClean="0"/>
              <a:t> hình LLM</a:t>
            </a:r>
            <a:endParaRPr lang="en-US" sz="1000" dirty="0"/>
          </a:p>
        </p:txBody>
      </p:sp>
      <p:pic>
        <p:nvPicPr>
          <p:cNvPr id="3" name="Picture 2"/>
          <p:cNvPicPr>
            <a:picLocks noChangeAspect="1"/>
          </p:cNvPicPr>
          <p:nvPr/>
        </p:nvPicPr>
        <p:blipFill>
          <a:blip r:embed="rId3"/>
          <a:stretch>
            <a:fillRect/>
          </a:stretch>
        </p:blipFill>
        <p:spPr>
          <a:xfrm>
            <a:off x="5586490" y="1206190"/>
            <a:ext cx="3145542" cy="2985146"/>
          </a:xfrm>
          <a:prstGeom prst="rect">
            <a:avLst/>
          </a:prstGeom>
        </p:spPr>
      </p:pic>
    </p:spTree>
    <p:extLst>
      <p:ext uri="{BB962C8B-B14F-4D97-AF65-F5344CB8AC3E}">
        <p14:creationId xmlns:p14="http://schemas.microsoft.com/office/powerpoint/2010/main" val="1207182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algn="ctr"/>
            <a:r>
              <a:rPr lang="en-US" sz="2800" dirty="0" err="1"/>
              <a:t>Tổng</a:t>
            </a:r>
            <a:r>
              <a:rPr lang="en-US" sz="2800" dirty="0"/>
              <a:t> </a:t>
            </a:r>
            <a:r>
              <a:rPr lang="en-US" sz="2800" dirty="0" err="1"/>
              <a:t>quan</a:t>
            </a:r>
            <a:r>
              <a:rPr lang="en-US" sz="2800" dirty="0"/>
              <a:t> </a:t>
            </a:r>
            <a:r>
              <a:rPr lang="en-US" sz="2800" dirty="0" err="1"/>
              <a:t>nghiên</a:t>
            </a:r>
            <a:r>
              <a:rPr lang="en-US" sz="2800" dirty="0"/>
              <a:t> </a:t>
            </a:r>
            <a:r>
              <a:rPr lang="en-US" sz="2800" dirty="0" err="1"/>
              <a:t>cứu</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err="1" smtClean="0">
                <a:solidFill>
                  <a:schemeClr val="tx1">
                    <a:lumMod val="50000"/>
                    <a:lumOff val="50000"/>
                  </a:schemeClr>
                </a:solidFill>
              </a:rPr>
              <a:t>Mô</a:t>
            </a:r>
            <a:r>
              <a:rPr lang="en-US" sz="2000" dirty="0" smtClean="0">
                <a:solidFill>
                  <a:schemeClr val="tx1">
                    <a:lumMod val="50000"/>
                    <a:lumOff val="50000"/>
                  </a:schemeClr>
                </a:solidFill>
              </a:rPr>
              <a:t> hình </a:t>
            </a:r>
            <a:r>
              <a:rPr lang="en-US" sz="2000" dirty="0" err="1" smtClean="0">
                <a:solidFill>
                  <a:schemeClr val="tx1">
                    <a:lumMod val="50000"/>
                    <a:lumOff val="50000"/>
                  </a:schemeClr>
                </a:solidFill>
              </a:rPr>
              <a:t>CoLLM</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a:t>Multimodal Alignment and Fusion: A Survey</a:t>
            </a:r>
            <a:endParaRPr lang="vi-VN" sz="2400" dirty="0">
              <a:solidFill>
                <a:schemeClr val="tx1"/>
              </a:solidFill>
            </a:endParaRPr>
          </a:p>
        </p:txBody>
      </p:sp>
      <p:sp>
        <p:nvSpPr>
          <p:cNvPr id="2" name="TextBox 1"/>
          <p:cNvSpPr txBox="1"/>
          <p:nvPr/>
        </p:nvSpPr>
        <p:spPr>
          <a:xfrm>
            <a:off x="576306" y="1801471"/>
            <a:ext cx="4440862" cy="2677656"/>
          </a:xfrm>
          <a:prstGeom prst="rect">
            <a:avLst/>
          </a:prstGeom>
          <a:noFill/>
        </p:spPr>
        <p:txBody>
          <a:bodyPr wrap="square" rtlCol="0">
            <a:spAutoFit/>
          </a:bodyPr>
          <a:lstStyle/>
          <a:p>
            <a:pPr marL="285750" indent="-285750" algn="just">
              <a:buFont typeface="Arial" panose="020B0604020202020204" pitchFamily="34" charset="0"/>
              <a:buChar char="•"/>
            </a:pPr>
            <a:r>
              <a:rPr lang="en-US" dirty="0" err="1" smtClean="0"/>
              <a:t>Mô</a:t>
            </a:r>
            <a:r>
              <a:rPr lang="en-US" dirty="0" smtClean="0"/>
              <a:t> hình </a:t>
            </a:r>
            <a:r>
              <a:rPr lang="en-US" b="1" dirty="0"/>
              <a:t>s</a:t>
            </a:r>
            <a:r>
              <a:rPr lang="en-US" b="1" dirty="0" smtClean="0"/>
              <a:t>tate-of-the-art </a:t>
            </a:r>
            <a:r>
              <a:rPr lang="en-US" b="1" dirty="0" err="1" smtClean="0"/>
              <a:t>LLMRec</a:t>
            </a:r>
            <a:endParaRPr lang="en-US" dirty="0" smtClean="0"/>
          </a:p>
          <a:p>
            <a:pPr marL="285750" indent="-285750" algn="just">
              <a:buFont typeface="Arial" panose="020B0604020202020204" pitchFamily="34" charset="0"/>
              <a:buChar char="•"/>
            </a:pPr>
            <a:r>
              <a:rPr lang="en-US" dirty="0" err="1"/>
              <a:t>Trích</a:t>
            </a:r>
            <a:r>
              <a:rPr lang="en-US" dirty="0"/>
              <a:t> </a:t>
            </a:r>
            <a:r>
              <a:rPr lang="en-US" dirty="0" err="1"/>
              <a:t>xuất</a:t>
            </a:r>
            <a:r>
              <a:rPr lang="en-US" dirty="0"/>
              <a:t> </a:t>
            </a:r>
            <a:r>
              <a:rPr lang="en-US" dirty="0" err="1"/>
              <a:t>tín</a:t>
            </a:r>
            <a:r>
              <a:rPr lang="en-US" dirty="0"/>
              <a:t> </a:t>
            </a:r>
            <a:r>
              <a:rPr lang="en-US" dirty="0" err="1"/>
              <a:t>hiệu</a:t>
            </a:r>
            <a:r>
              <a:rPr lang="en-US" dirty="0"/>
              <a:t> </a:t>
            </a:r>
            <a:r>
              <a:rPr lang="en-US" dirty="0" err="1"/>
              <a:t>cộng</a:t>
            </a:r>
            <a:r>
              <a:rPr lang="en-US" dirty="0"/>
              <a:t> </a:t>
            </a:r>
            <a:r>
              <a:rPr lang="en-US" dirty="0" err="1"/>
              <a:t>tác</a:t>
            </a:r>
            <a:r>
              <a:rPr lang="en-US" dirty="0"/>
              <a:t> </a:t>
            </a:r>
            <a:r>
              <a:rPr lang="en-US" dirty="0" err="1"/>
              <a:t>thông</a:t>
            </a:r>
            <a:r>
              <a:rPr lang="en-US" dirty="0"/>
              <a:t> qua </a:t>
            </a:r>
            <a:r>
              <a:rPr lang="en-US" dirty="0" err="1"/>
              <a:t>sử</a:t>
            </a:r>
            <a:r>
              <a:rPr lang="en-US" dirty="0"/>
              <a:t> </a:t>
            </a:r>
            <a:r>
              <a:rPr lang="en-US" dirty="0" err="1"/>
              <a:t>dụng</a:t>
            </a:r>
            <a:r>
              <a:rPr lang="en-US" dirty="0"/>
              <a:t> các </a:t>
            </a:r>
            <a:r>
              <a:rPr lang="en-US" dirty="0" err="1"/>
              <a:t>mô</a:t>
            </a:r>
            <a:r>
              <a:rPr lang="en-US" dirty="0"/>
              <a:t> hình </a:t>
            </a:r>
            <a:r>
              <a:rPr lang="en-US" dirty="0" err="1"/>
              <a:t>truyền</a:t>
            </a:r>
            <a:r>
              <a:rPr lang="en-US" dirty="0"/>
              <a:t> </a:t>
            </a:r>
            <a:r>
              <a:rPr lang="en-US" dirty="0" err="1"/>
              <a:t>thống</a:t>
            </a:r>
            <a:r>
              <a:rPr lang="en-US" dirty="0"/>
              <a:t> như </a:t>
            </a:r>
            <a:r>
              <a:rPr lang="en-US" dirty="0" smtClean="0"/>
              <a:t>MF </a:t>
            </a:r>
            <a:r>
              <a:rPr lang="en-US" dirty="0" err="1" smtClean="0"/>
              <a:t>hoặc</a:t>
            </a:r>
            <a:r>
              <a:rPr lang="en-US" dirty="0" smtClean="0"/>
              <a:t> DIN.</a:t>
            </a:r>
          </a:p>
          <a:p>
            <a:pPr marL="285750" indent="-285750" algn="just">
              <a:buFont typeface="Arial" panose="020B0604020202020204" pitchFamily="34" charset="0"/>
              <a:buChar char="•"/>
            </a:pPr>
            <a:r>
              <a:rPr lang="en-US" dirty="0" err="1" smtClean="0"/>
              <a:t>Tích</a:t>
            </a:r>
            <a:r>
              <a:rPr lang="en-US" dirty="0" smtClean="0"/>
              <a:t> hợp </a:t>
            </a:r>
            <a:r>
              <a:rPr lang="en-US" dirty="0" err="1" smtClean="0"/>
              <a:t>thông</a:t>
            </a:r>
            <a:r>
              <a:rPr lang="en-US" dirty="0" smtClean="0"/>
              <a:t> tin </a:t>
            </a:r>
            <a:r>
              <a:rPr lang="en-US" dirty="0" err="1" smtClean="0"/>
              <a:t>cộng</a:t>
            </a:r>
            <a:r>
              <a:rPr lang="en-US" dirty="0" smtClean="0"/>
              <a:t> </a:t>
            </a:r>
            <a:r>
              <a:rPr lang="en-US" dirty="0" err="1" smtClean="0"/>
              <a:t>tác</a:t>
            </a:r>
            <a:r>
              <a:rPr lang="en-US" dirty="0" smtClean="0"/>
              <a:t> bằng </a:t>
            </a:r>
            <a:r>
              <a:rPr lang="en-US" dirty="0" err="1" smtClean="0"/>
              <a:t>cách</a:t>
            </a:r>
            <a:r>
              <a:rPr lang="en-US" dirty="0" smtClean="0"/>
              <a:t> </a:t>
            </a:r>
            <a:r>
              <a:rPr lang="en-US" dirty="0" err="1" smtClean="0"/>
              <a:t>ánh</a:t>
            </a:r>
            <a:r>
              <a:rPr lang="en-US" dirty="0" smtClean="0"/>
              <a:t> </a:t>
            </a:r>
            <a:r>
              <a:rPr lang="en-US" dirty="0" err="1" smtClean="0"/>
              <a:t>xạ</a:t>
            </a:r>
            <a:r>
              <a:rPr lang="en-US" dirty="0" smtClean="0"/>
              <a:t> vector </a:t>
            </a:r>
            <a:r>
              <a:rPr lang="en-US" dirty="0" err="1" smtClean="0"/>
              <a:t>cộng</a:t>
            </a:r>
            <a:r>
              <a:rPr lang="en-US" dirty="0" smtClean="0"/>
              <a:t> </a:t>
            </a:r>
            <a:r>
              <a:rPr lang="en-US" dirty="0" err="1" smtClean="0"/>
              <a:t>tác</a:t>
            </a:r>
            <a:r>
              <a:rPr lang="en-US" dirty="0" smtClean="0"/>
              <a:t> vào </a:t>
            </a:r>
            <a:r>
              <a:rPr lang="en-US" dirty="0" err="1" smtClean="0"/>
              <a:t>không</a:t>
            </a:r>
            <a:r>
              <a:rPr lang="en-US" dirty="0" smtClean="0"/>
              <a:t> </a:t>
            </a:r>
            <a:r>
              <a:rPr lang="en-US" dirty="0" err="1" smtClean="0"/>
              <a:t>gian</a:t>
            </a:r>
            <a:r>
              <a:rPr lang="en-US" dirty="0" smtClean="0"/>
              <a:t> </a:t>
            </a:r>
            <a:r>
              <a:rPr lang="en-US" dirty="0" err="1" smtClean="0"/>
              <a:t>ngữ</a:t>
            </a:r>
            <a:r>
              <a:rPr lang="en-US" dirty="0" smtClean="0"/>
              <a:t> </a:t>
            </a:r>
            <a:r>
              <a:rPr lang="en-US" dirty="0" err="1" smtClean="0"/>
              <a:t>nghĩa</a:t>
            </a:r>
            <a:r>
              <a:rPr lang="en-US" dirty="0" smtClean="0"/>
              <a:t> của LLM </a:t>
            </a:r>
            <a:r>
              <a:rPr lang="en-US" dirty="0" err="1" smtClean="0"/>
              <a:t>thông</a:t>
            </a:r>
            <a:r>
              <a:rPr lang="en-US" dirty="0" smtClean="0"/>
              <a:t> qua 1 </a:t>
            </a:r>
            <a:r>
              <a:rPr lang="en-US" dirty="0" err="1" smtClean="0"/>
              <a:t>lớp</a:t>
            </a:r>
            <a:r>
              <a:rPr lang="en-US" dirty="0" smtClean="0"/>
              <a:t> Projection </a:t>
            </a:r>
            <a:r>
              <a:rPr lang="en-US" dirty="0" err="1" smtClean="0"/>
              <a:t>đơn</a:t>
            </a:r>
            <a:r>
              <a:rPr lang="en-US" dirty="0" smtClean="0"/>
              <a:t> </a:t>
            </a:r>
            <a:r>
              <a:rPr lang="en-US" dirty="0" err="1" smtClean="0"/>
              <a:t>giản</a:t>
            </a:r>
            <a:r>
              <a:rPr lang="en-US" dirty="0" smtClean="0"/>
              <a:t>.</a:t>
            </a:r>
            <a:endParaRPr lang="en-US" dirty="0"/>
          </a:p>
          <a:p>
            <a:pPr marL="285750" indent="-285750" algn="just">
              <a:buFont typeface="Arial" panose="020B0604020202020204" pitchFamily="34" charset="0"/>
              <a:buChar char="•"/>
            </a:pPr>
            <a:r>
              <a:rPr lang="en-US" dirty="0" err="1" smtClean="0"/>
              <a:t>Sử</a:t>
            </a:r>
            <a:r>
              <a:rPr lang="en-US" dirty="0" smtClean="0"/>
              <a:t> </a:t>
            </a:r>
            <a:r>
              <a:rPr lang="en-US" dirty="0" err="1" smtClean="0"/>
              <a:t>dụng</a:t>
            </a:r>
            <a:r>
              <a:rPr lang="en-US" dirty="0" smtClean="0"/>
              <a:t> </a:t>
            </a:r>
            <a:r>
              <a:rPr lang="en-US" dirty="0" err="1" smtClean="0"/>
              <a:t>LoRA</a:t>
            </a:r>
            <a:r>
              <a:rPr lang="en-US" dirty="0" smtClean="0"/>
              <a:t> </a:t>
            </a:r>
            <a:r>
              <a:rPr lang="en-US" dirty="0" err="1" smtClean="0"/>
              <a:t>để</a:t>
            </a:r>
            <a:r>
              <a:rPr lang="en-US" dirty="0" smtClean="0"/>
              <a:t> </a:t>
            </a:r>
            <a:r>
              <a:rPr lang="en-US" dirty="0" err="1" smtClean="0"/>
              <a:t>finetune</a:t>
            </a:r>
            <a:r>
              <a:rPr lang="en-US" dirty="0" smtClean="0"/>
              <a:t> </a:t>
            </a:r>
            <a:r>
              <a:rPr lang="en-US" dirty="0" err="1" smtClean="0"/>
              <a:t>tác</a:t>
            </a:r>
            <a:r>
              <a:rPr lang="en-US" dirty="0" smtClean="0"/>
              <a:t> vụ tư vấn </a:t>
            </a:r>
            <a:r>
              <a:rPr lang="en-US" dirty="0" err="1" smtClean="0"/>
              <a:t>cho</a:t>
            </a:r>
            <a:r>
              <a:rPr lang="en-US" dirty="0" smtClean="0"/>
              <a:t> </a:t>
            </a:r>
            <a:r>
              <a:rPr lang="en-US" dirty="0" err="1" smtClean="0"/>
              <a:t>mô</a:t>
            </a:r>
            <a:r>
              <a:rPr lang="en-US" dirty="0" smtClean="0"/>
              <a:t> hình LLMs.</a:t>
            </a:r>
          </a:p>
          <a:p>
            <a:pPr marL="285750" indent="-285750" algn="just">
              <a:buFont typeface="Arial" panose="020B0604020202020204" pitchFamily="34" charset="0"/>
              <a:buChar char="•"/>
            </a:pPr>
            <a:r>
              <a:rPr lang="en-US" dirty="0" err="1" smtClean="0"/>
              <a:t>Xây</a:t>
            </a:r>
            <a:r>
              <a:rPr lang="en-US" dirty="0" smtClean="0"/>
              <a:t> </a:t>
            </a:r>
            <a:r>
              <a:rPr lang="en-US" dirty="0" err="1" smtClean="0"/>
              <a:t>dựng</a:t>
            </a:r>
            <a:r>
              <a:rPr lang="en-US" dirty="0" smtClean="0"/>
              <a:t> few-shot prompt.</a:t>
            </a:r>
          </a:p>
          <a:p>
            <a:pPr marL="285750" indent="-285750" algn="just">
              <a:buFont typeface="Arial" panose="020B0604020202020204" pitchFamily="34" charset="0"/>
              <a:buChar char="•"/>
            </a:pPr>
            <a:endParaRPr lang="en-US" dirty="0" smtClean="0"/>
          </a:p>
          <a:p>
            <a:pPr algn="just"/>
            <a:endParaRPr lang="en-US" dirty="0"/>
          </a:p>
          <a:p>
            <a:pPr algn="just"/>
            <a:endParaRPr lang="en-US" dirty="0"/>
          </a:p>
        </p:txBody>
      </p:sp>
      <p:pic>
        <p:nvPicPr>
          <p:cNvPr id="4" name="Picture 3"/>
          <p:cNvPicPr>
            <a:picLocks noChangeAspect="1"/>
          </p:cNvPicPr>
          <p:nvPr/>
        </p:nvPicPr>
        <p:blipFill>
          <a:blip r:embed="rId3"/>
          <a:stretch>
            <a:fillRect/>
          </a:stretch>
        </p:blipFill>
        <p:spPr>
          <a:xfrm>
            <a:off x="5017168" y="1512936"/>
            <a:ext cx="4379293" cy="1943419"/>
          </a:xfrm>
          <a:prstGeom prst="rect">
            <a:avLst/>
          </a:prstGeom>
        </p:spPr>
      </p:pic>
      <p:sp>
        <p:nvSpPr>
          <p:cNvPr id="5" name="Rectangle 4"/>
          <p:cNvSpPr/>
          <p:nvPr/>
        </p:nvSpPr>
        <p:spPr>
          <a:xfrm>
            <a:off x="5831933" y="3523284"/>
            <a:ext cx="2284600" cy="307777"/>
          </a:xfrm>
          <a:prstGeom prst="rect">
            <a:avLst/>
          </a:prstGeom>
        </p:spPr>
        <p:txBody>
          <a:bodyPr wrap="none">
            <a:spAutoFit/>
          </a:bodyPr>
          <a:lstStyle/>
          <a:p>
            <a:r>
              <a:rPr lang="en-US" dirty="0" err="1"/>
              <a:t>Hình:Kiến</a:t>
            </a:r>
            <a:r>
              <a:rPr lang="en-US" dirty="0"/>
              <a:t> </a:t>
            </a:r>
            <a:r>
              <a:rPr lang="en-US" dirty="0" err="1"/>
              <a:t>trúc</a:t>
            </a:r>
            <a:r>
              <a:rPr lang="en-US" dirty="0"/>
              <a:t> của </a:t>
            </a:r>
            <a:r>
              <a:rPr lang="en-US" dirty="0" err="1" smtClean="0"/>
              <a:t>CoLLM</a:t>
            </a:r>
            <a:endParaRPr lang="en-US" dirty="0"/>
          </a:p>
        </p:txBody>
      </p:sp>
    </p:spTree>
    <p:extLst>
      <p:ext uri="{BB962C8B-B14F-4D97-AF65-F5344CB8AC3E}">
        <p14:creationId xmlns:p14="http://schemas.microsoft.com/office/powerpoint/2010/main" val="3164270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algn="ctr"/>
            <a:r>
              <a:rPr lang="en-US" sz="2800" dirty="0" err="1"/>
              <a:t>Tổng</a:t>
            </a:r>
            <a:r>
              <a:rPr lang="en-US" sz="2800" dirty="0"/>
              <a:t> </a:t>
            </a:r>
            <a:r>
              <a:rPr lang="en-US" sz="2800" dirty="0" err="1"/>
              <a:t>quan</a:t>
            </a:r>
            <a:r>
              <a:rPr lang="en-US" sz="2800" dirty="0"/>
              <a:t> </a:t>
            </a:r>
            <a:r>
              <a:rPr lang="en-US" sz="2800" dirty="0" err="1"/>
              <a:t>nghiên</a:t>
            </a:r>
            <a:r>
              <a:rPr lang="en-US" sz="2800" dirty="0"/>
              <a:t> </a:t>
            </a:r>
            <a:r>
              <a:rPr lang="en-US" sz="2800" dirty="0" err="1"/>
              <a:t>cứu</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986540"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000" dirty="0">
                <a:solidFill>
                  <a:schemeClr val="tx1">
                    <a:lumMod val="50000"/>
                    <a:lumOff val="50000"/>
                  </a:schemeClr>
                </a:solidFill>
              </a:rPr>
              <a:t>Phương pháp học tương phản (</a:t>
            </a:r>
            <a:r>
              <a:rPr lang="vi-VN" sz="2000" dirty="0" smtClean="0">
                <a:solidFill>
                  <a:schemeClr val="tx1">
                    <a:lumMod val="50000"/>
                    <a:lumOff val="50000"/>
                  </a:schemeClr>
                </a:solidFill>
              </a:rPr>
              <a:t>contrastive learning)</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7441372"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a:t>Multimodal Alignment and Fusion: A Survey</a:t>
            </a:r>
            <a:endParaRPr lang="vi-VN" sz="2400" dirty="0">
              <a:solidFill>
                <a:schemeClr val="tx1"/>
              </a:solidFill>
            </a:endParaRPr>
          </a:p>
        </p:txBody>
      </p:sp>
      <p:sp>
        <p:nvSpPr>
          <p:cNvPr id="2" name="TextBox 1"/>
          <p:cNvSpPr txBox="1"/>
          <p:nvPr/>
        </p:nvSpPr>
        <p:spPr>
          <a:xfrm>
            <a:off x="576306" y="1622442"/>
            <a:ext cx="4248912" cy="307777"/>
          </a:xfrm>
          <a:prstGeom prst="rect">
            <a:avLst/>
          </a:prstGeom>
          <a:noFill/>
        </p:spPr>
        <p:txBody>
          <a:bodyPr wrap="square" rtlCol="0">
            <a:spAutoFit/>
          </a:bodyPr>
          <a:lstStyle/>
          <a:p>
            <a:endParaRPr lang="vi-VN" dirty="0"/>
          </a:p>
        </p:txBody>
      </p:sp>
      <p:sp>
        <p:nvSpPr>
          <p:cNvPr id="7" name="TextBox 6"/>
          <p:cNvSpPr txBox="1"/>
          <p:nvPr/>
        </p:nvSpPr>
        <p:spPr>
          <a:xfrm>
            <a:off x="6171430" y="4188539"/>
            <a:ext cx="1071127" cy="246221"/>
          </a:xfrm>
          <a:prstGeom prst="rect">
            <a:avLst/>
          </a:prstGeom>
          <a:noFill/>
        </p:spPr>
        <p:txBody>
          <a:bodyPr wrap="none" rtlCol="0">
            <a:spAutoFit/>
          </a:bodyPr>
          <a:lstStyle/>
          <a:p>
            <a:pPr algn="ctr"/>
            <a:r>
              <a:rPr lang="en-US" sz="1000" dirty="0" smtClean="0"/>
              <a:t>Hình: </a:t>
            </a:r>
            <a:r>
              <a:rPr lang="vi-VN" sz="1000" dirty="0" smtClean="0"/>
              <a:t>Sella Rec</a:t>
            </a:r>
            <a:endParaRPr lang="en-US" sz="1000" dirty="0"/>
          </a:p>
        </p:txBody>
      </p:sp>
      <p:sp>
        <p:nvSpPr>
          <p:cNvPr id="10" name="TextBox 9"/>
          <p:cNvSpPr txBox="1"/>
          <p:nvPr/>
        </p:nvSpPr>
        <p:spPr>
          <a:xfrm>
            <a:off x="254644" y="1939942"/>
            <a:ext cx="3759084" cy="2462213"/>
          </a:xfrm>
          <a:prstGeom prst="rect">
            <a:avLst/>
          </a:prstGeom>
          <a:noFill/>
        </p:spPr>
        <p:txBody>
          <a:bodyPr wrap="square" rtlCol="0">
            <a:spAutoFit/>
          </a:bodyPr>
          <a:lstStyle/>
          <a:p>
            <a:r>
              <a:rPr lang="vi-VN" dirty="0"/>
              <a:t>Đây là hướng tiếp cận dựa trên </a:t>
            </a:r>
            <a:r>
              <a:rPr lang="vi-VN" b="1" dirty="0"/>
              <a:t>học so sánh (comparative learning)</a:t>
            </a:r>
            <a:r>
              <a:rPr lang="vi-VN" dirty="0"/>
              <a:t> để kéo gần các cặp dữ liệu liên quan và đẩy xa các cặp không liên quan trong không gian đặc </a:t>
            </a:r>
            <a:r>
              <a:rPr lang="vi-VN" dirty="0" smtClean="0"/>
              <a:t>trưng</a:t>
            </a:r>
          </a:p>
          <a:p>
            <a:endParaRPr lang="vi-VN" dirty="0" smtClean="0"/>
          </a:p>
          <a:p>
            <a:r>
              <a:rPr lang="vi-VN" dirty="0" smtClean="0"/>
              <a:t>Trong </a:t>
            </a:r>
            <a:r>
              <a:rPr lang="vi-VN" dirty="0"/>
              <a:t>những năm gần đây, nhiều biến thể của contrastive loss ra đời để tăng cường khả năng phân </a:t>
            </a:r>
            <a:r>
              <a:rPr lang="vi-VN" dirty="0" smtClean="0"/>
              <a:t>biệt:</a:t>
            </a:r>
            <a:endParaRPr lang="vi-VN" dirty="0"/>
          </a:p>
          <a:p>
            <a:r>
              <a:rPr lang="vi-VN" dirty="0"/>
              <a:t>AMC-Loss: Thêm biên độ góc tăng phân biệt</a:t>
            </a:r>
            <a:r>
              <a:rPr lang="vi-VN" dirty="0" smtClean="0"/>
              <a:t>.</a:t>
            </a:r>
          </a:p>
          <a:p>
            <a:r>
              <a:rPr lang="vi-VN" dirty="0" smtClean="0"/>
              <a:t>Supervised </a:t>
            </a:r>
            <a:r>
              <a:rPr lang="vi-VN" dirty="0"/>
              <a:t>Contrastive Loss: Dùng nhãn lớp ổn định hiệu năng.</a:t>
            </a:r>
            <a:endParaRPr lang="vi-VN" dirty="0" smtClean="0"/>
          </a:p>
        </p:txBody>
      </p:sp>
      <p:pic>
        <p:nvPicPr>
          <p:cNvPr id="11" name="Picture 10"/>
          <p:cNvPicPr>
            <a:picLocks noChangeAspect="1"/>
          </p:cNvPicPr>
          <p:nvPr/>
        </p:nvPicPr>
        <p:blipFill>
          <a:blip r:embed="rId3"/>
          <a:stretch>
            <a:fillRect/>
          </a:stretch>
        </p:blipFill>
        <p:spPr>
          <a:xfrm>
            <a:off x="4208558" y="1781798"/>
            <a:ext cx="4783042" cy="2381430"/>
          </a:xfrm>
          <a:prstGeom prst="rect">
            <a:avLst/>
          </a:prstGeom>
        </p:spPr>
      </p:pic>
    </p:spTree>
    <p:extLst>
      <p:ext uri="{BB962C8B-B14F-4D97-AF65-F5344CB8AC3E}">
        <p14:creationId xmlns:p14="http://schemas.microsoft.com/office/powerpoint/2010/main" val="878757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algn="ctr"/>
            <a:r>
              <a:rPr lang="en-US" sz="2800" dirty="0" err="1"/>
              <a:t>Tổng</a:t>
            </a:r>
            <a:r>
              <a:rPr lang="en-US" sz="2800" dirty="0"/>
              <a:t> </a:t>
            </a:r>
            <a:r>
              <a:rPr lang="en-US" sz="2800" dirty="0" err="1"/>
              <a:t>quan</a:t>
            </a:r>
            <a:r>
              <a:rPr lang="en-US" sz="2800" dirty="0"/>
              <a:t> </a:t>
            </a:r>
            <a:r>
              <a:rPr lang="en-US" sz="2800" dirty="0" err="1"/>
              <a:t>nghiên</a:t>
            </a:r>
            <a:r>
              <a:rPr lang="en-US" sz="2800" dirty="0"/>
              <a:t> </a:t>
            </a:r>
            <a:r>
              <a:rPr lang="en-US" sz="2800" dirty="0" err="1"/>
              <a:t>cứu</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986540"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000" dirty="0">
                <a:solidFill>
                  <a:schemeClr val="tx1">
                    <a:lumMod val="50000"/>
                    <a:lumOff val="50000"/>
                  </a:schemeClr>
                </a:solidFill>
              </a:rPr>
              <a:t>Generative Alignment: căn chỉnh bằng mô hình sinh</a:t>
            </a:r>
          </a:p>
        </p:txBody>
      </p:sp>
      <p:sp>
        <p:nvSpPr>
          <p:cNvPr id="9" name="Google Shape;67;p9"/>
          <p:cNvSpPr txBox="1">
            <a:spLocks/>
          </p:cNvSpPr>
          <p:nvPr/>
        </p:nvSpPr>
        <p:spPr>
          <a:xfrm>
            <a:off x="717890" y="740883"/>
            <a:ext cx="7441372"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a:t>Multimodal Alignment and Fusion: A Survey</a:t>
            </a:r>
            <a:endParaRPr lang="vi-VN" sz="2400" dirty="0">
              <a:solidFill>
                <a:schemeClr val="tx1"/>
              </a:solidFill>
            </a:endParaRPr>
          </a:p>
        </p:txBody>
      </p:sp>
      <p:sp>
        <p:nvSpPr>
          <p:cNvPr id="2" name="TextBox 1"/>
          <p:cNvSpPr txBox="1"/>
          <p:nvPr/>
        </p:nvSpPr>
        <p:spPr>
          <a:xfrm>
            <a:off x="576306" y="1622442"/>
            <a:ext cx="4248912" cy="307777"/>
          </a:xfrm>
          <a:prstGeom prst="rect">
            <a:avLst/>
          </a:prstGeom>
          <a:noFill/>
        </p:spPr>
        <p:txBody>
          <a:bodyPr wrap="square" rtlCol="0">
            <a:spAutoFit/>
          </a:bodyPr>
          <a:lstStyle/>
          <a:p>
            <a:endParaRPr lang="vi-VN" dirty="0"/>
          </a:p>
        </p:txBody>
      </p:sp>
      <p:sp>
        <p:nvSpPr>
          <p:cNvPr id="10" name="TextBox 9"/>
          <p:cNvSpPr txBox="1"/>
          <p:nvPr/>
        </p:nvSpPr>
        <p:spPr>
          <a:xfrm>
            <a:off x="576306" y="2346298"/>
            <a:ext cx="3437421" cy="1384995"/>
          </a:xfrm>
          <a:prstGeom prst="rect">
            <a:avLst/>
          </a:prstGeom>
          <a:noFill/>
        </p:spPr>
        <p:txBody>
          <a:bodyPr wrap="square" rtlCol="0">
            <a:spAutoFit/>
          </a:bodyPr>
          <a:lstStyle/>
          <a:p>
            <a:r>
              <a:rPr lang="vi-VN" dirty="0"/>
              <a:t>Sử dụng mô hình sinh (VAE, GAN, diffusion, decoder LLM) để tạo ra representation hoặc sample mô phỏng cross-modal.Học cách modality </a:t>
            </a:r>
            <a:r>
              <a:rPr lang="vi-VN" dirty="0" smtClean="0"/>
              <a:t>A (mô tả) </a:t>
            </a:r>
            <a:r>
              <a:rPr lang="vi-VN" dirty="0"/>
              <a:t>tái tạo modality B </a:t>
            </a:r>
            <a:r>
              <a:rPr lang="vi-VN" dirty="0" smtClean="0"/>
              <a:t>(vector CF)→ </a:t>
            </a:r>
            <a:r>
              <a:rPr lang="vi-VN" dirty="0"/>
              <a:t>tự động align 2 space.</a:t>
            </a:r>
          </a:p>
        </p:txBody>
      </p:sp>
      <p:pic>
        <p:nvPicPr>
          <p:cNvPr id="5" name="Picture 4"/>
          <p:cNvPicPr>
            <a:picLocks noChangeAspect="1"/>
          </p:cNvPicPr>
          <p:nvPr/>
        </p:nvPicPr>
        <p:blipFill>
          <a:blip r:embed="rId3"/>
          <a:stretch>
            <a:fillRect/>
          </a:stretch>
        </p:blipFill>
        <p:spPr>
          <a:xfrm>
            <a:off x="4170388" y="1925309"/>
            <a:ext cx="4784915" cy="2106976"/>
          </a:xfrm>
          <a:prstGeom prst="rect">
            <a:avLst/>
          </a:prstGeom>
        </p:spPr>
      </p:pic>
      <p:sp>
        <p:nvSpPr>
          <p:cNvPr id="13" name="TextBox 12"/>
          <p:cNvSpPr txBox="1"/>
          <p:nvPr/>
        </p:nvSpPr>
        <p:spPr>
          <a:xfrm>
            <a:off x="6231542" y="4188539"/>
            <a:ext cx="950902" cy="246221"/>
          </a:xfrm>
          <a:prstGeom prst="rect">
            <a:avLst/>
          </a:prstGeom>
          <a:noFill/>
        </p:spPr>
        <p:txBody>
          <a:bodyPr wrap="none" rtlCol="0">
            <a:spAutoFit/>
          </a:bodyPr>
          <a:lstStyle/>
          <a:p>
            <a:pPr algn="ctr"/>
            <a:r>
              <a:rPr lang="en-US" sz="1000" dirty="0" smtClean="0"/>
              <a:t>Hình: </a:t>
            </a:r>
            <a:r>
              <a:rPr lang="vi-VN" sz="1000" dirty="0" smtClean="0"/>
              <a:t>LC Rec</a:t>
            </a:r>
            <a:endParaRPr lang="en-US" sz="1000" dirty="0"/>
          </a:p>
        </p:txBody>
      </p:sp>
    </p:spTree>
    <p:extLst>
      <p:ext uri="{BB962C8B-B14F-4D97-AF65-F5344CB8AC3E}">
        <p14:creationId xmlns:p14="http://schemas.microsoft.com/office/powerpoint/2010/main" val="2236797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algn="ctr"/>
            <a:r>
              <a:rPr lang="en-US" sz="2800" dirty="0" err="1"/>
              <a:t>Tổng</a:t>
            </a:r>
            <a:r>
              <a:rPr lang="en-US" sz="2800" dirty="0"/>
              <a:t> </a:t>
            </a:r>
            <a:r>
              <a:rPr lang="en-US" sz="2800" dirty="0" err="1"/>
              <a:t>quan</a:t>
            </a:r>
            <a:r>
              <a:rPr lang="en-US" sz="2800" dirty="0"/>
              <a:t> </a:t>
            </a:r>
            <a:r>
              <a:rPr lang="en-US" sz="2800" dirty="0" err="1"/>
              <a:t>nghiên</a:t>
            </a:r>
            <a:r>
              <a:rPr lang="en-US" sz="2800" dirty="0"/>
              <a:t> </a:t>
            </a:r>
            <a:r>
              <a:rPr lang="en-US" sz="2800" dirty="0" err="1"/>
              <a:t>cứu</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986540"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000" dirty="0">
                <a:solidFill>
                  <a:schemeClr val="tx1">
                    <a:lumMod val="50000"/>
                    <a:lumOff val="50000"/>
                  </a:schemeClr>
                </a:solidFill>
              </a:rPr>
              <a:t>Phương pháp dựa trên attention (attention-based)</a:t>
            </a:r>
          </a:p>
        </p:txBody>
      </p:sp>
      <p:sp>
        <p:nvSpPr>
          <p:cNvPr id="9" name="Google Shape;67;p9"/>
          <p:cNvSpPr txBox="1">
            <a:spLocks/>
          </p:cNvSpPr>
          <p:nvPr/>
        </p:nvSpPr>
        <p:spPr>
          <a:xfrm>
            <a:off x="717890" y="740883"/>
            <a:ext cx="7441372"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a:t>Multimodal Alignment and Fusion: A Survey</a:t>
            </a:r>
            <a:endParaRPr lang="vi-VN" sz="2400" dirty="0">
              <a:solidFill>
                <a:schemeClr val="tx1"/>
              </a:solidFill>
            </a:endParaRPr>
          </a:p>
        </p:txBody>
      </p:sp>
      <p:sp>
        <p:nvSpPr>
          <p:cNvPr id="2" name="TextBox 1"/>
          <p:cNvSpPr txBox="1"/>
          <p:nvPr/>
        </p:nvSpPr>
        <p:spPr>
          <a:xfrm>
            <a:off x="576306" y="1622442"/>
            <a:ext cx="4248912" cy="307777"/>
          </a:xfrm>
          <a:prstGeom prst="rect">
            <a:avLst/>
          </a:prstGeom>
          <a:noFill/>
        </p:spPr>
        <p:txBody>
          <a:bodyPr wrap="square" rtlCol="0">
            <a:spAutoFit/>
          </a:bodyPr>
          <a:lstStyle/>
          <a:p>
            <a:endParaRPr lang="vi-VN" dirty="0"/>
          </a:p>
        </p:txBody>
      </p:sp>
      <p:sp>
        <p:nvSpPr>
          <p:cNvPr id="7" name="TextBox 6"/>
          <p:cNvSpPr txBox="1"/>
          <p:nvPr/>
        </p:nvSpPr>
        <p:spPr>
          <a:xfrm>
            <a:off x="6241962" y="4188539"/>
            <a:ext cx="930063" cy="246221"/>
          </a:xfrm>
          <a:prstGeom prst="rect">
            <a:avLst/>
          </a:prstGeom>
          <a:noFill/>
        </p:spPr>
        <p:txBody>
          <a:bodyPr wrap="none" rtlCol="0">
            <a:spAutoFit/>
          </a:bodyPr>
          <a:lstStyle/>
          <a:p>
            <a:pPr algn="ctr"/>
            <a:r>
              <a:rPr lang="en-US" sz="1000" dirty="0" smtClean="0"/>
              <a:t>Hình: </a:t>
            </a:r>
            <a:r>
              <a:rPr lang="vi-VN" sz="1000" dirty="0" smtClean="0"/>
              <a:t>RARec</a:t>
            </a:r>
            <a:endParaRPr lang="en-US" sz="1000" dirty="0"/>
          </a:p>
        </p:txBody>
      </p:sp>
      <p:sp>
        <p:nvSpPr>
          <p:cNvPr id="10" name="TextBox 9"/>
          <p:cNvSpPr txBox="1"/>
          <p:nvPr/>
        </p:nvSpPr>
        <p:spPr>
          <a:xfrm>
            <a:off x="254644" y="1939942"/>
            <a:ext cx="3759084" cy="2246769"/>
          </a:xfrm>
          <a:prstGeom prst="rect">
            <a:avLst/>
          </a:prstGeom>
          <a:noFill/>
        </p:spPr>
        <p:txBody>
          <a:bodyPr wrap="square" rtlCol="0">
            <a:spAutoFit/>
          </a:bodyPr>
          <a:lstStyle/>
          <a:p>
            <a:r>
              <a:rPr lang="vi-VN" dirty="0" smtClean="0"/>
              <a:t>Cách </a:t>
            </a:r>
            <a:r>
              <a:rPr lang="vi-VN" dirty="0"/>
              <a:t>tiếp cận này khai thác cơ chế chú ý (attention) để cho phép mô hình tự động tập trung vào phần thông tin quan trọng nhất ở mỗi modality khi kết </a:t>
            </a:r>
            <a:r>
              <a:rPr lang="vi-VN" dirty="0" smtClean="0"/>
              <a:t>hợp.</a:t>
            </a:r>
          </a:p>
          <a:p>
            <a:endParaRPr lang="vi-VN" dirty="0"/>
          </a:p>
          <a:p>
            <a:r>
              <a:rPr lang="vi-VN" dirty="0"/>
              <a:t>Attention hoạt động dựa trên bộ ba </a:t>
            </a:r>
            <a:r>
              <a:rPr lang="vi-VN" b="1" dirty="0"/>
              <a:t>Query</a:t>
            </a:r>
            <a:r>
              <a:rPr lang="vi-VN" dirty="0"/>
              <a:t>-</a:t>
            </a:r>
            <a:r>
              <a:rPr lang="vi-VN" b="1" dirty="0"/>
              <a:t>Key</a:t>
            </a:r>
            <a:r>
              <a:rPr lang="vi-VN" dirty="0"/>
              <a:t>-Value: nó tính trọng số bằng softmax của độ tương tự giữa </a:t>
            </a:r>
            <a:r>
              <a:rPr lang="vi-VN" i="1" dirty="0"/>
              <a:t>query</a:t>
            </a:r>
            <a:r>
              <a:rPr lang="vi-VN" dirty="0"/>
              <a:t> và mỗi </a:t>
            </a:r>
            <a:r>
              <a:rPr lang="vi-VN" i="1" dirty="0"/>
              <a:t>key</a:t>
            </a:r>
            <a:r>
              <a:rPr lang="vi-VN" dirty="0"/>
              <a:t>, rồi dùng trọng số đó để tổng hợp các </a:t>
            </a:r>
            <a:r>
              <a:rPr lang="vi-VN" i="1" dirty="0"/>
              <a:t>value</a:t>
            </a:r>
            <a:r>
              <a:rPr lang="vi-VN" dirty="0"/>
              <a:t> tương ứng</a:t>
            </a:r>
            <a:endParaRPr lang="vi-VN" dirty="0" smtClean="0"/>
          </a:p>
        </p:txBody>
      </p:sp>
      <p:pic>
        <p:nvPicPr>
          <p:cNvPr id="3" name="Picture 2"/>
          <p:cNvPicPr>
            <a:picLocks noChangeAspect="1"/>
          </p:cNvPicPr>
          <p:nvPr/>
        </p:nvPicPr>
        <p:blipFill>
          <a:blip r:embed="rId3"/>
          <a:stretch>
            <a:fillRect/>
          </a:stretch>
        </p:blipFill>
        <p:spPr>
          <a:xfrm>
            <a:off x="4291924" y="1622442"/>
            <a:ext cx="4830138" cy="2487217"/>
          </a:xfrm>
          <a:prstGeom prst="rect">
            <a:avLst/>
          </a:prstGeom>
        </p:spPr>
      </p:pic>
    </p:spTree>
    <p:extLst>
      <p:ext uri="{BB962C8B-B14F-4D97-AF65-F5344CB8AC3E}">
        <p14:creationId xmlns:p14="http://schemas.microsoft.com/office/powerpoint/2010/main" val="3263512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algn="ctr"/>
            <a:r>
              <a:rPr lang="en-US" sz="2800" dirty="0" err="1"/>
              <a:t>Tổng</a:t>
            </a:r>
            <a:r>
              <a:rPr lang="en-US" sz="2800" dirty="0"/>
              <a:t> </a:t>
            </a:r>
            <a:r>
              <a:rPr lang="en-US" sz="2800" dirty="0" err="1"/>
              <a:t>quan</a:t>
            </a:r>
            <a:r>
              <a:rPr lang="en-US" sz="2800" dirty="0"/>
              <a:t> </a:t>
            </a:r>
            <a:r>
              <a:rPr lang="en-US" sz="2800" dirty="0" err="1"/>
              <a:t>nghiên</a:t>
            </a:r>
            <a:r>
              <a:rPr lang="en-US" sz="2800" dirty="0"/>
              <a:t> </a:t>
            </a:r>
            <a:r>
              <a:rPr lang="en-US" sz="2800" dirty="0" err="1"/>
              <a:t>cứu</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5" y="1292118"/>
            <a:ext cx="6985079"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000" dirty="0">
                <a:solidFill>
                  <a:schemeClr val="tx1">
                    <a:lumMod val="50000"/>
                    <a:lumOff val="50000"/>
                  </a:schemeClr>
                </a:solidFill>
              </a:rPr>
              <a:t>Phương pháp dựa trên LLM (Multimodal LLM (</a:t>
            </a:r>
            <a:r>
              <a:rPr lang="vi-VN" sz="2000" dirty="0" smtClean="0">
                <a:solidFill>
                  <a:schemeClr val="tx1">
                    <a:lumMod val="50000"/>
                    <a:lumOff val="50000"/>
                  </a:schemeClr>
                </a:solidFill>
              </a:rPr>
              <a:t>MLLM))</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7441372"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a:t>Multimodal Alignment and Fusion: A Survey</a:t>
            </a:r>
            <a:endParaRPr lang="vi-VN" sz="2400" dirty="0">
              <a:solidFill>
                <a:schemeClr val="tx1"/>
              </a:solidFill>
            </a:endParaRPr>
          </a:p>
        </p:txBody>
      </p:sp>
      <p:sp>
        <p:nvSpPr>
          <p:cNvPr id="2" name="TextBox 1"/>
          <p:cNvSpPr txBox="1"/>
          <p:nvPr/>
        </p:nvSpPr>
        <p:spPr>
          <a:xfrm>
            <a:off x="576306" y="1622442"/>
            <a:ext cx="4248912" cy="307777"/>
          </a:xfrm>
          <a:prstGeom prst="rect">
            <a:avLst/>
          </a:prstGeom>
          <a:noFill/>
        </p:spPr>
        <p:txBody>
          <a:bodyPr wrap="square" rtlCol="0">
            <a:spAutoFit/>
          </a:bodyPr>
          <a:lstStyle/>
          <a:p>
            <a:endParaRPr lang="vi-VN" dirty="0"/>
          </a:p>
        </p:txBody>
      </p:sp>
      <p:sp>
        <p:nvSpPr>
          <p:cNvPr id="7" name="TextBox 6"/>
          <p:cNvSpPr txBox="1"/>
          <p:nvPr/>
        </p:nvSpPr>
        <p:spPr>
          <a:xfrm>
            <a:off x="6471151" y="4364073"/>
            <a:ext cx="737702" cy="246221"/>
          </a:xfrm>
          <a:prstGeom prst="rect">
            <a:avLst/>
          </a:prstGeom>
          <a:noFill/>
        </p:spPr>
        <p:txBody>
          <a:bodyPr wrap="none" rtlCol="0">
            <a:spAutoFit/>
          </a:bodyPr>
          <a:lstStyle/>
          <a:p>
            <a:pPr algn="ctr"/>
            <a:r>
              <a:rPr lang="en-US" sz="1000" dirty="0" smtClean="0"/>
              <a:t>Hình: </a:t>
            </a:r>
            <a:r>
              <a:rPr lang="vi-VN" sz="1000" dirty="0" smtClean="0"/>
              <a:t>ILM</a:t>
            </a:r>
            <a:endParaRPr lang="en-US" sz="1000" dirty="0"/>
          </a:p>
        </p:txBody>
      </p:sp>
      <p:sp>
        <p:nvSpPr>
          <p:cNvPr id="10" name="TextBox 9"/>
          <p:cNvSpPr txBox="1"/>
          <p:nvPr/>
        </p:nvSpPr>
        <p:spPr>
          <a:xfrm>
            <a:off x="162613" y="1748576"/>
            <a:ext cx="4768202" cy="2893100"/>
          </a:xfrm>
          <a:prstGeom prst="rect">
            <a:avLst/>
          </a:prstGeom>
          <a:noFill/>
        </p:spPr>
        <p:txBody>
          <a:bodyPr wrap="square" rtlCol="0">
            <a:spAutoFit/>
          </a:bodyPr>
          <a:lstStyle/>
          <a:p>
            <a:r>
              <a:rPr lang="vi-VN" dirty="0"/>
              <a:t>Dùng LLM làm thành phần trung tâm của hệ thống đa </a:t>
            </a:r>
            <a:r>
              <a:rPr lang="vi-VN" dirty="0" smtClean="0"/>
              <a:t>modal.</a:t>
            </a:r>
          </a:p>
          <a:p>
            <a:endParaRPr lang="vi-VN" dirty="0" smtClean="0"/>
          </a:p>
          <a:p>
            <a:r>
              <a:rPr lang="vi-VN" dirty="0" smtClean="0"/>
              <a:t>Kết </a:t>
            </a:r>
            <a:r>
              <a:rPr lang="vi-VN" dirty="0"/>
              <a:t>hợp Encoder thị giác/âm thanh với LLM để LLM xử lý dữ liệu phi văn bản bằng kiến thức ngôn ngữ của nó</a:t>
            </a:r>
            <a:r>
              <a:rPr lang="vi-VN" dirty="0" smtClean="0"/>
              <a:t>.</a:t>
            </a:r>
          </a:p>
          <a:p>
            <a:endParaRPr lang="vi-VN" dirty="0" smtClean="0"/>
          </a:p>
          <a:p>
            <a:r>
              <a:rPr lang="vi-VN" dirty="0"/>
              <a:t>K</a:t>
            </a:r>
            <a:r>
              <a:rPr lang="vi-VN" dirty="0" smtClean="0"/>
              <a:t>iến </a:t>
            </a:r>
            <a:r>
              <a:rPr lang="vi-VN" dirty="0"/>
              <a:t>trúc MLLM gồm một encoder cho modality phi văn bản (ví dụ ảnh) và một LLM decoder/generator cho đầu </a:t>
            </a:r>
            <a:r>
              <a:rPr lang="vi-VN" dirty="0" smtClean="0"/>
              <a:t>ra thông qua 1 connector. </a:t>
            </a:r>
          </a:p>
          <a:p>
            <a:r>
              <a:rPr lang="vi-VN" dirty="0" smtClean="0"/>
              <a:t>Connector giữa </a:t>
            </a:r>
            <a:r>
              <a:rPr lang="vi-VN" dirty="0"/>
              <a:t>encoder và LLM: ban đầu </a:t>
            </a:r>
            <a:r>
              <a:rPr lang="vi-VN" dirty="0" smtClean="0"/>
              <a:t>là </a:t>
            </a:r>
            <a:r>
              <a:rPr lang="vi-VN" dirty="0"/>
              <a:t>MLP đơn giản để chiếu đặc trưng ảnh sang không gian embedding của </a:t>
            </a:r>
            <a:r>
              <a:rPr lang="vi-VN" dirty="0" smtClean="0"/>
              <a:t>LLM, gần </a:t>
            </a:r>
            <a:r>
              <a:rPr lang="vi-VN" dirty="0"/>
              <a:t>đây đã phát triển thành các module attention phức tạp hoặc </a:t>
            </a:r>
            <a:r>
              <a:rPr lang="vi-VN" b="1" dirty="0"/>
              <a:t>Q-Former</a:t>
            </a:r>
            <a:r>
              <a:rPr lang="vi-VN" dirty="0"/>
              <a:t> (Query Transformer)</a:t>
            </a:r>
            <a:endParaRPr lang="vi-VN" dirty="0" smtClean="0"/>
          </a:p>
        </p:txBody>
      </p:sp>
      <p:pic>
        <p:nvPicPr>
          <p:cNvPr id="5" name="Picture 4"/>
          <p:cNvPicPr>
            <a:picLocks noChangeAspect="1"/>
          </p:cNvPicPr>
          <p:nvPr/>
        </p:nvPicPr>
        <p:blipFill>
          <a:blip r:embed="rId3"/>
          <a:stretch>
            <a:fillRect/>
          </a:stretch>
        </p:blipFill>
        <p:spPr>
          <a:xfrm>
            <a:off x="5076809" y="1667118"/>
            <a:ext cx="3604138" cy="2820065"/>
          </a:xfrm>
          <a:prstGeom prst="rect">
            <a:avLst/>
          </a:prstGeom>
        </p:spPr>
      </p:pic>
    </p:spTree>
    <p:extLst>
      <p:ext uri="{BB962C8B-B14F-4D97-AF65-F5344CB8AC3E}">
        <p14:creationId xmlns:p14="http://schemas.microsoft.com/office/powerpoint/2010/main" val="905865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62" name="Google Shape;62;p8"/>
          <p:cNvSpPr txBox="1"/>
          <p:nvPr/>
        </p:nvSpPr>
        <p:spPr>
          <a:xfrm>
            <a:off x="8423192" y="4521285"/>
            <a:ext cx="750900" cy="2196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5" name="TextBox 4"/>
          <p:cNvSpPr txBox="1"/>
          <p:nvPr/>
        </p:nvSpPr>
        <p:spPr>
          <a:xfrm>
            <a:off x="1627455" y="1360853"/>
            <a:ext cx="6264519" cy="1938992"/>
          </a:xfrm>
          <a:prstGeom prst="rect">
            <a:avLst/>
          </a:prstGeom>
          <a:noFill/>
        </p:spPr>
        <p:txBody>
          <a:bodyPr wrap="square" rtlCol="0">
            <a:spAutoFit/>
          </a:bodyPr>
          <a:lstStyle/>
          <a:p>
            <a:pPr algn="ctr"/>
            <a:r>
              <a:rPr lang="en-US" sz="6000" b="1" dirty="0" smtClean="0">
                <a:solidFill>
                  <a:srgbClr val="0070C0"/>
                </a:solidFill>
              </a:rPr>
              <a:t>MÔ HÌNH</a:t>
            </a:r>
          </a:p>
          <a:p>
            <a:pPr algn="ctr"/>
            <a:r>
              <a:rPr lang="en-US" sz="6000" b="1" dirty="0" smtClean="0">
                <a:solidFill>
                  <a:srgbClr val="0070C0"/>
                </a:solidFill>
              </a:rPr>
              <a:t>Q-FORMER</a:t>
            </a:r>
            <a:endParaRPr lang="en-US" sz="6000" dirty="0">
              <a:solidFill>
                <a:srgbClr val="0070C0"/>
              </a:solidFill>
            </a:endParaRPr>
          </a:p>
        </p:txBody>
      </p:sp>
    </p:spTree>
    <p:extLst>
      <p:ext uri="{BB962C8B-B14F-4D97-AF65-F5344CB8AC3E}">
        <p14:creationId xmlns:p14="http://schemas.microsoft.com/office/powerpoint/2010/main" val="1189345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algn="ctr"/>
            <a:r>
              <a:rPr lang="en-US" sz="2800" dirty="0" err="1" smtClean="0"/>
              <a:t>Mô</a:t>
            </a:r>
            <a:r>
              <a:rPr lang="en-US" sz="2800" dirty="0" smtClean="0"/>
              <a:t> </a:t>
            </a:r>
            <a:r>
              <a:rPr lang="en-US" sz="2800" dirty="0"/>
              <a:t>hình </a:t>
            </a:r>
            <a:r>
              <a:rPr lang="en-US" sz="2800" dirty="0" smtClean="0"/>
              <a:t>Q-Former trong </a:t>
            </a:r>
            <a:r>
              <a:rPr lang="en-US" sz="2800" dirty="0"/>
              <a:t>ILM</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err="1" smtClean="0">
                <a:solidFill>
                  <a:schemeClr val="tx1">
                    <a:lumMod val="50000"/>
                    <a:lumOff val="50000"/>
                  </a:schemeClr>
                </a:solidFill>
              </a:rPr>
              <a:t>Tổng</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quan</a:t>
            </a:r>
            <a:r>
              <a:rPr lang="en-US" sz="2000" dirty="0" smtClean="0">
                <a:solidFill>
                  <a:schemeClr val="tx1">
                    <a:lumMod val="50000"/>
                    <a:lumOff val="50000"/>
                  </a:schemeClr>
                </a:solidFill>
              </a:rPr>
              <a:t> và Kiến </a:t>
            </a:r>
            <a:r>
              <a:rPr lang="en-US" sz="2000" dirty="0" err="1" smtClean="0">
                <a:solidFill>
                  <a:schemeClr val="tx1">
                    <a:lumMod val="50000"/>
                    <a:lumOff val="50000"/>
                  </a:schemeClr>
                </a:solidFill>
              </a:rPr>
              <a:t>trúc</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400" dirty="0">
                <a:solidFill>
                  <a:schemeClr val="tx1"/>
                </a:solidFill>
              </a:rPr>
              <a:t>Về mô </a:t>
            </a:r>
            <a:r>
              <a:rPr lang="vi-VN" sz="2400" dirty="0" smtClean="0">
                <a:solidFill>
                  <a:schemeClr val="tx1"/>
                </a:solidFill>
              </a:rPr>
              <a:t>hình</a:t>
            </a:r>
            <a:r>
              <a:rPr lang="en-US" sz="2400" dirty="0" smtClean="0">
                <a:solidFill>
                  <a:schemeClr val="tx1"/>
                </a:solidFill>
              </a:rPr>
              <a:t> Q-Former</a:t>
            </a:r>
            <a:endParaRPr lang="vi-VN" sz="2400" dirty="0">
              <a:solidFill>
                <a:schemeClr val="tx1"/>
              </a:solidFill>
            </a:endParaRPr>
          </a:p>
        </p:txBody>
      </p:sp>
      <p:sp>
        <p:nvSpPr>
          <p:cNvPr id="2" name="TextBox 1"/>
          <p:cNvSpPr txBox="1"/>
          <p:nvPr/>
        </p:nvSpPr>
        <p:spPr>
          <a:xfrm>
            <a:off x="576306" y="1801471"/>
            <a:ext cx="4884694" cy="2462213"/>
          </a:xfrm>
          <a:prstGeom prst="rect">
            <a:avLst/>
          </a:prstGeom>
          <a:noFill/>
        </p:spPr>
        <p:txBody>
          <a:bodyPr wrap="square" rtlCol="0">
            <a:spAutoFit/>
          </a:bodyPr>
          <a:lstStyle/>
          <a:p>
            <a:pPr marL="285750" indent="-285750" algn="just">
              <a:buFont typeface="Arial" panose="020B0604020202020204" pitchFamily="34" charset="0"/>
              <a:buChar char="•"/>
            </a:pPr>
            <a:r>
              <a:rPr lang="vi-VN" dirty="0"/>
              <a:t>Là một Transformer nhẹ (Lightweight Transformer</a:t>
            </a:r>
            <a:r>
              <a:rPr lang="vi-VN" dirty="0" smtClean="0"/>
              <a:t>).</a:t>
            </a:r>
            <a:r>
              <a:rPr lang="en-US" dirty="0" smtClean="0"/>
              <a:t> Chi phí </a:t>
            </a:r>
            <a:r>
              <a:rPr lang="en-US" dirty="0" err="1" smtClean="0"/>
              <a:t>huấn</a:t>
            </a:r>
            <a:r>
              <a:rPr lang="en-US" dirty="0" smtClean="0"/>
              <a:t> </a:t>
            </a:r>
            <a:r>
              <a:rPr lang="en-US" dirty="0" err="1" smtClean="0"/>
              <a:t>luyện</a:t>
            </a:r>
            <a:r>
              <a:rPr lang="en-US" dirty="0" smtClean="0"/>
              <a:t> </a:t>
            </a:r>
            <a:r>
              <a:rPr lang="en-US" dirty="0" err="1" smtClean="0"/>
              <a:t>thấp</a:t>
            </a:r>
            <a:r>
              <a:rPr lang="en-US" dirty="0" smtClean="0"/>
              <a:t>, </a:t>
            </a:r>
            <a:r>
              <a:rPr lang="en-US" b="1" dirty="0" err="1" smtClean="0"/>
              <a:t>không</a:t>
            </a:r>
            <a:r>
              <a:rPr lang="en-US" b="1" dirty="0" smtClean="0"/>
              <a:t> cần </a:t>
            </a:r>
            <a:r>
              <a:rPr lang="en-US" b="1" dirty="0" err="1" smtClean="0"/>
              <a:t>huấn</a:t>
            </a:r>
            <a:r>
              <a:rPr lang="en-US" b="1" dirty="0" smtClean="0"/>
              <a:t> </a:t>
            </a:r>
            <a:r>
              <a:rPr lang="en-US" b="1" dirty="0" err="1" smtClean="0"/>
              <a:t>luyện</a:t>
            </a:r>
            <a:r>
              <a:rPr lang="en-US" b="1" dirty="0" smtClean="0"/>
              <a:t> LLM và cả Item encoder</a:t>
            </a:r>
            <a:r>
              <a:rPr lang="en-US" dirty="0" smtClean="0"/>
              <a:t>. Được </a:t>
            </a:r>
            <a:r>
              <a:rPr lang="en-US" dirty="0" err="1" smtClean="0"/>
              <a:t>chứng</a:t>
            </a:r>
            <a:r>
              <a:rPr lang="en-US" dirty="0" smtClean="0"/>
              <a:t> minh </a:t>
            </a:r>
            <a:r>
              <a:rPr lang="en-US" dirty="0" err="1" smtClean="0"/>
              <a:t>hoạt</a:t>
            </a:r>
            <a:r>
              <a:rPr lang="en-US" dirty="0" smtClean="0"/>
              <a:t> </a:t>
            </a:r>
            <a:r>
              <a:rPr lang="en-US" dirty="0" err="1" smtClean="0"/>
              <a:t>động</a:t>
            </a:r>
            <a:r>
              <a:rPr lang="en-US" dirty="0" smtClean="0"/>
              <a:t> </a:t>
            </a:r>
            <a:r>
              <a:rPr lang="en-US" dirty="0" err="1" smtClean="0"/>
              <a:t>rất</a:t>
            </a:r>
            <a:r>
              <a:rPr lang="en-US" dirty="0" smtClean="0"/>
              <a:t> </a:t>
            </a:r>
            <a:r>
              <a:rPr lang="en-US" dirty="0" err="1" smtClean="0"/>
              <a:t>hiệu</a:t>
            </a:r>
            <a:r>
              <a:rPr lang="en-US" dirty="0" smtClean="0"/>
              <a:t> </a:t>
            </a:r>
            <a:r>
              <a:rPr lang="en-US" dirty="0" err="1" smtClean="0"/>
              <a:t>quả</a:t>
            </a:r>
            <a:r>
              <a:rPr lang="en-US" dirty="0" smtClean="0"/>
              <a:t> trên nhiều modal </a:t>
            </a:r>
            <a:r>
              <a:rPr lang="en-US" dirty="0" err="1" smtClean="0"/>
              <a:t>khác</a:t>
            </a:r>
            <a:r>
              <a:rPr lang="en-US" dirty="0" smtClean="0"/>
              <a:t> </a:t>
            </a:r>
            <a:r>
              <a:rPr lang="en-US" dirty="0" err="1" smtClean="0"/>
              <a:t>nhau</a:t>
            </a:r>
            <a:r>
              <a:rPr lang="en-US" dirty="0" smtClean="0"/>
              <a:t>.</a:t>
            </a:r>
          </a:p>
          <a:p>
            <a:pPr marL="285750" indent="-285750" algn="just">
              <a:buFont typeface="Arial" panose="020B0604020202020204" pitchFamily="34" charset="0"/>
              <a:buChar char="•"/>
            </a:pPr>
            <a:r>
              <a:rPr lang="vi-VN" dirty="0" smtClean="0"/>
              <a:t>Sử </a:t>
            </a:r>
            <a:r>
              <a:rPr lang="vi-VN" dirty="0"/>
              <a:t>dụng tập hợp các Learnable Query Vectors (Vector truy vấn học được) cố định</a:t>
            </a:r>
            <a:r>
              <a:rPr lang="vi-VN" dirty="0" smtClean="0"/>
              <a:t>.</a:t>
            </a:r>
            <a:endParaRPr lang="en-US" dirty="0" smtClean="0"/>
          </a:p>
          <a:p>
            <a:pPr marL="285750" indent="-285750" algn="just">
              <a:buFont typeface="Arial" panose="020B0604020202020204" pitchFamily="34" charset="0"/>
              <a:buChar char="•"/>
            </a:pPr>
            <a:r>
              <a:rPr lang="vi-VN" dirty="0" smtClean="0"/>
              <a:t>Gồm </a:t>
            </a:r>
            <a:r>
              <a:rPr lang="vi-VN" dirty="0"/>
              <a:t>2 mô-đun con chia sẻ trọng </a:t>
            </a:r>
            <a:r>
              <a:rPr lang="en-US" dirty="0" smtClean="0"/>
              <a:t>số</a:t>
            </a:r>
            <a:r>
              <a:rPr lang="en-US" dirty="0"/>
              <a:t> </a:t>
            </a:r>
            <a:r>
              <a:rPr lang="vi-VN" dirty="0" smtClean="0"/>
              <a:t>Self-attention:</a:t>
            </a:r>
            <a:endParaRPr lang="en-US" dirty="0" smtClean="0"/>
          </a:p>
          <a:p>
            <a:pPr algn="just"/>
            <a:r>
              <a:rPr lang="en-US" dirty="0" smtClean="0"/>
              <a:t>	- </a:t>
            </a:r>
            <a:r>
              <a:rPr lang="vi-VN" dirty="0" smtClean="0"/>
              <a:t>Image </a:t>
            </a:r>
            <a:r>
              <a:rPr lang="vi-VN" dirty="0"/>
              <a:t>Transformer: </a:t>
            </a:r>
            <a:r>
              <a:rPr lang="en-US" dirty="0" smtClean="0"/>
              <a:t>Các learned queries </a:t>
            </a:r>
            <a:r>
              <a:rPr lang="en-US" dirty="0"/>
              <a:t>t</a:t>
            </a:r>
            <a:r>
              <a:rPr lang="vi-VN" dirty="0" smtClean="0"/>
              <a:t>ương </a:t>
            </a:r>
            <a:r>
              <a:rPr lang="vi-VN" dirty="0"/>
              <a:t>tác với Image Encoder qua cơ chế Cross-Attention</a:t>
            </a:r>
            <a:r>
              <a:rPr lang="vi-VN" dirty="0" smtClean="0"/>
              <a:t>.</a:t>
            </a:r>
            <a:endParaRPr lang="en-US" dirty="0" smtClean="0"/>
          </a:p>
          <a:p>
            <a:pPr algn="just"/>
            <a:r>
              <a:rPr lang="en-US" dirty="0" smtClean="0"/>
              <a:t>	- </a:t>
            </a:r>
            <a:r>
              <a:rPr lang="vi-VN" dirty="0" smtClean="0"/>
              <a:t>Text </a:t>
            </a:r>
            <a:r>
              <a:rPr lang="vi-VN" dirty="0"/>
              <a:t>Transformer: Xử lý văn bản đầu vào </a:t>
            </a:r>
            <a:r>
              <a:rPr lang="vi-VN" dirty="0" smtClean="0"/>
              <a:t>(</a:t>
            </a:r>
            <a:r>
              <a:rPr lang="en-US" dirty="0" err="1" smtClean="0"/>
              <a:t>mô</a:t>
            </a:r>
            <a:r>
              <a:rPr lang="en-US" dirty="0" smtClean="0"/>
              <a:t> </a:t>
            </a:r>
            <a:r>
              <a:rPr lang="en-US" dirty="0" err="1" smtClean="0"/>
              <a:t>tả</a:t>
            </a:r>
            <a:r>
              <a:rPr lang="en-US" dirty="0" smtClean="0"/>
              <a:t> </a:t>
            </a:r>
            <a:r>
              <a:rPr lang="en-US" dirty="0" err="1" smtClean="0"/>
              <a:t>sản</a:t>
            </a:r>
            <a:r>
              <a:rPr lang="en-US" dirty="0" smtClean="0"/>
              <a:t> </a:t>
            </a:r>
            <a:r>
              <a:rPr lang="en-US" dirty="0" err="1" smtClean="0"/>
              <a:t>phẩm</a:t>
            </a:r>
            <a:r>
              <a:rPr lang="vi-VN" dirty="0" smtClean="0"/>
              <a:t>).</a:t>
            </a:r>
            <a:endParaRPr lang="en-US" dirty="0"/>
          </a:p>
        </p:txBody>
      </p:sp>
      <p:pic>
        <p:nvPicPr>
          <p:cNvPr id="3" name="Picture 2"/>
          <p:cNvPicPr>
            <a:picLocks noChangeAspect="1"/>
          </p:cNvPicPr>
          <p:nvPr/>
        </p:nvPicPr>
        <p:blipFill>
          <a:blip r:embed="rId3"/>
          <a:stretch>
            <a:fillRect/>
          </a:stretch>
        </p:blipFill>
        <p:spPr>
          <a:xfrm>
            <a:off x="5513940" y="1191195"/>
            <a:ext cx="3418373" cy="2463749"/>
          </a:xfrm>
          <a:prstGeom prst="rect">
            <a:avLst/>
          </a:prstGeom>
        </p:spPr>
      </p:pic>
      <p:sp>
        <p:nvSpPr>
          <p:cNvPr id="12" name="TextBox 11"/>
          <p:cNvSpPr txBox="1"/>
          <p:nvPr/>
        </p:nvSpPr>
        <p:spPr>
          <a:xfrm>
            <a:off x="6854275" y="3895825"/>
            <a:ext cx="737702" cy="246221"/>
          </a:xfrm>
          <a:prstGeom prst="rect">
            <a:avLst/>
          </a:prstGeom>
          <a:noFill/>
        </p:spPr>
        <p:txBody>
          <a:bodyPr wrap="none" rtlCol="0">
            <a:spAutoFit/>
          </a:bodyPr>
          <a:lstStyle/>
          <a:p>
            <a:pPr algn="ctr"/>
            <a:r>
              <a:rPr lang="en-US" sz="1000" dirty="0" smtClean="0"/>
              <a:t>Hình: </a:t>
            </a:r>
            <a:r>
              <a:rPr lang="vi-VN" sz="1000" dirty="0" smtClean="0"/>
              <a:t>ILM</a:t>
            </a:r>
            <a:endParaRPr lang="en-US" sz="1000" dirty="0"/>
          </a:p>
        </p:txBody>
      </p:sp>
    </p:spTree>
    <p:extLst>
      <p:ext uri="{BB962C8B-B14F-4D97-AF65-F5344CB8AC3E}">
        <p14:creationId xmlns:p14="http://schemas.microsoft.com/office/powerpoint/2010/main" val="2145742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algn="ctr"/>
            <a:r>
              <a:rPr lang="en-US" sz="2800" dirty="0" err="1"/>
              <a:t>Mô</a:t>
            </a:r>
            <a:r>
              <a:rPr lang="en-US" sz="2800" dirty="0"/>
              <a:t> hình </a:t>
            </a:r>
            <a:r>
              <a:rPr lang="en-US" sz="2800" dirty="0" smtClean="0"/>
              <a:t>Q-Former trong ILM</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161705"/>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smtClean="0">
                <a:solidFill>
                  <a:schemeClr val="tx1">
                    <a:lumMod val="50000"/>
                    <a:lumOff val="50000"/>
                  </a:schemeClr>
                </a:solidFill>
              </a:rPr>
              <a:t>Cơ </a:t>
            </a:r>
            <a:r>
              <a:rPr lang="en-US" sz="2000" dirty="0" err="1" smtClean="0">
                <a:solidFill>
                  <a:schemeClr val="tx1">
                    <a:lumMod val="50000"/>
                    <a:lumOff val="50000"/>
                  </a:schemeClr>
                </a:solidFill>
              </a:rPr>
              <a:t>chế</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400" dirty="0">
                <a:solidFill>
                  <a:schemeClr val="tx1"/>
                </a:solidFill>
              </a:rPr>
              <a:t>Về mô hình</a:t>
            </a:r>
            <a:r>
              <a:rPr lang="en-US" sz="2400" dirty="0">
                <a:solidFill>
                  <a:schemeClr val="tx1"/>
                </a:solidFill>
              </a:rPr>
              <a:t> Q-Former</a:t>
            </a:r>
            <a:endParaRPr lang="vi-VN" sz="2400" dirty="0">
              <a:solidFill>
                <a:schemeClr val="tx1"/>
              </a:solidFill>
            </a:endParaRPr>
          </a:p>
        </p:txBody>
      </p:sp>
      <p:sp>
        <p:nvSpPr>
          <p:cNvPr id="2" name="TextBox 1"/>
          <p:cNvSpPr txBox="1"/>
          <p:nvPr/>
        </p:nvSpPr>
        <p:spPr>
          <a:xfrm>
            <a:off x="602776" y="1520973"/>
            <a:ext cx="4884694" cy="3323987"/>
          </a:xfrm>
          <a:prstGeom prst="rect">
            <a:avLst/>
          </a:prstGeom>
          <a:noFill/>
        </p:spPr>
        <p:txBody>
          <a:bodyPr wrap="square" rtlCol="0">
            <a:spAutoFit/>
          </a:bodyPr>
          <a:lstStyle/>
          <a:p>
            <a:pPr marL="285750" indent="-285750" algn="just">
              <a:buFont typeface="Arial" panose="020B0604020202020204" pitchFamily="34" charset="0"/>
              <a:buChar char="•"/>
            </a:pPr>
            <a:r>
              <a:rPr lang="en-US" dirty="0" err="1" smtClean="0"/>
              <a:t>Huấn</a:t>
            </a:r>
            <a:r>
              <a:rPr lang="en-US" dirty="0" smtClean="0"/>
              <a:t> </a:t>
            </a:r>
            <a:r>
              <a:rPr lang="en-US" dirty="0" err="1" smtClean="0"/>
              <a:t>luyện</a:t>
            </a:r>
            <a:r>
              <a:rPr lang="en-US" dirty="0" smtClean="0"/>
              <a:t> </a:t>
            </a:r>
            <a:r>
              <a:rPr lang="en-US" dirty="0" err="1" smtClean="0"/>
              <a:t>thông</a:t>
            </a:r>
            <a:r>
              <a:rPr lang="en-US" dirty="0" smtClean="0"/>
              <a:t> qua 3 </a:t>
            </a:r>
            <a:r>
              <a:rPr lang="en-US" dirty="0" err="1" smtClean="0"/>
              <a:t>hàm</a:t>
            </a:r>
            <a:r>
              <a:rPr lang="en-US" dirty="0" smtClean="0"/>
              <a:t> </a:t>
            </a:r>
            <a:r>
              <a:rPr lang="en-US" dirty="0" err="1" smtClean="0"/>
              <a:t>mục</a:t>
            </a:r>
            <a:r>
              <a:rPr lang="en-US" dirty="0" smtClean="0"/>
              <a:t> </a:t>
            </a:r>
            <a:r>
              <a:rPr lang="en-US" dirty="0" err="1" smtClean="0"/>
              <a:t>tiêu</a:t>
            </a:r>
            <a:r>
              <a:rPr lang="en-US" dirty="0"/>
              <a:t> </a:t>
            </a:r>
            <a:r>
              <a:rPr lang="en-US" dirty="0" err="1" smtClean="0"/>
              <a:t>khác</a:t>
            </a:r>
            <a:r>
              <a:rPr lang="en-US" dirty="0" smtClean="0"/>
              <a:t> </a:t>
            </a:r>
            <a:r>
              <a:rPr lang="en-US" dirty="0" err="1" smtClean="0"/>
              <a:t>nhau</a:t>
            </a:r>
            <a:r>
              <a:rPr lang="en-US" dirty="0" smtClean="0"/>
              <a:t> (Item-text contrastive, item-text matching, item text generation)</a:t>
            </a:r>
          </a:p>
          <a:p>
            <a:pPr marL="285750" indent="-285750" algn="just">
              <a:buFont typeface="Arial" panose="020B0604020202020204" pitchFamily="34" charset="0"/>
              <a:buChar char="•"/>
            </a:pPr>
            <a:r>
              <a:rPr lang="vi-VN" dirty="0"/>
              <a:t>Hiểu nôm na thì bộ queries này sẽ tương tự như loạt câu hỏi “Ai? Cái gì? Chuyện gì</a:t>
            </a:r>
            <a:r>
              <a:rPr lang="vi-VN" dirty="0" smtClean="0"/>
              <a:t>?”. </a:t>
            </a:r>
            <a:r>
              <a:rPr lang="vi-VN" dirty="0"/>
              <a:t>Qua quá trình huấn luyện thì dần dần bộ queries </a:t>
            </a:r>
            <a:r>
              <a:rPr lang="vi-VN" dirty="0" smtClean="0"/>
              <a:t>sẽ </a:t>
            </a:r>
            <a:r>
              <a:rPr lang="en-US" dirty="0" err="1" smtClean="0"/>
              <a:t>biết</a:t>
            </a:r>
            <a:r>
              <a:rPr lang="en-US" dirty="0" smtClean="0"/>
              <a:t> </a:t>
            </a:r>
            <a:r>
              <a:rPr lang="vi-VN" dirty="0" smtClean="0"/>
              <a:t>những </a:t>
            </a:r>
            <a:r>
              <a:rPr lang="vi-VN" dirty="0"/>
              <a:t>đặc trưng cần thiết và liên quan đến </a:t>
            </a:r>
            <a:r>
              <a:rPr lang="en-US" dirty="0" err="1" smtClean="0"/>
              <a:t>hành</a:t>
            </a:r>
            <a:r>
              <a:rPr lang="en-US" dirty="0" smtClean="0"/>
              <a:t> vi và </a:t>
            </a:r>
            <a:r>
              <a:rPr lang="en-US" dirty="0" err="1" smtClean="0"/>
              <a:t>mô</a:t>
            </a:r>
            <a:r>
              <a:rPr lang="en-US" dirty="0" smtClean="0"/>
              <a:t> </a:t>
            </a:r>
            <a:r>
              <a:rPr lang="en-US" dirty="0" err="1" smtClean="0"/>
              <a:t>tả</a:t>
            </a:r>
            <a:r>
              <a:rPr lang="en-US" dirty="0" smtClean="0"/>
              <a:t> item</a:t>
            </a:r>
            <a:r>
              <a:rPr lang="vi-VN" dirty="0" smtClean="0"/>
              <a:t>.</a:t>
            </a:r>
            <a:r>
              <a:rPr lang="vi-VN" dirty="0"/>
              <a:t> </a:t>
            </a:r>
            <a:endParaRPr lang="en-US" dirty="0" smtClean="0"/>
          </a:p>
          <a:p>
            <a:pPr marL="285750" indent="-285750" algn="just">
              <a:buFont typeface="Arial" panose="020B0604020202020204" pitchFamily="34" charset="0"/>
              <a:buChar char="•"/>
            </a:pPr>
            <a:r>
              <a:rPr lang="vi-VN" dirty="0" smtClean="0"/>
              <a:t>Cơ chế:</a:t>
            </a:r>
            <a:r>
              <a:rPr lang="en-US" dirty="0" smtClean="0"/>
              <a:t> </a:t>
            </a:r>
          </a:p>
          <a:p>
            <a:pPr lvl="1" algn="just"/>
            <a:r>
              <a:rPr lang="en-US" dirty="0"/>
              <a:t>	</a:t>
            </a:r>
            <a:r>
              <a:rPr lang="vi-VN" dirty="0" smtClean="0"/>
              <a:t>Các </a:t>
            </a:r>
            <a:r>
              <a:rPr lang="vi-VN" dirty="0"/>
              <a:t>truy vấn (Queries) trích xuất thông tin </a:t>
            </a:r>
            <a:r>
              <a:rPr lang="en-US" dirty="0" smtClean="0"/>
              <a:t>trong vector </a:t>
            </a:r>
            <a:r>
              <a:rPr lang="en-US" dirty="0" err="1" smtClean="0"/>
              <a:t>cộng</a:t>
            </a:r>
            <a:r>
              <a:rPr lang="en-US" dirty="0" smtClean="0"/>
              <a:t> </a:t>
            </a:r>
            <a:r>
              <a:rPr lang="en-US" dirty="0" err="1" smtClean="0"/>
              <a:t>tác</a:t>
            </a:r>
            <a:r>
              <a:rPr lang="en-US" dirty="0" smtClean="0"/>
              <a:t> (</a:t>
            </a:r>
            <a:r>
              <a:rPr lang="en-US" dirty="0" err="1" smtClean="0"/>
              <a:t>mang</a:t>
            </a:r>
            <a:r>
              <a:rPr lang="en-US" dirty="0" smtClean="0"/>
              <a:t> </a:t>
            </a:r>
            <a:r>
              <a:rPr lang="en-US" dirty="0" err="1" smtClean="0"/>
              <a:t>thông</a:t>
            </a:r>
            <a:r>
              <a:rPr lang="en-US" dirty="0" smtClean="0"/>
              <a:t> tin </a:t>
            </a:r>
            <a:r>
              <a:rPr lang="en-US" dirty="0" err="1" smtClean="0"/>
              <a:t>hành</a:t>
            </a:r>
            <a:r>
              <a:rPr lang="en-US" dirty="0" smtClean="0"/>
              <a:t> vi </a:t>
            </a:r>
            <a:r>
              <a:rPr lang="en-US" dirty="0" err="1" smtClean="0"/>
              <a:t>sản</a:t>
            </a:r>
            <a:r>
              <a:rPr lang="en-US" dirty="0" smtClean="0"/>
              <a:t> </a:t>
            </a:r>
            <a:r>
              <a:rPr lang="en-US" dirty="0" err="1" smtClean="0"/>
              <a:t>phẩm</a:t>
            </a:r>
            <a:r>
              <a:rPr lang="en-US" dirty="0" smtClean="0"/>
              <a:t>/ người </a:t>
            </a:r>
            <a:r>
              <a:rPr lang="en-US" dirty="0" err="1" smtClean="0"/>
              <a:t>dùng</a:t>
            </a:r>
            <a:r>
              <a:rPr lang="en-US" dirty="0" smtClean="0"/>
              <a:t>) </a:t>
            </a:r>
            <a:r>
              <a:rPr lang="vi-VN" dirty="0" smtClean="0"/>
              <a:t>quan </a:t>
            </a:r>
            <a:r>
              <a:rPr lang="vi-VN" dirty="0"/>
              <a:t>trọng nhất liên quan đến văn bản</a:t>
            </a:r>
            <a:r>
              <a:rPr lang="vi-VN" dirty="0" smtClean="0"/>
              <a:t>.</a:t>
            </a:r>
            <a:endParaRPr lang="en-US" dirty="0" smtClean="0"/>
          </a:p>
          <a:p>
            <a:pPr lvl="1" algn="just"/>
            <a:r>
              <a:rPr lang="en-US" dirty="0"/>
              <a:t>	</a:t>
            </a:r>
            <a:r>
              <a:rPr lang="en-US" dirty="0" smtClean="0"/>
              <a:t/>
            </a:r>
            <a:br>
              <a:rPr lang="en-US" dirty="0" smtClean="0"/>
            </a:br>
            <a:r>
              <a:rPr lang="en-US" dirty="0" smtClean="0"/>
              <a:t>	</a:t>
            </a:r>
            <a:r>
              <a:rPr lang="vi-VN" dirty="0" smtClean="0"/>
              <a:t>Đầu </a:t>
            </a:r>
            <a:r>
              <a:rPr lang="vi-VN" dirty="0"/>
              <a:t>ra là các đặc </a:t>
            </a:r>
            <a:r>
              <a:rPr lang="vi-VN" dirty="0" smtClean="0"/>
              <a:t>trưng</a:t>
            </a:r>
            <a:r>
              <a:rPr lang="en-US" dirty="0" smtClean="0"/>
              <a:t> (N = 32)</a:t>
            </a:r>
            <a:r>
              <a:rPr lang="vi-VN" dirty="0" smtClean="0"/>
              <a:t> </a:t>
            </a:r>
            <a:r>
              <a:rPr lang="en-US" dirty="0" err="1" smtClean="0"/>
              <a:t>hành</a:t>
            </a:r>
            <a:r>
              <a:rPr lang="en-US" dirty="0" smtClean="0"/>
              <a:t> vi </a:t>
            </a:r>
            <a:r>
              <a:rPr lang="vi-VN" dirty="0" smtClean="0"/>
              <a:t>đã được</a:t>
            </a:r>
            <a:r>
              <a:rPr lang="en-US" dirty="0" smtClean="0"/>
              <a:t> </a:t>
            </a:r>
            <a:r>
              <a:rPr lang="en-US" dirty="0" err="1" smtClean="0"/>
              <a:t>căn</a:t>
            </a:r>
            <a:r>
              <a:rPr lang="en-US" dirty="0" smtClean="0"/>
              <a:t> </a:t>
            </a:r>
            <a:r>
              <a:rPr lang="en-US" dirty="0" err="1" smtClean="0"/>
              <a:t>chỉnh</a:t>
            </a:r>
            <a:r>
              <a:rPr lang="en-US" dirty="0" smtClean="0"/>
              <a:t> </a:t>
            </a:r>
            <a:r>
              <a:rPr lang="en-US" dirty="0" err="1" smtClean="0"/>
              <a:t>mang</a:t>
            </a:r>
            <a:r>
              <a:rPr lang="en-US" dirty="0" smtClean="0"/>
              <a:t> cả </a:t>
            </a:r>
            <a:r>
              <a:rPr lang="en-US" dirty="0" err="1" smtClean="0"/>
              <a:t>ngữ</a:t>
            </a:r>
            <a:r>
              <a:rPr lang="en-US" dirty="0" smtClean="0"/>
              <a:t> </a:t>
            </a:r>
            <a:r>
              <a:rPr lang="en-US" dirty="0" err="1" smtClean="0"/>
              <a:t>nghĩa</a:t>
            </a:r>
            <a:r>
              <a:rPr lang="en-US" dirty="0" smtClean="0"/>
              <a:t> về </a:t>
            </a:r>
            <a:r>
              <a:rPr lang="en-US" dirty="0" err="1" smtClean="0"/>
              <a:t>hành</a:t>
            </a:r>
            <a:r>
              <a:rPr lang="en-US" dirty="0" smtClean="0"/>
              <a:t> vi </a:t>
            </a:r>
            <a:r>
              <a:rPr lang="en-US" dirty="0" err="1" smtClean="0"/>
              <a:t>lẫn</a:t>
            </a:r>
            <a:r>
              <a:rPr lang="en-US" dirty="0" smtClean="0"/>
              <a:t> </a:t>
            </a:r>
            <a:r>
              <a:rPr lang="en-US" dirty="0" err="1" smtClean="0"/>
              <a:t>mô</a:t>
            </a:r>
            <a:r>
              <a:rPr lang="en-US" dirty="0" smtClean="0"/>
              <a:t> </a:t>
            </a:r>
            <a:r>
              <a:rPr lang="en-US" dirty="0" err="1" smtClean="0"/>
              <a:t>tả</a:t>
            </a:r>
            <a:r>
              <a:rPr lang="en-US" dirty="0" smtClean="0"/>
              <a:t> </a:t>
            </a:r>
            <a:r>
              <a:rPr lang="en-US" dirty="0" err="1" smtClean="0"/>
              <a:t>sản</a:t>
            </a:r>
            <a:r>
              <a:rPr lang="en-US" dirty="0" smtClean="0"/>
              <a:t> </a:t>
            </a:r>
            <a:r>
              <a:rPr lang="en-US" dirty="0" err="1" smtClean="0"/>
              <a:t>phẩm</a:t>
            </a:r>
            <a:r>
              <a:rPr lang="vi-VN" dirty="0" smtClean="0"/>
              <a:t>.</a:t>
            </a:r>
            <a:endParaRPr lang="en-US" dirty="0"/>
          </a:p>
        </p:txBody>
      </p:sp>
      <p:pic>
        <p:nvPicPr>
          <p:cNvPr id="3" name="Picture 2"/>
          <p:cNvPicPr>
            <a:picLocks noChangeAspect="1"/>
          </p:cNvPicPr>
          <p:nvPr/>
        </p:nvPicPr>
        <p:blipFill>
          <a:blip r:embed="rId3"/>
          <a:stretch>
            <a:fillRect/>
          </a:stretch>
        </p:blipFill>
        <p:spPr>
          <a:xfrm>
            <a:off x="5513940" y="1191195"/>
            <a:ext cx="3418373" cy="2463749"/>
          </a:xfrm>
          <a:prstGeom prst="rect">
            <a:avLst/>
          </a:prstGeom>
        </p:spPr>
      </p:pic>
      <p:sp>
        <p:nvSpPr>
          <p:cNvPr id="12" name="TextBox 11"/>
          <p:cNvSpPr txBox="1"/>
          <p:nvPr/>
        </p:nvSpPr>
        <p:spPr>
          <a:xfrm>
            <a:off x="6584972" y="3895825"/>
            <a:ext cx="1276311" cy="246221"/>
          </a:xfrm>
          <a:prstGeom prst="rect">
            <a:avLst/>
          </a:prstGeom>
          <a:noFill/>
        </p:spPr>
        <p:txBody>
          <a:bodyPr wrap="none" rtlCol="0">
            <a:spAutoFit/>
          </a:bodyPr>
          <a:lstStyle/>
          <a:p>
            <a:pPr algn="ctr"/>
            <a:r>
              <a:rPr lang="en-US" sz="1000" dirty="0" smtClean="0"/>
              <a:t>Hình</a:t>
            </a:r>
            <a:r>
              <a:rPr lang="en-US" sz="1000" dirty="0" smtClean="0"/>
              <a:t>: Kiến </a:t>
            </a:r>
            <a:r>
              <a:rPr lang="en-US" sz="1000" dirty="0" err="1" smtClean="0"/>
              <a:t>trúc</a:t>
            </a:r>
            <a:r>
              <a:rPr lang="en-US" sz="1000" dirty="0" smtClean="0"/>
              <a:t> </a:t>
            </a:r>
            <a:r>
              <a:rPr lang="vi-VN" sz="1000" dirty="0" smtClean="0"/>
              <a:t>ILM</a:t>
            </a:r>
            <a:endParaRPr lang="en-US" sz="1000" dirty="0"/>
          </a:p>
        </p:txBody>
      </p:sp>
    </p:spTree>
    <p:extLst>
      <p:ext uri="{BB962C8B-B14F-4D97-AF65-F5344CB8AC3E}">
        <p14:creationId xmlns:p14="http://schemas.microsoft.com/office/powerpoint/2010/main" val="2607149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algn="ctr"/>
            <a:r>
              <a:rPr lang="en-US" sz="2800" dirty="0" err="1"/>
              <a:t>Mô</a:t>
            </a:r>
            <a:r>
              <a:rPr lang="en-US" sz="2800" dirty="0"/>
              <a:t> hình Q-Former trong ILM</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smtClean="0">
                <a:solidFill>
                  <a:schemeClr val="tx1">
                    <a:lumMod val="50000"/>
                    <a:lumOff val="50000"/>
                  </a:schemeClr>
                </a:solidFill>
              </a:rPr>
              <a:t>So </a:t>
            </a:r>
            <a:r>
              <a:rPr lang="en-US" sz="2000" dirty="0" err="1" smtClean="0">
                <a:solidFill>
                  <a:schemeClr val="tx1">
                    <a:lumMod val="50000"/>
                    <a:lumOff val="50000"/>
                  </a:schemeClr>
                </a:solidFill>
              </a:rPr>
              <a:t>sánh</a:t>
            </a:r>
            <a:r>
              <a:rPr lang="en-US" sz="2000" dirty="0" smtClean="0">
                <a:solidFill>
                  <a:schemeClr val="tx1">
                    <a:lumMod val="50000"/>
                    <a:lumOff val="50000"/>
                  </a:schemeClr>
                </a:solidFill>
              </a:rPr>
              <a:t> 2 </a:t>
            </a:r>
            <a:r>
              <a:rPr lang="en-US" sz="2000" dirty="0" err="1" smtClean="0">
                <a:solidFill>
                  <a:schemeClr val="tx1">
                    <a:lumMod val="50000"/>
                    <a:lumOff val="50000"/>
                  </a:schemeClr>
                </a:solidFill>
              </a:rPr>
              <a:t>mô</a:t>
            </a:r>
            <a:r>
              <a:rPr lang="en-US" sz="2000" dirty="0" smtClean="0">
                <a:solidFill>
                  <a:schemeClr val="tx1">
                    <a:lumMod val="50000"/>
                    <a:lumOff val="50000"/>
                  </a:schemeClr>
                </a:solidFill>
              </a:rPr>
              <a:t> hình</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400" dirty="0">
                <a:solidFill>
                  <a:schemeClr val="tx1"/>
                </a:solidFill>
              </a:rPr>
              <a:t>Về mô hình</a:t>
            </a:r>
            <a:r>
              <a:rPr lang="en-US" sz="2400" dirty="0">
                <a:solidFill>
                  <a:schemeClr val="tx1"/>
                </a:solidFill>
              </a:rPr>
              <a:t> Q-Former</a:t>
            </a:r>
            <a:endParaRPr lang="vi-VN" sz="2400" dirty="0">
              <a:solidFill>
                <a:schemeClr val="tx1"/>
              </a:solidFill>
            </a:endParaRPr>
          </a:p>
        </p:txBody>
      </p:sp>
      <p:sp>
        <p:nvSpPr>
          <p:cNvPr id="7" name="TextBox 6"/>
          <p:cNvSpPr txBox="1"/>
          <p:nvPr/>
        </p:nvSpPr>
        <p:spPr>
          <a:xfrm>
            <a:off x="6197255" y="4139470"/>
            <a:ext cx="1276311" cy="246221"/>
          </a:xfrm>
          <a:prstGeom prst="rect">
            <a:avLst/>
          </a:prstGeom>
          <a:noFill/>
        </p:spPr>
        <p:txBody>
          <a:bodyPr wrap="none" rtlCol="0">
            <a:spAutoFit/>
          </a:bodyPr>
          <a:lstStyle/>
          <a:p>
            <a:pPr algn="ctr"/>
            <a:r>
              <a:rPr lang="en-US" sz="1000" dirty="0" smtClean="0"/>
              <a:t>Hình: Kiến </a:t>
            </a:r>
            <a:r>
              <a:rPr lang="en-US" sz="1000" dirty="0" err="1" smtClean="0"/>
              <a:t>trúc</a:t>
            </a:r>
            <a:r>
              <a:rPr lang="en-US" sz="1000" dirty="0" smtClean="0"/>
              <a:t> </a:t>
            </a:r>
            <a:r>
              <a:rPr lang="en-US" sz="1000" dirty="0" smtClean="0"/>
              <a:t>ILM</a:t>
            </a:r>
            <a:endParaRPr lang="en-US" sz="1000" dirty="0"/>
          </a:p>
        </p:txBody>
      </p:sp>
      <p:pic>
        <p:nvPicPr>
          <p:cNvPr id="10" name="Picture 9"/>
          <p:cNvPicPr>
            <a:picLocks noChangeAspect="1"/>
          </p:cNvPicPr>
          <p:nvPr/>
        </p:nvPicPr>
        <p:blipFill>
          <a:blip r:embed="rId3"/>
          <a:stretch>
            <a:fillRect/>
          </a:stretch>
        </p:blipFill>
        <p:spPr>
          <a:xfrm>
            <a:off x="5252050" y="1954474"/>
            <a:ext cx="2928423" cy="2110624"/>
          </a:xfrm>
          <a:prstGeom prst="rect">
            <a:avLst/>
          </a:prstGeom>
        </p:spPr>
      </p:pic>
      <p:pic>
        <p:nvPicPr>
          <p:cNvPr id="11" name="Picture 10"/>
          <p:cNvPicPr>
            <a:picLocks noChangeAspect="1"/>
          </p:cNvPicPr>
          <p:nvPr/>
        </p:nvPicPr>
        <p:blipFill>
          <a:blip r:embed="rId4"/>
          <a:stretch>
            <a:fillRect/>
          </a:stretch>
        </p:blipFill>
        <p:spPr>
          <a:xfrm>
            <a:off x="785528" y="2038076"/>
            <a:ext cx="4379293" cy="1943419"/>
          </a:xfrm>
          <a:prstGeom prst="rect">
            <a:avLst/>
          </a:prstGeom>
        </p:spPr>
      </p:pic>
      <p:sp>
        <p:nvSpPr>
          <p:cNvPr id="12" name="TextBox 11"/>
          <p:cNvSpPr txBox="1"/>
          <p:nvPr/>
        </p:nvSpPr>
        <p:spPr>
          <a:xfrm>
            <a:off x="1957296" y="4160631"/>
            <a:ext cx="1475084" cy="246221"/>
          </a:xfrm>
          <a:prstGeom prst="rect">
            <a:avLst/>
          </a:prstGeom>
          <a:noFill/>
        </p:spPr>
        <p:txBody>
          <a:bodyPr wrap="none" rtlCol="0">
            <a:spAutoFit/>
          </a:bodyPr>
          <a:lstStyle/>
          <a:p>
            <a:pPr algn="ctr"/>
            <a:r>
              <a:rPr lang="en-US" sz="1000" dirty="0" smtClean="0"/>
              <a:t>Hình: Kiến </a:t>
            </a:r>
            <a:r>
              <a:rPr lang="en-US" sz="1000" dirty="0" err="1" smtClean="0"/>
              <a:t>trúc</a:t>
            </a:r>
            <a:r>
              <a:rPr lang="vi-VN" sz="1000" dirty="0" smtClean="0"/>
              <a:t> CoLLM</a:t>
            </a:r>
            <a:endParaRPr lang="en-US" sz="1000" dirty="0"/>
          </a:p>
        </p:txBody>
      </p:sp>
    </p:spTree>
    <p:extLst>
      <p:ext uri="{BB962C8B-B14F-4D97-AF65-F5344CB8AC3E}">
        <p14:creationId xmlns:p14="http://schemas.microsoft.com/office/powerpoint/2010/main" val="1688002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62" name="Google Shape;62;p8"/>
          <p:cNvSpPr txBox="1"/>
          <p:nvPr/>
        </p:nvSpPr>
        <p:spPr>
          <a:xfrm>
            <a:off x="8423192" y="4521285"/>
            <a:ext cx="750900" cy="2196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5" name="TextBox 4"/>
          <p:cNvSpPr txBox="1"/>
          <p:nvPr/>
        </p:nvSpPr>
        <p:spPr>
          <a:xfrm>
            <a:off x="2017284" y="1741947"/>
            <a:ext cx="5156200" cy="1015663"/>
          </a:xfrm>
          <a:prstGeom prst="rect">
            <a:avLst/>
          </a:prstGeom>
          <a:noFill/>
        </p:spPr>
        <p:txBody>
          <a:bodyPr wrap="square" rtlCol="0">
            <a:spAutoFit/>
          </a:bodyPr>
          <a:lstStyle/>
          <a:p>
            <a:pPr algn="ctr"/>
            <a:r>
              <a:rPr lang="en-US" sz="6000" b="1" dirty="0" smtClean="0">
                <a:solidFill>
                  <a:srgbClr val="0070C0"/>
                </a:solidFill>
              </a:rPr>
              <a:t>Instruct BLIP</a:t>
            </a:r>
            <a:endParaRPr lang="en-US" sz="6000" dirty="0">
              <a:solidFill>
                <a:srgbClr val="0070C0"/>
              </a:solidFill>
            </a:endParaRPr>
          </a:p>
        </p:txBody>
      </p:sp>
    </p:spTree>
    <p:extLst>
      <p:ext uri="{BB962C8B-B14F-4D97-AF65-F5344CB8AC3E}">
        <p14:creationId xmlns:p14="http://schemas.microsoft.com/office/powerpoint/2010/main" val="19187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smtClean="0"/>
              <a:t>INSTRUCT BLIP</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smtClean="0">
                <a:solidFill>
                  <a:schemeClr val="tx1">
                    <a:lumMod val="50000"/>
                    <a:lumOff val="50000"/>
                  </a:schemeClr>
                </a:solidFill>
              </a:rPr>
              <a:t>Vấn </a:t>
            </a:r>
            <a:r>
              <a:rPr lang="en-US" sz="2000" dirty="0" err="1" smtClean="0">
                <a:solidFill>
                  <a:schemeClr val="tx1">
                    <a:lumMod val="50000"/>
                    <a:lumOff val="50000"/>
                  </a:schemeClr>
                </a:solidFill>
              </a:rPr>
              <a:t>đề</a:t>
            </a:r>
            <a:r>
              <a:rPr lang="en-US" sz="2000" dirty="0" smtClean="0">
                <a:solidFill>
                  <a:schemeClr val="tx1">
                    <a:lumMod val="50000"/>
                    <a:lumOff val="50000"/>
                  </a:schemeClr>
                </a:solidFill>
              </a:rPr>
              <a:t> của Q-Former</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713134"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Đề</a:t>
            </a:r>
            <a:r>
              <a:rPr lang="en-US" sz="2400" dirty="0" smtClean="0">
                <a:solidFill>
                  <a:schemeClr val="tx1"/>
                </a:solidFill>
              </a:rPr>
              <a:t> </a:t>
            </a:r>
            <a:r>
              <a:rPr lang="en-US" sz="2400" dirty="0" err="1" smtClean="0">
                <a:solidFill>
                  <a:schemeClr val="tx1"/>
                </a:solidFill>
              </a:rPr>
              <a:t>xuất</a:t>
            </a:r>
            <a:r>
              <a:rPr lang="en-US" sz="2400" dirty="0" smtClean="0">
                <a:solidFill>
                  <a:schemeClr val="tx1"/>
                </a:solidFill>
              </a:rPr>
              <a:t> của Instruct BLIP</a:t>
            </a:r>
            <a:endParaRPr lang="vi-VN" sz="2400" dirty="0">
              <a:solidFill>
                <a:schemeClr val="tx1"/>
              </a:solidFill>
            </a:endParaRPr>
          </a:p>
        </p:txBody>
      </p:sp>
      <p:sp>
        <p:nvSpPr>
          <p:cNvPr id="2" name="TextBox 1"/>
          <p:cNvSpPr txBox="1"/>
          <p:nvPr/>
        </p:nvSpPr>
        <p:spPr>
          <a:xfrm>
            <a:off x="248816" y="1804334"/>
            <a:ext cx="4258961" cy="2893100"/>
          </a:xfrm>
          <a:prstGeom prst="rect">
            <a:avLst/>
          </a:prstGeom>
          <a:noFill/>
        </p:spPr>
        <p:txBody>
          <a:bodyPr wrap="square" rtlCol="0">
            <a:spAutoFit/>
          </a:bodyPr>
          <a:lstStyle/>
          <a:p>
            <a:pPr marL="285750" indent="-285750" algn="just">
              <a:buFont typeface="Arial" panose="020B0604020202020204" pitchFamily="34" charset="0"/>
              <a:buChar char="•"/>
            </a:pPr>
            <a:r>
              <a:rPr lang="en-US" dirty="0" smtClean="0"/>
              <a:t>M</a:t>
            </a:r>
            <a:r>
              <a:rPr lang="vi-VN" dirty="0" smtClean="0"/>
              <a:t>ột đặc điểm mà BLIP-2 vẫn cải thiện được nằm ở khả năng trích xuất đặc trưng ảnh của Q-Former.</a:t>
            </a:r>
            <a:endParaRPr lang="en-US" dirty="0" smtClean="0"/>
          </a:p>
          <a:p>
            <a:pPr marL="285750" indent="-285750" algn="just">
              <a:buFont typeface="Arial" panose="020B0604020202020204" pitchFamily="34" charset="0"/>
              <a:buChar char="•"/>
            </a:pPr>
            <a:r>
              <a:rPr lang="vi-VN" dirty="0" smtClean="0"/>
              <a:t>Việc chỉ huấn luyện Q-Former với cặp ảnh</a:t>
            </a:r>
            <a:r>
              <a:rPr lang="en-US" dirty="0" smtClean="0"/>
              <a:t> (vector </a:t>
            </a:r>
            <a:r>
              <a:rPr lang="en-US" dirty="0" err="1" smtClean="0"/>
              <a:t>hành</a:t>
            </a:r>
            <a:r>
              <a:rPr lang="en-US" dirty="0" smtClean="0"/>
              <a:t> vi)</a:t>
            </a:r>
            <a:r>
              <a:rPr lang="vi-VN" dirty="0" smtClean="0"/>
              <a:t> và văn bản miêu tả khiến cho nhiều thông tin trích xuất không liên quan đến prompt (hay còn gọi là instruction</a:t>
            </a:r>
            <a:r>
              <a:rPr lang="en-US" dirty="0" smtClean="0"/>
              <a:t>, </a:t>
            </a:r>
            <a:r>
              <a:rPr lang="en-US" dirty="0" err="1" smtClean="0"/>
              <a:t>ví</a:t>
            </a:r>
            <a:r>
              <a:rPr lang="en-US" dirty="0" smtClean="0"/>
              <a:t> dụ: </a:t>
            </a:r>
            <a:r>
              <a:rPr lang="en-US" dirty="0" err="1" smtClean="0"/>
              <a:t>yêu</a:t>
            </a:r>
            <a:r>
              <a:rPr lang="en-US" dirty="0" smtClean="0"/>
              <a:t> cầu </a:t>
            </a:r>
            <a:r>
              <a:rPr lang="en-US" dirty="0" err="1" smtClean="0"/>
              <a:t>trích</a:t>
            </a:r>
            <a:r>
              <a:rPr lang="en-US" dirty="0" smtClean="0"/>
              <a:t> </a:t>
            </a:r>
            <a:r>
              <a:rPr lang="en-US" dirty="0" err="1" smtClean="0"/>
              <a:t>xuất</a:t>
            </a:r>
            <a:r>
              <a:rPr lang="en-US" dirty="0" smtClean="0"/>
              <a:t> </a:t>
            </a:r>
            <a:r>
              <a:rPr lang="en-US" dirty="0" err="1" smtClean="0"/>
              <a:t>thông</a:t>
            </a:r>
            <a:r>
              <a:rPr lang="en-US" dirty="0" smtClean="0"/>
              <a:t> tin </a:t>
            </a:r>
            <a:r>
              <a:rPr lang="en-US" dirty="0" err="1" smtClean="0"/>
              <a:t>hành</a:t>
            </a:r>
            <a:r>
              <a:rPr lang="en-US" dirty="0" smtClean="0"/>
              <a:t> vi (</a:t>
            </a:r>
            <a:r>
              <a:rPr lang="en-US" dirty="0" err="1" smtClean="0"/>
              <a:t>nhóm</a:t>
            </a:r>
            <a:r>
              <a:rPr lang="en-US" dirty="0" smtClean="0"/>
              <a:t> </a:t>
            </a:r>
            <a:r>
              <a:rPr lang="en-US" dirty="0" err="1" smtClean="0"/>
              <a:t>mặt</a:t>
            </a:r>
            <a:r>
              <a:rPr lang="en-US" dirty="0" smtClean="0"/>
              <a:t> hàng nào,….)</a:t>
            </a:r>
            <a:r>
              <a:rPr lang="vi-VN" dirty="0" smtClean="0"/>
              <a:t>, dẫn đến việc câu trả lời có thể không đúng trọng tâm. </a:t>
            </a:r>
            <a:endParaRPr lang="en-US" dirty="0" smtClean="0"/>
          </a:p>
          <a:p>
            <a:pPr marL="285750" indent="-285750" algn="just">
              <a:buFont typeface="Arial" panose="020B0604020202020204" pitchFamily="34" charset="0"/>
              <a:buChar char="•"/>
            </a:pPr>
            <a:r>
              <a:rPr lang="vi-VN" dirty="0" smtClean="0"/>
              <a:t>Bởi vậy, InstructBLIP đã ra đời với mục tiêu cải tiến BLIP-2 bằng phương pháp instruction tuning.</a:t>
            </a:r>
            <a:endParaRPr lang="en-US" dirty="0"/>
          </a:p>
        </p:txBody>
      </p:sp>
      <p:sp>
        <p:nvSpPr>
          <p:cNvPr id="5" name="Rectangle 4"/>
          <p:cNvSpPr/>
          <p:nvPr/>
        </p:nvSpPr>
        <p:spPr>
          <a:xfrm>
            <a:off x="5856530" y="4193415"/>
            <a:ext cx="2444900" cy="307777"/>
          </a:xfrm>
          <a:prstGeom prst="rect">
            <a:avLst/>
          </a:prstGeom>
        </p:spPr>
        <p:txBody>
          <a:bodyPr wrap="none">
            <a:spAutoFit/>
          </a:bodyPr>
          <a:lstStyle/>
          <a:p>
            <a:r>
              <a:rPr lang="en-US" dirty="0" smtClean="0"/>
              <a:t>Hình</a:t>
            </a:r>
            <a:r>
              <a:rPr lang="en-US" dirty="0" smtClean="0"/>
              <a:t>: Kiến </a:t>
            </a:r>
            <a:r>
              <a:rPr lang="en-US" dirty="0" err="1" smtClean="0"/>
              <a:t>trúc</a:t>
            </a:r>
            <a:r>
              <a:rPr lang="en-US" dirty="0" smtClean="0"/>
              <a:t> Instruct BLIP</a:t>
            </a:r>
            <a:endParaRPr lang="en-US" dirty="0"/>
          </a:p>
        </p:txBody>
      </p:sp>
      <p:pic>
        <p:nvPicPr>
          <p:cNvPr id="4" name="Picture 3"/>
          <p:cNvPicPr>
            <a:picLocks noChangeAspect="1"/>
          </p:cNvPicPr>
          <p:nvPr/>
        </p:nvPicPr>
        <p:blipFill>
          <a:blip r:embed="rId3"/>
          <a:stretch>
            <a:fillRect/>
          </a:stretch>
        </p:blipFill>
        <p:spPr>
          <a:xfrm>
            <a:off x="4890732" y="1464484"/>
            <a:ext cx="4100868" cy="2441432"/>
          </a:xfrm>
          <a:prstGeom prst="rect">
            <a:avLst/>
          </a:prstGeom>
        </p:spPr>
      </p:pic>
    </p:spTree>
    <p:extLst>
      <p:ext uri="{BB962C8B-B14F-4D97-AF65-F5344CB8AC3E}">
        <p14:creationId xmlns:p14="http://schemas.microsoft.com/office/powerpoint/2010/main" val="4256479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smtClean="0"/>
              <a:t>INSTRUCT BLIP</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err="1" smtClean="0">
                <a:solidFill>
                  <a:schemeClr val="tx1">
                    <a:lumMod val="50000"/>
                    <a:lumOff val="50000"/>
                  </a:schemeClr>
                </a:solidFill>
              </a:rPr>
              <a:t>Đề</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xuất</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713134"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Đề</a:t>
            </a:r>
            <a:r>
              <a:rPr lang="en-US" sz="2400" dirty="0" smtClean="0">
                <a:solidFill>
                  <a:schemeClr val="tx1"/>
                </a:solidFill>
              </a:rPr>
              <a:t> </a:t>
            </a:r>
            <a:r>
              <a:rPr lang="en-US" sz="2400" dirty="0" err="1" smtClean="0">
                <a:solidFill>
                  <a:schemeClr val="tx1"/>
                </a:solidFill>
              </a:rPr>
              <a:t>xuất</a:t>
            </a:r>
            <a:r>
              <a:rPr lang="en-US" sz="2400" dirty="0" smtClean="0">
                <a:solidFill>
                  <a:schemeClr val="tx1"/>
                </a:solidFill>
              </a:rPr>
              <a:t> của Instruct BLIP</a:t>
            </a:r>
            <a:endParaRPr lang="vi-VN" sz="2400" dirty="0">
              <a:solidFill>
                <a:schemeClr val="tx1"/>
              </a:solidFill>
            </a:endParaRPr>
          </a:p>
        </p:txBody>
      </p:sp>
      <p:sp>
        <p:nvSpPr>
          <p:cNvPr id="2" name="TextBox 1"/>
          <p:cNvSpPr txBox="1"/>
          <p:nvPr/>
        </p:nvSpPr>
        <p:spPr>
          <a:xfrm>
            <a:off x="248816" y="1804334"/>
            <a:ext cx="4258961" cy="2462213"/>
          </a:xfrm>
          <a:prstGeom prst="rect">
            <a:avLst/>
          </a:prstGeom>
          <a:noFill/>
        </p:spPr>
        <p:txBody>
          <a:bodyPr wrap="square" rtlCol="0">
            <a:spAutoFit/>
          </a:bodyPr>
          <a:lstStyle/>
          <a:p>
            <a:pPr marL="285750" indent="-285750" algn="just">
              <a:buFont typeface="Arial" panose="020B0604020202020204" pitchFamily="34" charset="0"/>
              <a:buChar char="•"/>
            </a:pPr>
            <a:r>
              <a:rPr lang="vi-VN" dirty="0" smtClean="0"/>
              <a:t>Để </a:t>
            </a:r>
            <a:r>
              <a:rPr lang="vi-VN" dirty="0"/>
              <a:t>giải quyết vấn đề thì InstructBLIP cho phép prompt cũng được đưa vào Q-Former để trích xuất thông tin ảnh. Điều này giúp cho thông tin LLM nhận được “chất lượng” hơn, qua đó khiến cho câu trả lời nhắm đúng vào nhu cầu của người dùng.</a:t>
            </a:r>
            <a:endParaRPr lang="en-US" dirty="0"/>
          </a:p>
          <a:p>
            <a:pPr marL="285750" indent="-285750" algn="just">
              <a:buFont typeface="Arial" panose="020B0604020202020204" pitchFamily="34" charset="0"/>
              <a:buChar char="•"/>
            </a:pPr>
            <a:r>
              <a:rPr lang="en-US" dirty="0" err="1" smtClean="0"/>
              <a:t>Ví</a:t>
            </a:r>
            <a:r>
              <a:rPr lang="en-US" dirty="0" smtClean="0"/>
              <a:t> dụ </a:t>
            </a:r>
            <a:r>
              <a:rPr lang="en-US" dirty="0" err="1" smtClean="0"/>
              <a:t>câu</a:t>
            </a:r>
            <a:r>
              <a:rPr lang="en-US" dirty="0" smtClean="0"/>
              <a:t> instruction giúp việc </a:t>
            </a:r>
            <a:r>
              <a:rPr lang="en-US" dirty="0" err="1" smtClean="0"/>
              <a:t>trích</a:t>
            </a:r>
            <a:r>
              <a:rPr lang="en-US" dirty="0" smtClean="0"/>
              <a:t> </a:t>
            </a:r>
            <a:r>
              <a:rPr lang="en-US" dirty="0" err="1" smtClean="0"/>
              <a:t>xuất</a:t>
            </a:r>
            <a:r>
              <a:rPr lang="en-US" dirty="0" smtClean="0"/>
              <a:t> vector embedding </a:t>
            </a:r>
            <a:r>
              <a:rPr lang="en-US" dirty="0" err="1" smtClean="0"/>
              <a:t>tốt</a:t>
            </a:r>
            <a:r>
              <a:rPr lang="en-US" dirty="0" smtClean="0"/>
              <a:t> </a:t>
            </a:r>
            <a:r>
              <a:rPr lang="en-US" dirty="0" err="1" smtClean="0"/>
              <a:t>hơn</a:t>
            </a:r>
            <a:r>
              <a:rPr lang="en-US" dirty="0" smtClean="0"/>
              <a:t>:</a:t>
            </a:r>
          </a:p>
          <a:p>
            <a:pPr lvl="1" algn="just"/>
            <a:r>
              <a:rPr lang="en-US" dirty="0" smtClean="0"/>
              <a:t>	- “</a:t>
            </a:r>
            <a:r>
              <a:rPr lang="vi-VN" dirty="0" smtClean="0"/>
              <a:t>Trích </a:t>
            </a:r>
            <a:r>
              <a:rPr lang="vi-VN" dirty="0"/>
              <a:t>xuất các thuộc tính ngữ nghĩa và sở thích người dùng được ngụ ý bởi biểu diễn hành vi của sản phẩm </a:t>
            </a:r>
            <a:r>
              <a:rPr lang="vi-VN" dirty="0" smtClean="0"/>
              <a:t>này</a:t>
            </a:r>
            <a:r>
              <a:rPr lang="en-US" dirty="0" smtClean="0"/>
              <a:t> </a:t>
            </a:r>
            <a:r>
              <a:rPr lang="en-US" dirty="0" err="1" smtClean="0"/>
              <a:t>cho</a:t>
            </a:r>
            <a:r>
              <a:rPr lang="en-US" dirty="0" smtClean="0"/>
              <a:t> </a:t>
            </a:r>
            <a:r>
              <a:rPr lang="en-US" dirty="0" err="1" smtClean="0"/>
              <a:t>tác</a:t>
            </a:r>
            <a:r>
              <a:rPr lang="en-US" dirty="0" smtClean="0"/>
              <a:t> vụ </a:t>
            </a:r>
            <a:r>
              <a:rPr lang="en-US" dirty="0" err="1" smtClean="0"/>
              <a:t>gợi</a:t>
            </a:r>
            <a:r>
              <a:rPr lang="en-US" dirty="0" smtClean="0"/>
              <a:t> ý”</a:t>
            </a:r>
            <a:endParaRPr lang="en-US" dirty="0"/>
          </a:p>
        </p:txBody>
      </p:sp>
      <p:sp>
        <p:nvSpPr>
          <p:cNvPr id="5" name="Rectangle 4"/>
          <p:cNvSpPr/>
          <p:nvPr/>
        </p:nvSpPr>
        <p:spPr>
          <a:xfrm>
            <a:off x="5856530" y="4193415"/>
            <a:ext cx="2055371" cy="307777"/>
          </a:xfrm>
          <a:prstGeom prst="rect">
            <a:avLst/>
          </a:prstGeom>
        </p:spPr>
        <p:txBody>
          <a:bodyPr wrap="none">
            <a:spAutoFit/>
          </a:bodyPr>
          <a:lstStyle/>
          <a:p>
            <a:r>
              <a:rPr lang="en-US" dirty="0" smtClean="0"/>
              <a:t>Hình:</a:t>
            </a:r>
            <a:r>
              <a:rPr lang="vi-VN" dirty="0" smtClean="0"/>
              <a:t>Codebase hiện tại</a:t>
            </a:r>
            <a:endParaRPr lang="en-US" dirty="0"/>
          </a:p>
        </p:txBody>
      </p:sp>
      <p:pic>
        <p:nvPicPr>
          <p:cNvPr id="3" name="Picture 2"/>
          <p:cNvPicPr>
            <a:picLocks noChangeAspect="1"/>
          </p:cNvPicPr>
          <p:nvPr/>
        </p:nvPicPr>
        <p:blipFill>
          <a:blip r:embed="rId3"/>
          <a:stretch>
            <a:fillRect/>
          </a:stretch>
        </p:blipFill>
        <p:spPr>
          <a:xfrm>
            <a:off x="4783666" y="1856170"/>
            <a:ext cx="4272110" cy="1982105"/>
          </a:xfrm>
          <a:prstGeom prst="rect">
            <a:avLst/>
          </a:prstGeom>
        </p:spPr>
      </p:pic>
    </p:spTree>
    <p:extLst>
      <p:ext uri="{BB962C8B-B14F-4D97-AF65-F5344CB8AC3E}">
        <p14:creationId xmlns:p14="http://schemas.microsoft.com/office/powerpoint/2010/main" val="1165537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62" name="Google Shape;62;p8"/>
          <p:cNvSpPr txBox="1"/>
          <p:nvPr/>
        </p:nvSpPr>
        <p:spPr>
          <a:xfrm>
            <a:off x="8423192" y="4521285"/>
            <a:ext cx="750900" cy="2196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5" name="TextBox 4"/>
          <p:cNvSpPr txBox="1"/>
          <p:nvPr/>
        </p:nvSpPr>
        <p:spPr>
          <a:xfrm>
            <a:off x="1502815" y="1485494"/>
            <a:ext cx="6485383" cy="1938992"/>
          </a:xfrm>
          <a:prstGeom prst="rect">
            <a:avLst/>
          </a:prstGeom>
          <a:noFill/>
        </p:spPr>
        <p:txBody>
          <a:bodyPr wrap="square" rtlCol="0">
            <a:spAutoFit/>
          </a:bodyPr>
          <a:lstStyle/>
          <a:p>
            <a:pPr algn="ctr"/>
            <a:r>
              <a:rPr lang="en-US" sz="6000" b="1" dirty="0" smtClean="0">
                <a:solidFill>
                  <a:srgbClr val="0070C0"/>
                </a:solidFill>
              </a:rPr>
              <a:t>KẾ HOẠCH </a:t>
            </a:r>
            <a:endParaRPr lang="vi-VN" sz="6000" b="1" dirty="0">
              <a:solidFill>
                <a:srgbClr val="0070C0"/>
              </a:solidFill>
            </a:endParaRPr>
          </a:p>
          <a:p>
            <a:pPr algn="ctr"/>
            <a:r>
              <a:rPr lang="vi-VN" sz="6000" b="1" dirty="0" smtClean="0">
                <a:solidFill>
                  <a:srgbClr val="0070C0"/>
                </a:solidFill>
              </a:rPr>
              <a:t>TIẾP THEO</a:t>
            </a:r>
            <a:endParaRPr lang="en-US" sz="6000" dirty="0">
              <a:solidFill>
                <a:srgbClr val="0070C0"/>
              </a:solidFill>
            </a:endParaRPr>
          </a:p>
        </p:txBody>
      </p:sp>
    </p:spTree>
    <p:extLst>
      <p:ext uri="{BB962C8B-B14F-4D97-AF65-F5344CB8AC3E}">
        <p14:creationId xmlns:p14="http://schemas.microsoft.com/office/powerpoint/2010/main" val="308092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vi-VN" sz="2800" dirty="0" smtClean="0"/>
              <a:t>Công việc đã hoàn thành</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7479674"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smtClean="0">
                <a:solidFill>
                  <a:schemeClr val="tx1">
                    <a:lumMod val="50000"/>
                    <a:lumOff val="50000"/>
                  </a:schemeClr>
                </a:solidFill>
              </a:rPr>
              <a:t>Các công việc</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713134"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400" dirty="0" smtClean="0">
                <a:solidFill>
                  <a:schemeClr val="tx1"/>
                </a:solidFill>
              </a:rPr>
              <a:t>Xây dựng </a:t>
            </a:r>
            <a:r>
              <a:rPr lang="vi-VN" sz="2400" dirty="0" smtClean="0">
                <a:solidFill>
                  <a:schemeClr val="tx1"/>
                </a:solidFill>
              </a:rPr>
              <a:t>mô </a:t>
            </a:r>
            <a:r>
              <a:rPr lang="vi-VN" sz="2400" dirty="0" smtClean="0">
                <a:solidFill>
                  <a:schemeClr val="tx1"/>
                </a:solidFill>
              </a:rPr>
              <a:t>hình CoLLM trên Colab</a:t>
            </a:r>
            <a:endParaRPr lang="vi-VN" sz="2400" dirty="0">
              <a:solidFill>
                <a:schemeClr val="tx1"/>
              </a:solidFill>
            </a:endParaRPr>
          </a:p>
        </p:txBody>
      </p:sp>
      <p:sp>
        <p:nvSpPr>
          <p:cNvPr id="7" name="TextBox 6"/>
          <p:cNvSpPr txBox="1"/>
          <p:nvPr/>
        </p:nvSpPr>
        <p:spPr>
          <a:xfrm>
            <a:off x="1117210" y="1837078"/>
            <a:ext cx="6593780" cy="1815882"/>
          </a:xfrm>
          <a:prstGeom prst="rect">
            <a:avLst/>
          </a:prstGeom>
          <a:noFill/>
        </p:spPr>
        <p:txBody>
          <a:bodyPr wrap="square" rtlCol="0">
            <a:spAutoFit/>
          </a:bodyPr>
          <a:lstStyle/>
          <a:p>
            <a:pPr marL="285750" indent="-285750" algn="just">
              <a:buFont typeface="Arial" panose="020B0604020202020204" pitchFamily="34" charset="0"/>
              <a:buChar char="•"/>
            </a:pPr>
            <a:r>
              <a:rPr lang="en-US" dirty="0" smtClean="0"/>
              <a:t>Đã </a:t>
            </a:r>
            <a:r>
              <a:rPr lang="en-US" dirty="0" err="1" smtClean="0"/>
              <a:t>tài</a:t>
            </a:r>
            <a:r>
              <a:rPr lang="en-US" dirty="0" smtClean="0"/>
              <a:t> </a:t>
            </a:r>
            <a:r>
              <a:rPr lang="en-US" dirty="0" err="1" smtClean="0"/>
              <a:t>liệu</a:t>
            </a:r>
            <a:r>
              <a:rPr lang="en-US" dirty="0" smtClean="0"/>
              <a:t> lại các bài </a:t>
            </a:r>
            <a:r>
              <a:rPr lang="en-US" dirty="0" err="1" smtClean="0"/>
              <a:t>báo</a:t>
            </a:r>
            <a:r>
              <a:rPr lang="en-US" dirty="0" smtClean="0"/>
              <a:t> </a:t>
            </a:r>
            <a:r>
              <a:rPr lang="en-US" dirty="0" err="1" smtClean="0"/>
              <a:t>quan</a:t>
            </a:r>
            <a:r>
              <a:rPr lang="en-US" dirty="0" smtClean="0"/>
              <a:t> </a:t>
            </a:r>
            <a:r>
              <a:rPr lang="en-US" dirty="0" err="1" smtClean="0"/>
              <a:t>trọng</a:t>
            </a:r>
            <a:r>
              <a:rPr lang="en-US" dirty="0" smtClean="0"/>
              <a:t> </a:t>
            </a:r>
            <a:r>
              <a:rPr lang="en-US" dirty="0" err="1" smtClean="0"/>
              <a:t>nổi</a:t>
            </a:r>
            <a:r>
              <a:rPr lang="en-US" dirty="0" smtClean="0"/>
              <a:t> </a:t>
            </a:r>
            <a:r>
              <a:rPr lang="en-US" dirty="0" err="1" smtClean="0"/>
              <a:t>bật</a:t>
            </a:r>
            <a:r>
              <a:rPr lang="en-US" dirty="0" smtClean="0"/>
              <a:t> trong </a:t>
            </a:r>
            <a:r>
              <a:rPr lang="en-US" dirty="0" err="1" smtClean="0"/>
              <a:t>quá</a:t>
            </a:r>
            <a:r>
              <a:rPr lang="en-US" dirty="0" smtClean="0"/>
              <a:t> </a:t>
            </a:r>
            <a:r>
              <a:rPr lang="en-US" dirty="0" err="1" smtClean="0"/>
              <a:t>trình</a:t>
            </a:r>
            <a:r>
              <a:rPr lang="en-US" dirty="0" smtClean="0"/>
              <a:t> </a:t>
            </a:r>
            <a:r>
              <a:rPr lang="en-US" dirty="0" err="1" smtClean="0"/>
              <a:t>nghiên</a:t>
            </a:r>
            <a:r>
              <a:rPr lang="en-US" dirty="0" smtClean="0"/>
              <a:t> </a:t>
            </a:r>
            <a:r>
              <a:rPr lang="en-US" dirty="0" err="1" smtClean="0"/>
              <a:t>cứu</a:t>
            </a:r>
            <a:r>
              <a:rPr lang="en-US" dirty="0" smtClean="0"/>
              <a:t>. </a:t>
            </a:r>
            <a:r>
              <a:rPr lang="en-US" dirty="0" err="1" smtClean="0"/>
              <a:t>Sẽ</a:t>
            </a:r>
            <a:r>
              <a:rPr lang="en-US" dirty="0" smtClean="0"/>
              <a:t> tiếp tục </a:t>
            </a:r>
            <a:r>
              <a:rPr lang="en-US" dirty="0" err="1" smtClean="0"/>
              <a:t>tài</a:t>
            </a:r>
            <a:r>
              <a:rPr lang="en-US" dirty="0" smtClean="0"/>
              <a:t> </a:t>
            </a:r>
            <a:r>
              <a:rPr lang="en-US" dirty="0" err="1" smtClean="0"/>
              <a:t>liệu</a:t>
            </a:r>
            <a:r>
              <a:rPr lang="en-US" dirty="0" smtClean="0"/>
              <a:t> bài </a:t>
            </a:r>
            <a:r>
              <a:rPr lang="en-US" dirty="0" err="1" smtClean="0"/>
              <a:t>InstructBLIP</a:t>
            </a:r>
            <a:r>
              <a:rPr lang="en-US" dirty="0" smtClean="0"/>
              <a:t>, các bài </a:t>
            </a:r>
            <a:r>
              <a:rPr lang="en-US" dirty="0" err="1" smtClean="0"/>
              <a:t>báo</a:t>
            </a:r>
            <a:r>
              <a:rPr lang="en-US" dirty="0" smtClean="0"/>
              <a:t> </a:t>
            </a:r>
            <a:r>
              <a:rPr lang="en-US" dirty="0" err="1" smtClean="0"/>
              <a:t>khảo</a:t>
            </a:r>
            <a:r>
              <a:rPr lang="en-US" dirty="0" smtClean="0"/>
              <a:t> </a:t>
            </a:r>
            <a:r>
              <a:rPr lang="en-US" dirty="0" err="1" smtClean="0"/>
              <a:t>sát</a:t>
            </a:r>
            <a:endParaRPr lang="en-US" dirty="0" smtClean="0"/>
          </a:p>
          <a:p>
            <a:pPr marL="285750" indent="-285750" algn="just">
              <a:buFont typeface="Arial" panose="020B0604020202020204" pitchFamily="34" charset="0"/>
              <a:buChar char="•"/>
            </a:pPr>
            <a:r>
              <a:rPr lang="en-US" dirty="0" err="1" smtClean="0"/>
              <a:t>Hiện</a:t>
            </a:r>
            <a:r>
              <a:rPr lang="en-US" dirty="0" smtClean="0"/>
              <a:t> </a:t>
            </a:r>
            <a:r>
              <a:rPr lang="en-US" dirty="0" err="1" smtClean="0"/>
              <a:t>thực</a:t>
            </a:r>
            <a:r>
              <a:rPr lang="en-US" dirty="0" smtClean="0"/>
              <a:t> lại </a:t>
            </a:r>
            <a:r>
              <a:rPr lang="en-US" dirty="0" err="1" smtClean="0"/>
              <a:t>mô</a:t>
            </a:r>
            <a:r>
              <a:rPr lang="en-US" dirty="0" smtClean="0"/>
              <a:t> hình </a:t>
            </a:r>
            <a:r>
              <a:rPr lang="en-US" dirty="0" err="1" smtClean="0"/>
              <a:t>cùng</a:t>
            </a:r>
            <a:r>
              <a:rPr lang="en-US" dirty="0" smtClean="0"/>
              <a:t> </a:t>
            </a:r>
            <a:r>
              <a:rPr lang="en-US" dirty="0" err="1" smtClean="0"/>
              <a:t>cải</a:t>
            </a:r>
            <a:r>
              <a:rPr lang="en-US" dirty="0" smtClean="0"/>
              <a:t> </a:t>
            </a:r>
            <a:r>
              <a:rPr lang="en-US" dirty="0" err="1" smtClean="0"/>
              <a:t>tiến</a:t>
            </a:r>
            <a:r>
              <a:rPr lang="en-US" dirty="0" smtClean="0"/>
              <a:t> </a:t>
            </a:r>
            <a:r>
              <a:rPr lang="en-US" dirty="0" err="1" smtClean="0"/>
              <a:t>đề</a:t>
            </a:r>
            <a:r>
              <a:rPr lang="en-US" dirty="0" smtClean="0"/>
              <a:t> </a:t>
            </a:r>
            <a:r>
              <a:rPr lang="en-US" dirty="0" err="1" smtClean="0"/>
              <a:t>xuất</a:t>
            </a:r>
            <a:r>
              <a:rPr lang="en-US" dirty="0" smtClean="0"/>
              <a:t>, đang </a:t>
            </a:r>
            <a:r>
              <a:rPr lang="en-US" dirty="0" err="1" smtClean="0"/>
              <a:t>xây</a:t>
            </a:r>
            <a:r>
              <a:rPr lang="en-US" dirty="0" smtClean="0"/>
              <a:t> </a:t>
            </a:r>
            <a:r>
              <a:rPr lang="en-US" dirty="0" err="1" smtClean="0"/>
              <a:t>dựng</a:t>
            </a:r>
            <a:r>
              <a:rPr lang="en-US" dirty="0" smtClean="0"/>
              <a:t> </a:t>
            </a:r>
            <a:r>
              <a:rPr lang="en-US" dirty="0" err="1" smtClean="0"/>
              <a:t>phần</a:t>
            </a:r>
            <a:r>
              <a:rPr lang="en-US" dirty="0" smtClean="0"/>
              <a:t> tiền </a:t>
            </a:r>
            <a:r>
              <a:rPr lang="en-US" dirty="0" err="1" smtClean="0"/>
              <a:t>xử</a:t>
            </a:r>
            <a:r>
              <a:rPr lang="en-US" dirty="0" smtClean="0"/>
              <a:t> </a:t>
            </a:r>
            <a:r>
              <a:rPr lang="en-US" dirty="0" err="1" smtClean="0"/>
              <a:t>lí</a:t>
            </a:r>
            <a:r>
              <a:rPr lang="en-US" dirty="0" smtClean="0"/>
              <a:t> </a:t>
            </a:r>
            <a:r>
              <a:rPr lang="en-US" dirty="0" err="1" smtClean="0"/>
              <a:t>dữ</a:t>
            </a:r>
            <a:r>
              <a:rPr lang="en-US" dirty="0" smtClean="0"/>
              <a:t> </a:t>
            </a:r>
            <a:r>
              <a:rPr lang="en-US" dirty="0" err="1" smtClean="0"/>
              <a:t>liệu</a:t>
            </a:r>
            <a:r>
              <a:rPr lang="en-US" dirty="0" smtClean="0"/>
              <a:t>. Cố </a:t>
            </a:r>
            <a:r>
              <a:rPr lang="en-US" dirty="0" err="1" smtClean="0"/>
              <a:t>gắng</a:t>
            </a:r>
            <a:r>
              <a:rPr lang="en-US" dirty="0" smtClean="0"/>
              <a:t> </a:t>
            </a:r>
            <a:r>
              <a:rPr lang="en-US" dirty="0" err="1" smtClean="0"/>
              <a:t>hoàn</a:t>
            </a:r>
            <a:r>
              <a:rPr lang="en-US" dirty="0" smtClean="0"/>
              <a:t> </a:t>
            </a:r>
            <a:r>
              <a:rPr lang="en-US" dirty="0" err="1" smtClean="0"/>
              <a:t>thành</a:t>
            </a:r>
            <a:r>
              <a:rPr lang="en-US" dirty="0" smtClean="0"/>
              <a:t> cơ </a:t>
            </a:r>
            <a:r>
              <a:rPr lang="en-US" dirty="0" err="1" smtClean="0"/>
              <a:t>bản</a:t>
            </a:r>
            <a:r>
              <a:rPr lang="en-US" dirty="0" smtClean="0"/>
              <a:t> </a:t>
            </a:r>
            <a:r>
              <a:rPr lang="en-US" dirty="0" err="1" smtClean="0"/>
              <a:t>phần</a:t>
            </a:r>
            <a:r>
              <a:rPr lang="en-US" dirty="0" smtClean="0"/>
              <a:t> pipeline trong 2 tuần </a:t>
            </a:r>
            <a:r>
              <a:rPr lang="en-US" dirty="0" err="1" smtClean="0"/>
              <a:t>kế</a:t>
            </a:r>
            <a:r>
              <a:rPr lang="en-US" dirty="0" smtClean="0"/>
              <a:t> tiếp </a:t>
            </a:r>
            <a:r>
              <a:rPr lang="en-US" dirty="0" err="1" smtClean="0"/>
              <a:t>để</a:t>
            </a:r>
            <a:r>
              <a:rPr lang="en-US" dirty="0" smtClean="0"/>
              <a:t> </a:t>
            </a:r>
            <a:r>
              <a:rPr lang="en-US" dirty="0" err="1" smtClean="0"/>
              <a:t>bắt</a:t>
            </a:r>
            <a:r>
              <a:rPr lang="en-US" dirty="0" smtClean="0"/>
              <a:t> đầu </a:t>
            </a:r>
            <a:r>
              <a:rPr lang="en-US" dirty="0" err="1" smtClean="0"/>
              <a:t>huấn</a:t>
            </a:r>
            <a:r>
              <a:rPr lang="en-US" dirty="0" smtClean="0"/>
              <a:t> </a:t>
            </a:r>
            <a:r>
              <a:rPr lang="en-US" dirty="0" err="1" smtClean="0"/>
              <a:t>luyện</a:t>
            </a:r>
            <a:r>
              <a:rPr lang="en-US" dirty="0" smtClean="0"/>
              <a:t> và đánh giá.</a:t>
            </a:r>
            <a:endParaRPr lang="en-US" dirty="0" smtClean="0"/>
          </a:p>
          <a:p>
            <a:pPr marL="285750" indent="-285750" algn="just">
              <a:buFont typeface="Arial" panose="020B0604020202020204" pitchFamily="34" charset="0"/>
              <a:buChar char="•"/>
            </a:pPr>
            <a:endParaRPr lang="en-US" dirty="0" smtClean="0"/>
          </a:p>
          <a:p>
            <a:pPr algn="just"/>
            <a:endParaRPr lang="en-US" dirty="0" smtClean="0"/>
          </a:p>
          <a:p>
            <a:pPr algn="just"/>
            <a:endParaRPr lang="en-US" dirty="0"/>
          </a:p>
        </p:txBody>
      </p:sp>
    </p:spTree>
    <p:extLst>
      <p:ext uri="{BB962C8B-B14F-4D97-AF65-F5344CB8AC3E}">
        <p14:creationId xmlns:p14="http://schemas.microsoft.com/office/powerpoint/2010/main" val="1207780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964</TotalTime>
  <Words>4235</Words>
  <Application>Microsoft Office PowerPoint</Application>
  <PresentationFormat>On-screen Show (16:9)</PresentationFormat>
  <Paragraphs>221</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CĂN CHỈNH VÀ TÍCH HỢP THÔNG TIN CỘNG TÁC NHẰM NÂNG CAO HIỆU QUẢ CHO HỆ THỐNG TƯ VẤN DỰA TRÊN MÔ HÌNH NGÔN NGỮ LỚN</vt:lpstr>
      <vt:lpstr>Nội dung</vt:lpstr>
      <vt:lpstr>Tổng quan nghiên cứu</vt:lpstr>
      <vt:lpstr>Tổng quan nghiên cứu</vt:lpstr>
      <vt:lpstr>Tổng quan nghiên cứu</vt:lpstr>
      <vt:lpstr>Tổng quan nghiên cứu</vt:lpstr>
      <vt:lpstr>Tổng quan nghiên cứu</vt:lpstr>
      <vt:lpstr>Tổng quan nghiên cứu</vt:lpstr>
      <vt:lpstr>PowerPoint Presentation</vt:lpstr>
      <vt:lpstr>Mô hình Q-Former trong ILM</vt:lpstr>
      <vt:lpstr>Mô hình Q-Former trong ILM</vt:lpstr>
      <vt:lpstr>Mô hình Q-Former trong ILM</vt:lpstr>
      <vt:lpstr>PowerPoint Presentation</vt:lpstr>
      <vt:lpstr>INSTRUCT BLIP</vt:lpstr>
      <vt:lpstr>INSTRUCT BLIP</vt:lpstr>
      <vt:lpstr>PowerPoint Presentation</vt:lpstr>
      <vt:lpstr>Công việc đã hoàn thành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GIỚI THIỆU Ý TƯỞNG CHẤM ĐIỂM BÀI THI LẬP TRÌNH</dc:title>
  <cp:lastModifiedBy>Dell</cp:lastModifiedBy>
  <cp:revision>57</cp:revision>
  <dcterms:modified xsi:type="dcterms:W3CDTF">2025-12-16T15:27:17Z</dcterms:modified>
</cp:coreProperties>
</file>