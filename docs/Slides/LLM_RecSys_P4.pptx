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9"/>
  </p:notesMasterIdLst>
  <p:sldIdLst>
    <p:sldId id="256" r:id="rId2"/>
    <p:sldId id="257" r:id="rId3"/>
    <p:sldId id="268" r:id="rId4"/>
    <p:sldId id="263" r:id="rId5"/>
    <p:sldId id="280" r:id="rId6"/>
    <p:sldId id="282" r:id="rId7"/>
    <p:sldId id="283" r:id="rId8"/>
    <p:sldId id="284" r:id="rId9"/>
    <p:sldId id="269" r:id="rId10"/>
    <p:sldId id="273" r:id="rId11"/>
    <p:sldId id="274" r:id="rId12"/>
    <p:sldId id="275" r:id="rId13"/>
    <p:sldId id="276" r:id="rId14"/>
    <p:sldId id="285" r:id="rId15"/>
    <p:sldId id="278" r:id="rId16"/>
    <p:sldId id="286" r:id="rId17"/>
    <p:sldId id="287" r:id="rId18"/>
  </p:sldIdLst>
  <p:sldSz cx="9144000" cy="5143500" type="screen16x9"/>
  <p:notesSz cx="9144000" cy="51435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1" autoAdjust="0"/>
    <p:restoredTop sz="94108" autoAdjust="0"/>
  </p:normalViewPr>
  <p:slideViewPr>
    <p:cSldViewPr snapToGrid="0">
      <p:cViewPr varScale="1">
        <p:scale>
          <a:sx n="253" d="100"/>
          <a:sy n="253" d="100"/>
        </p:scale>
        <p:origin x="605" y="168"/>
      </p:cViewPr>
      <p:guideLst>
        <p:guide orient="horz" pos="2880"/>
        <p:guide pos="2160"/>
      </p:guideLst>
    </p:cSldViewPr>
  </p:slideViewPr>
  <p:outlineViewPr>
    <p:cViewPr>
      <p:scale>
        <a:sx n="33" d="100"/>
        <a:sy n="33" d="100"/>
      </p:scale>
      <p:origin x="0" y="-1538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2571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2571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2474913"/>
            <a:ext cx="7315200" cy="20256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886325"/>
            <a:ext cx="3962400" cy="2571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4886325"/>
            <a:ext cx="3962400" cy="2571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1: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5564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2620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2986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9738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0848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8132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739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803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5411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253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9743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8189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9175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5424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8565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40"/>
        <p:cNvGrpSpPr/>
        <p:nvPr/>
      </p:nvGrpSpPr>
      <p:grpSpPr>
        <a:xfrm>
          <a:off x="0" y="0"/>
          <a:ext cx="0" cy="0"/>
          <a:chOff x="0" y="0"/>
          <a:chExt cx="0" cy="0"/>
        </a:xfrm>
      </p:grpSpPr>
      <p:sp>
        <p:nvSpPr>
          <p:cNvPr id="41" name="Google Shape;41;p6"/>
          <p:cNvSpPr/>
          <p:nvPr/>
        </p:nvSpPr>
        <p:spPr>
          <a:xfrm>
            <a:off x="530543" y="635698"/>
            <a:ext cx="3465195" cy="3465195"/>
          </a:xfrm>
          <a:custGeom>
            <a:avLst/>
            <a:gdLst/>
            <a:ahLst/>
            <a:cxnLst/>
            <a:rect l="l" t="t" r="r" b="b"/>
            <a:pathLst>
              <a:path w="3465195" h="3465195" extrusionOk="0">
                <a:moveTo>
                  <a:pt x="1732481" y="0"/>
                </a:moveTo>
                <a:lnTo>
                  <a:pt x="1683988" y="665"/>
                </a:lnTo>
                <a:lnTo>
                  <a:pt x="1635824" y="2650"/>
                </a:lnTo>
                <a:lnTo>
                  <a:pt x="1588008" y="5938"/>
                </a:lnTo>
                <a:lnTo>
                  <a:pt x="1540555" y="10510"/>
                </a:lnTo>
                <a:lnTo>
                  <a:pt x="1493485" y="16350"/>
                </a:lnTo>
                <a:lnTo>
                  <a:pt x="1446813" y="23439"/>
                </a:lnTo>
                <a:lnTo>
                  <a:pt x="1400558" y="31762"/>
                </a:lnTo>
                <a:lnTo>
                  <a:pt x="1354737" y="41300"/>
                </a:lnTo>
                <a:lnTo>
                  <a:pt x="1309368" y="52036"/>
                </a:lnTo>
                <a:lnTo>
                  <a:pt x="1264466" y="63952"/>
                </a:lnTo>
                <a:lnTo>
                  <a:pt x="1220051" y="77032"/>
                </a:lnTo>
                <a:lnTo>
                  <a:pt x="1176139" y="91258"/>
                </a:lnTo>
                <a:lnTo>
                  <a:pt x="1132748" y="106612"/>
                </a:lnTo>
                <a:lnTo>
                  <a:pt x="1089895" y="123078"/>
                </a:lnTo>
                <a:lnTo>
                  <a:pt x="1047597" y="140637"/>
                </a:lnTo>
                <a:lnTo>
                  <a:pt x="1005872" y="159273"/>
                </a:lnTo>
                <a:lnTo>
                  <a:pt x="964737" y="178968"/>
                </a:lnTo>
                <a:lnTo>
                  <a:pt x="924210" y="199704"/>
                </a:lnTo>
                <a:lnTo>
                  <a:pt x="884307" y="221465"/>
                </a:lnTo>
                <a:lnTo>
                  <a:pt x="845047" y="244233"/>
                </a:lnTo>
                <a:lnTo>
                  <a:pt x="806447" y="267990"/>
                </a:lnTo>
                <a:lnTo>
                  <a:pt x="768523" y="292720"/>
                </a:lnTo>
                <a:lnTo>
                  <a:pt x="731294" y="318405"/>
                </a:lnTo>
                <a:lnTo>
                  <a:pt x="694776" y="345027"/>
                </a:lnTo>
                <a:lnTo>
                  <a:pt x="658988" y="372569"/>
                </a:lnTo>
                <a:lnTo>
                  <a:pt x="623946" y="401014"/>
                </a:lnTo>
                <a:lnTo>
                  <a:pt x="589668" y="430344"/>
                </a:lnTo>
                <a:lnTo>
                  <a:pt x="556171" y="460542"/>
                </a:lnTo>
                <a:lnTo>
                  <a:pt x="523473" y="491591"/>
                </a:lnTo>
                <a:lnTo>
                  <a:pt x="491591" y="523474"/>
                </a:lnTo>
                <a:lnTo>
                  <a:pt x="460542" y="556172"/>
                </a:lnTo>
                <a:lnTo>
                  <a:pt x="430343" y="589669"/>
                </a:lnTo>
                <a:lnTo>
                  <a:pt x="401013" y="623947"/>
                </a:lnTo>
                <a:lnTo>
                  <a:pt x="372568" y="658989"/>
                </a:lnTo>
                <a:lnTo>
                  <a:pt x="345026" y="694777"/>
                </a:lnTo>
                <a:lnTo>
                  <a:pt x="318404" y="731295"/>
                </a:lnTo>
                <a:lnTo>
                  <a:pt x="292720" y="768524"/>
                </a:lnTo>
                <a:lnTo>
                  <a:pt x="267990" y="806447"/>
                </a:lnTo>
                <a:lnTo>
                  <a:pt x="244233" y="845048"/>
                </a:lnTo>
                <a:lnTo>
                  <a:pt x="221465" y="884308"/>
                </a:lnTo>
                <a:lnTo>
                  <a:pt x="199704" y="924211"/>
                </a:lnTo>
                <a:lnTo>
                  <a:pt x="178967" y="964738"/>
                </a:lnTo>
                <a:lnTo>
                  <a:pt x="159273" y="1005873"/>
                </a:lnTo>
                <a:lnTo>
                  <a:pt x="140637" y="1047598"/>
                </a:lnTo>
                <a:lnTo>
                  <a:pt x="123078" y="1089896"/>
                </a:lnTo>
                <a:lnTo>
                  <a:pt x="106612" y="1132749"/>
                </a:lnTo>
                <a:lnTo>
                  <a:pt x="91258" y="1176140"/>
                </a:lnTo>
                <a:lnTo>
                  <a:pt x="77032" y="1220052"/>
                </a:lnTo>
                <a:lnTo>
                  <a:pt x="63952" y="1264467"/>
                </a:lnTo>
                <a:lnTo>
                  <a:pt x="52036" y="1309369"/>
                </a:lnTo>
                <a:lnTo>
                  <a:pt x="41300" y="1354739"/>
                </a:lnTo>
                <a:lnTo>
                  <a:pt x="31762" y="1400560"/>
                </a:lnTo>
                <a:lnTo>
                  <a:pt x="23439" y="1446815"/>
                </a:lnTo>
                <a:lnTo>
                  <a:pt x="16350" y="1493486"/>
                </a:lnTo>
                <a:lnTo>
                  <a:pt x="10510" y="1540557"/>
                </a:lnTo>
                <a:lnTo>
                  <a:pt x="5938" y="1588009"/>
                </a:lnTo>
                <a:lnTo>
                  <a:pt x="2650" y="1635826"/>
                </a:lnTo>
                <a:lnTo>
                  <a:pt x="665" y="1683989"/>
                </a:lnTo>
                <a:lnTo>
                  <a:pt x="0" y="1732483"/>
                </a:lnTo>
                <a:lnTo>
                  <a:pt x="665" y="1780975"/>
                </a:lnTo>
                <a:lnTo>
                  <a:pt x="2650" y="1829139"/>
                </a:lnTo>
                <a:lnTo>
                  <a:pt x="5938" y="1876955"/>
                </a:lnTo>
                <a:lnTo>
                  <a:pt x="10510" y="1924406"/>
                </a:lnTo>
                <a:lnTo>
                  <a:pt x="16350" y="1971476"/>
                </a:lnTo>
                <a:lnTo>
                  <a:pt x="23439" y="2018147"/>
                </a:lnTo>
                <a:lnTo>
                  <a:pt x="31762" y="2064402"/>
                </a:lnTo>
                <a:lnTo>
                  <a:pt x="41300" y="2110222"/>
                </a:lnTo>
                <a:lnTo>
                  <a:pt x="52036" y="2155592"/>
                </a:lnTo>
                <a:lnTo>
                  <a:pt x="63952" y="2200493"/>
                </a:lnTo>
                <a:lnTo>
                  <a:pt x="77032" y="2244908"/>
                </a:lnTo>
                <a:lnTo>
                  <a:pt x="91258" y="2288819"/>
                </a:lnTo>
                <a:lnTo>
                  <a:pt x="106612" y="2332210"/>
                </a:lnTo>
                <a:lnTo>
                  <a:pt x="123078" y="2375063"/>
                </a:lnTo>
                <a:lnTo>
                  <a:pt x="140637" y="2417360"/>
                </a:lnTo>
                <a:lnTo>
                  <a:pt x="159273" y="2459085"/>
                </a:lnTo>
                <a:lnTo>
                  <a:pt x="178967" y="2500220"/>
                </a:lnTo>
                <a:lnTo>
                  <a:pt x="199704" y="2540747"/>
                </a:lnTo>
                <a:lnTo>
                  <a:pt x="221465" y="2580649"/>
                </a:lnTo>
                <a:lnTo>
                  <a:pt x="244233" y="2619909"/>
                </a:lnTo>
                <a:lnTo>
                  <a:pt x="267990" y="2658509"/>
                </a:lnTo>
                <a:lnTo>
                  <a:pt x="292720" y="2696432"/>
                </a:lnTo>
                <a:lnTo>
                  <a:pt x="318404" y="2733661"/>
                </a:lnTo>
                <a:lnTo>
                  <a:pt x="345026" y="2770179"/>
                </a:lnTo>
                <a:lnTo>
                  <a:pt x="372568" y="2805967"/>
                </a:lnTo>
                <a:lnTo>
                  <a:pt x="401013" y="2841008"/>
                </a:lnTo>
                <a:lnTo>
                  <a:pt x="430343" y="2875286"/>
                </a:lnTo>
                <a:lnTo>
                  <a:pt x="460542" y="2908783"/>
                </a:lnTo>
                <a:lnTo>
                  <a:pt x="491591" y="2941481"/>
                </a:lnTo>
                <a:lnTo>
                  <a:pt x="523473" y="2973363"/>
                </a:lnTo>
                <a:lnTo>
                  <a:pt x="556171" y="3004412"/>
                </a:lnTo>
                <a:lnTo>
                  <a:pt x="589668" y="3034611"/>
                </a:lnTo>
                <a:lnTo>
                  <a:pt x="623946" y="3063941"/>
                </a:lnTo>
                <a:lnTo>
                  <a:pt x="658988" y="3092386"/>
                </a:lnTo>
                <a:lnTo>
                  <a:pt x="694776" y="3119928"/>
                </a:lnTo>
                <a:lnTo>
                  <a:pt x="731294" y="3146550"/>
                </a:lnTo>
                <a:lnTo>
                  <a:pt x="768523" y="3172234"/>
                </a:lnTo>
                <a:lnTo>
                  <a:pt x="806447" y="3196964"/>
                </a:lnTo>
                <a:lnTo>
                  <a:pt x="845047" y="3220721"/>
                </a:lnTo>
                <a:lnTo>
                  <a:pt x="884307" y="3243489"/>
                </a:lnTo>
                <a:lnTo>
                  <a:pt x="924210" y="3265250"/>
                </a:lnTo>
                <a:lnTo>
                  <a:pt x="964737" y="3285986"/>
                </a:lnTo>
                <a:lnTo>
                  <a:pt x="1005872" y="3305681"/>
                </a:lnTo>
                <a:lnTo>
                  <a:pt x="1047597" y="3324317"/>
                </a:lnTo>
                <a:lnTo>
                  <a:pt x="1089895" y="3341876"/>
                </a:lnTo>
                <a:lnTo>
                  <a:pt x="1132748" y="3358342"/>
                </a:lnTo>
                <a:lnTo>
                  <a:pt x="1176139" y="3373696"/>
                </a:lnTo>
                <a:lnTo>
                  <a:pt x="1220051" y="3387922"/>
                </a:lnTo>
                <a:lnTo>
                  <a:pt x="1264466" y="3401002"/>
                </a:lnTo>
                <a:lnTo>
                  <a:pt x="1309368" y="3412918"/>
                </a:lnTo>
                <a:lnTo>
                  <a:pt x="1354737" y="3423654"/>
                </a:lnTo>
                <a:lnTo>
                  <a:pt x="1400558" y="3433192"/>
                </a:lnTo>
                <a:lnTo>
                  <a:pt x="1446813" y="3441515"/>
                </a:lnTo>
                <a:lnTo>
                  <a:pt x="1493485" y="3448604"/>
                </a:lnTo>
                <a:lnTo>
                  <a:pt x="1540555" y="3454444"/>
                </a:lnTo>
                <a:lnTo>
                  <a:pt x="1588008" y="3459016"/>
                </a:lnTo>
                <a:lnTo>
                  <a:pt x="1635824" y="3462304"/>
                </a:lnTo>
                <a:lnTo>
                  <a:pt x="1683988" y="3464289"/>
                </a:lnTo>
                <a:lnTo>
                  <a:pt x="1732481" y="3464954"/>
                </a:lnTo>
                <a:lnTo>
                  <a:pt x="1780974" y="3464289"/>
                </a:lnTo>
                <a:lnTo>
                  <a:pt x="1829137" y="3462304"/>
                </a:lnTo>
                <a:lnTo>
                  <a:pt x="1876953" y="3459016"/>
                </a:lnTo>
                <a:lnTo>
                  <a:pt x="1924405" y="3454444"/>
                </a:lnTo>
                <a:lnTo>
                  <a:pt x="1971475" y="3448604"/>
                </a:lnTo>
                <a:lnTo>
                  <a:pt x="2018146" y="3441515"/>
                </a:lnTo>
                <a:lnTo>
                  <a:pt x="2064400" y="3433192"/>
                </a:lnTo>
                <a:lnTo>
                  <a:pt x="2110221" y="3423654"/>
                </a:lnTo>
                <a:lnTo>
                  <a:pt x="2155590" y="3412918"/>
                </a:lnTo>
                <a:lnTo>
                  <a:pt x="2200491" y="3401002"/>
                </a:lnTo>
                <a:lnTo>
                  <a:pt x="2244906" y="3387922"/>
                </a:lnTo>
                <a:lnTo>
                  <a:pt x="2288818" y="3373696"/>
                </a:lnTo>
                <a:lnTo>
                  <a:pt x="2332209" y="3358342"/>
                </a:lnTo>
                <a:lnTo>
                  <a:pt x="2375061" y="3341876"/>
                </a:lnTo>
                <a:lnTo>
                  <a:pt x="2417359" y="3324317"/>
                </a:lnTo>
                <a:lnTo>
                  <a:pt x="2459084" y="3305681"/>
                </a:lnTo>
                <a:lnTo>
                  <a:pt x="2500218" y="3285986"/>
                </a:lnTo>
                <a:lnTo>
                  <a:pt x="2540745" y="3265250"/>
                </a:lnTo>
                <a:lnTo>
                  <a:pt x="2580647" y="3243489"/>
                </a:lnTo>
                <a:lnTo>
                  <a:pt x="2619907" y="3220721"/>
                </a:lnTo>
                <a:lnTo>
                  <a:pt x="2658507" y="3196964"/>
                </a:lnTo>
                <a:lnTo>
                  <a:pt x="2696431" y="3172234"/>
                </a:lnTo>
                <a:lnTo>
                  <a:pt x="2733660" y="3146550"/>
                </a:lnTo>
                <a:lnTo>
                  <a:pt x="2770177" y="3119928"/>
                </a:lnTo>
                <a:lnTo>
                  <a:pt x="2805965" y="3092386"/>
                </a:lnTo>
                <a:lnTo>
                  <a:pt x="2841007" y="3063941"/>
                </a:lnTo>
                <a:lnTo>
                  <a:pt x="2875284" y="3034611"/>
                </a:lnTo>
                <a:lnTo>
                  <a:pt x="2908781" y="3004412"/>
                </a:lnTo>
                <a:lnTo>
                  <a:pt x="2941479" y="2973363"/>
                </a:lnTo>
                <a:lnTo>
                  <a:pt x="2973361" y="2941481"/>
                </a:lnTo>
                <a:lnTo>
                  <a:pt x="3004410" y="2908783"/>
                </a:lnTo>
                <a:lnTo>
                  <a:pt x="3034609" y="2875286"/>
                </a:lnTo>
                <a:lnTo>
                  <a:pt x="3063939" y="2841008"/>
                </a:lnTo>
                <a:lnTo>
                  <a:pt x="3092384" y="2805967"/>
                </a:lnTo>
                <a:lnTo>
                  <a:pt x="3119926" y="2770179"/>
                </a:lnTo>
                <a:lnTo>
                  <a:pt x="3146548" y="2733661"/>
                </a:lnTo>
                <a:lnTo>
                  <a:pt x="3172232" y="2696432"/>
                </a:lnTo>
                <a:lnTo>
                  <a:pt x="3196962" y="2658509"/>
                </a:lnTo>
                <a:lnTo>
                  <a:pt x="3220719" y="2619909"/>
                </a:lnTo>
                <a:lnTo>
                  <a:pt x="3243487" y="2580649"/>
                </a:lnTo>
                <a:lnTo>
                  <a:pt x="3265248" y="2540747"/>
                </a:lnTo>
                <a:lnTo>
                  <a:pt x="3285984" y="2500220"/>
                </a:lnTo>
                <a:lnTo>
                  <a:pt x="3305679" y="2459085"/>
                </a:lnTo>
                <a:lnTo>
                  <a:pt x="3324315" y="2417360"/>
                </a:lnTo>
                <a:lnTo>
                  <a:pt x="3341874" y="2375063"/>
                </a:lnTo>
                <a:lnTo>
                  <a:pt x="3358339" y="2332210"/>
                </a:lnTo>
                <a:lnTo>
                  <a:pt x="3373694" y="2288819"/>
                </a:lnTo>
                <a:lnTo>
                  <a:pt x="3387919" y="2244908"/>
                </a:lnTo>
                <a:lnTo>
                  <a:pt x="3400999" y="2200493"/>
                </a:lnTo>
                <a:lnTo>
                  <a:pt x="3412916" y="2155592"/>
                </a:lnTo>
                <a:lnTo>
                  <a:pt x="3423652" y="2110222"/>
                </a:lnTo>
                <a:lnTo>
                  <a:pt x="3433190" y="2064402"/>
                </a:lnTo>
                <a:lnTo>
                  <a:pt x="3441512" y="2018147"/>
                </a:lnTo>
                <a:lnTo>
                  <a:pt x="3448602" y="1971476"/>
                </a:lnTo>
                <a:lnTo>
                  <a:pt x="3454442" y="1924406"/>
                </a:lnTo>
                <a:lnTo>
                  <a:pt x="3459014" y="1876955"/>
                </a:lnTo>
                <a:lnTo>
                  <a:pt x="3462301" y="1829139"/>
                </a:lnTo>
                <a:lnTo>
                  <a:pt x="3464286" y="1780975"/>
                </a:lnTo>
                <a:lnTo>
                  <a:pt x="3464952" y="1732483"/>
                </a:lnTo>
                <a:lnTo>
                  <a:pt x="3464286" y="1683989"/>
                </a:lnTo>
                <a:lnTo>
                  <a:pt x="3462301" y="1635826"/>
                </a:lnTo>
                <a:lnTo>
                  <a:pt x="3459014" y="1588009"/>
                </a:lnTo>
                <a:lnTo>
                  <a:pt x="3454442" y="1540557"/>
                </a:lnTo>
                <a:lnTo>
                  <a:pt x="3448602" y="1493486"/>
                </a:lnTo>
                <a:lnTo>
                  <a:pt x="3441512" y="1446815"/>
                </a:lnTo>
                <a:lnTo>
                  <a:pt x="3433190" y="1400560"/>
                </a:lnTo>
                <a:lnTo>
                  <a:pt x="3423652" y="1354739"/>
                </a:lnTo>
                <a:lnTo>
                  <a:pt x="3412916" y="1309369"/>
                </a:lnTo>
                <a:lnTo>
                  <a:pt x="3400999" y="1264467"/>
                </a:lnTo>
                <a:lnTo>
                  <a:pt x="3387919" y="1220052"/>
                </a:lnTo>
                <a:lnTo>
                  <a:pt x="3373694" y="1176140"/>
                </a:lnTo>
                <a:lnTo>
                  <a:pt x="3358339" y="1132749"/>
                </a:lnTo>
                <a:lnTo>
                  <a:pt x="3341874" y="1089896"/>
                </a:lnTo>
                <a:lnTo>
                  <a:pt x="3324315" y="1047598"/>
                </a:lnTo>
                <a:lnTo>
                  <a:pt x="3305679" y="1005873"/>
                </a:lnTo>
                <a:lnTo>
                  <a:pt x="3285984" y="964738"/>
                </a:lnTo>
                <a:lnTo>
                  <a:pt x="3265248" y="924211"/>
                </a:lnTo>
                <a:lnTo>
                  <a:pt x="3243487" y="884308"/>
                </a:lnTo>
                <a:lnTo>
                  <a:pt x="3220719" y="845048"/>
                </a:lnTo>
                <a:lnTo>
                  <a:pt x="3196962" y="806447"/>
                </a:lnTo>
                <a:lnTo>
                  <a:pt x="3172232" y="768524"/>
                </a:lnTo>
                <a:lnTo>
                  <a:pt x="3146548" y="731295"/>
                </a:lnTo>
                <a:lnTo>
                  <a:pt x="3119926" y="694777"/>
                </a:lnTo>
                <a:lnTo>
                  <a:pt x="3092384" y="658989"/>
                </a:lnTo>
                <a:lnTo>
                  <a:pt x="3063939" y="623947"/>
                </a:lnTo>
                <a:lnTo>
                  <a:pt x="3034609" y="589669"/>
                </a:lnTo>
                <a:lnTo>
                  <a:pt x="3004410" y="556172"/>
                </a:lnTo>
                <a:lnTo>
                  <a:pt x="2973361" y="523474"/>
                </a:lnTo>
                <a:lnTo>
                  <a:pt x="2941479" y="491591"/>
                </a:lnTo>
                <a:lnTo>
                  <a:pt x="2908781" y="460542"/>
                </a:lnTo>
                <a:lnTo>
                  <a:pt x="2875284" y="430344"/>
                </a:lnTo>
                <a:lnTo>
                  <a:pt x="2841007" y="401014"/>
                </a:lnTo>
                <a:lnTo>
                  <a:pt x="2805965" y="372569"/>
                </a:lnTo>
                <a:lnTo>
                  <a:pt x="2770177" y="345027"/>
                </a:lnTo>
                <a:lnTo>
                  <a:pt x="2733660" y="318405"/>
                </a:lnTo>
                <a:lnTo>
                  <a:pt x="2696431" y="292720"/>
                </a:lnTo>
                <a:lnTo>
                  <a:pt x="2658507" y="267990"/>
                </a:lnTo>
                <a:lnTo>
                  <a:pt x="2619907" y="244233"/>
                </a:lnTo>
                <a:lnTo>
                  <a:pt x="2580647" y="221465"/>
                </a:lnTo>
                <a:lnTo>
                  <a:pt x="2540745" y="199704"/>
                </a:lnTo>
                <a:lnTo>
                  <a:pt x="2500218" y="178968"/>
                </a:lnTo>
                <a:lnTo>
                  <a:pt x="2459084" y="159273"/>
                </a:lnTo>
                <a:lnTo>
                  <a:pt x="2417359" y="140637"/>
                </a:lnTo>
                <a:lnTo>
                  <a:pt x="2375061" y="123078"/>
                </a:lnTo>
                <a:lnTo>
                  <a:pt x="2332209" y="106612"/>
                </a:lnTo>
                <a:lnTo>
                  <a:pt x="2288818" y="91258"/>
                </a:lnTo>
                <a:lnTo>
                  <a:pt x="2244906" y="77032"/>
                </a:lnTo>
                <a:lnTo>
                  <a:pt x="2200491" y="63952"/>
                </a:lnTo>
                <a:lnTo>
                  <a:pt x="2155590" y="52036"/>
                </a:lnTo>
                <a:lnTo>
                  <a:pt x="2110221" y="41300"/>
                </a:lnTo>
                <a:lnTo>
                  <a:pt x="2064400" y="31762"/>
                </a:lnTo>
                <a:lnTo>
                  <a:pt x="2018146" y="23439"/>
                </a:lnTo>
                <a:lnTo>
                  <a:pt x="1971475" y="16350"/>
                </a:lnTo>
                <a:lnTo>
                  <a:pt x="1924405" y="10510"/>
                </a:lnTo>
                <a:lnTo>
                  <a:pt x="1876953" y="5938"/>
                </a:lnTo>
                <a:lnTo>
                  <a:pt x="1829137" y="2650"/>
                </a:lnTo>
                <a:lnTo>
                  <a:pt x="1780974" y="665"/>
                </a:lnTo>
                <a:lnTo>
                  <a:pt x="1732481" y="0"/>
                </a:lnTo>
                <a:close/>
              </a:path>
            </a:pathLst>
          </a:custGeom>
          <a:solidFill>
            <a:srgbClr val="C0504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514197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1"/>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a:solidFill>
                  <a:srgbClr val="888888"/>
                </a:solidFill>
                <a:latin typeface="Calibri"/>
                <a:ea typeface="Calibri"/>
                <a:cs typeface="Calibri"/>
                <a:sym typeface="Calibri"/>
              </a:defRPr>
            </a:lvl1pPr>
            <a:lvl2pPr marL="0" marR="0" lvl="1" indent="0" algn="r" rtl="0">
              <a:spcBef>
                <a:spcPts val="0"/>
              </a:spcBef>
              <a:buNone/>
              <a:defRPr sz="1800">
                <a:solidFill>
                  <a:srgbClr val="888888"/>
                </a:solidFill>
                <a:latin typeface="Calibri"/>
                <a:ea typeface="Calibri"/>
                <a:cs typeface="Calibri"/>
                <a:sym typeface="Calibri"/>
              </a:defRPr>
            </a:lvl2pPr>
            <a:lvl3pPr marL="0" marR="0" lvl="2" indent="0" algn="r" rtl="0">
              <a:spcBef>
                <a:spcPts val="0"/>
              </a:spcBef>
              <a:buNone/>
              <a:defRPr sz="1800">
                <a:solidFill>
                  <a:srgbClr val="888888"/>
                </a:solidFill>
                <a:latin typeface="Calibri"/>
                <a:ea typeface="Calibri"/>
                <a:cs typeface="Calibri"/>
                <a:sym typeface="Calibri"/>
              </a:defRPr>
            </a:lvl3pPr>
            <a:lvl4pPr marL="0" marR="0" lvl="3" indent="0" algn="r" rtl="0">
              <a:spcBef>
                <a:spcPts val="0"/>
              </a:spcBef>
              <a:buNone/>
              <a:defRPr sz="1800">
                <a:solidFill>
                  <a:srgbClr val="888888"/>
                </a:solidFill>
                <a:latin typeface="Calibri"/>
                <a:ea typeface="Calibri"/>
                <a:cs typeface="Calibri"/>
                <a:sym typeface="Calibri"/>
              </a:defRPr>
            </a:lvl4pPr>
            <a:lvl5pPr marL="0" marR="0" lvl="4" indent="0" algn="r" rtl="0">
              <a:spcBef>
                <a:spcPts val="0"/>
              </a:spcBef>
              <a:buNone/>
              <a:defRPr sz="1800">
                <a:solidFill>
                  <a:srgbClr val="888888"/>
                </a:solidFill>
                <a:latin typeface="Calibri"/>
                <a:ea typeface="Calibri"/>
                <a:cs typeface="Calibri"/>
                <a:sym typeface="Calibri"/>
              </a:defRPr>
            </a:lvl5pPr>
            <a:lvl6pPr marL="0" marR="0" lvl="5" indent="0" algn="r" rtl="0">
              <a:spcBef>
                <a:spcPts val="0"/>
              </a:spcBef>
              <a:buNone/>
              <a:defRPr sz="1800">
                <a:solidFill>
                  <a:srgbClr val="888888"/>
                </a:solidFill>
                <a:latin typeface="Calibri"/>
                <a:ea typeface="Calibri"/>
                <a:cs typeface="Calibri"/>
                <a:sym typeface="Calibri"/>
              </a:defRPr>
            </a:lvl6pPr>
            <a:lvl7pPr marL="0" marR="0" lvl="6" indent="0" algn="r" rtl="0">
              <a:spcBef>
                <a:spcPts val="0"/>
              </a:spcBef>
              <a:buNone/>
              <a:defRPr sz="1800">
                <a:solidFill>
                  <a:srgbClr val="888888"/>
                </a:solidFill>
                <a:latin typeface="Calibri"/>
                <a:ea typeface="Calibri"/>
                <a:cs typeface="Calibri"/>
                <a:sym typeface="Calibri"/>
              </a:defRPr>
            </a:lvl7pPr>
            <a:lvl8pPr marL="0" marR="0" lvl="7" indent="0" algn="r" rtl="0">
              <a:spcBef>
                <a:spcPts val="0"/>
              </a:spcBef>
              <a:buNone/>
              <a:defRPr sz="1800">
                <a:solidFill>
                  <a:srgbClr val="888888"/>
                </a:solidFill>
                <a:latin typeface="Calibri"/>
                <a:ea typeface="Calibri"/>
                <a:cs typeface="Calibri"/>
                <a:sym typeface="Calibri"/>
              </a:defRPr>
            </a:lvl8pPr>
            <a:lvl9pPr marL="0" marR="0" lvl="8" indent="0" algn="r" rtl="0">
              <a:spcBef>
                <a:spcPts val="0"/>
              </a:spcBef>
              <a:buNone/>
              <a:defRPr sz="18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b="0" u="none"/>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7"/>
          <p:cNvSpPr/>
          <p:nvPr/>
        </p:nvSpPr>
        <p:spPr>
          <a:xfrm>
            <a:off x="0" y="-19050"/>
            <a:ext cx="9144000" cy="5142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1" name="Google Shape;51;p7"/>
          <p:cNvSpPr txBox="1">
            <a:spLocks noGrp="1"/>
          </p:cNvSpPr>
          <p:nvPr>
            <p:ph type="title"/>
          </p:nvPr>
        </p:nvSpPr>
        <p:spPr>
          <a:xfrm>
            <a:off x="446421" y="716800"/>
            <a:ext cx="8145000" cy="1227880"/>
          </a:xfrm>
          <a:prstGeom prst="rect">
            <a:avLst/>
          </a:prstGeom>
          <a:noFill/>
          <a:ln>
            <a:noFill/>
          </a:ln>
        </p:spPr>
        <p:txBody>
          <a:bodyPr spcFirstLastPara="1" wrap="square" lIns="0" tIns="55225" rIns="0" bIns="0" anchor="t" anchorCtr="0">
            <a:spAutoFit/>
          </a:bodyPr>
          <a:lstStyle/>
          <a:p>
            <a:pPr marL="12700" marR="5080" lvl="0" indent="2540" algn="ctr">
              <a:lnSpc>
                <a:spcPct val="99700"/>
              </a:lnSpc>
              <a:spcBef>
                <a:spcPts val="540"/>
              </a:spcBef>
            </a:pPr>
            <a:r>
              <a:rPr lang="vi-VN" sz="2400" b="1" dirty="0">
                <a:solidFill>
                  <a:srgbClr val="FFFFFF"/>
                </a:solidFill>
              </a:rPr>
              <a:t>CĂN CHỈNH VÀ TÍCH HỢP THÔNG TIN CỘNG TÁC NHẰM NÂNG CAO HIỆU QUẢ CHO HỆ THỐNG TƯ VẤN DỰA TRÊN MÔ HÌNH NGÔN NGỮ LỚN</a:t>
            </a:r>
            <a:endParaRPr sz="2400" dirty="0">
              <a:latin typeface="Arial"/>
              <a:ea typeface="Arial"/>
              <a:cs typeface="Arial"/>
              <a:sym typeface="Arial"/>
            </a:endParaRPr>
          </a:p>
        </p:txBody>
      </p:sp>
      <p:pic>
        <p:nvPicPr>
          <p:cNvPr id="52" name="Google Shape;52;p7"/>
          <p:cNvPicPr preferRelativeResize="0"/>
          <p:nvPr/>
        </p:nvPicPr>
        <p:blipFill rotWithShape="1">
          <a:blip r:embed="rId4">
            <a:alphaModFix/>
          </a:blip>
          <a:srcRect/>
          <a:stretch/>
        </p:blipFill>
        <p:spPr>
          <a:xfrm>
            <a:off x="23734" y="3782921"/>
            <a:ext cx="1474120" cy="1474120"/>
          </a:xfrm>
          <a:prstGeom prst="rect">
            <a:avLst/>
          </a:prstGeom>
          <a:noFill/>
          <a:ln>
            <a:noFill/>
          </a:ln>
        </p:spPr>
      </p:pic>
      <p:sp>
        <p:nvSpPr>
          <p:cNvPr id="54" name="Google Shape;54;p7"/>
          <p:cNvSpPr txBox="1"/>
          <p:nvPr/>
        </p:nvSpPr>
        <p:spPr>
          <a:xfrm>
            <a:off x="2693617" y="2073227"/>
            <a:ext cx="7049855" cy="855983"/>
          </a:xfrm>
          <a:prstGeom prst="rect">
            <a:avLst/>
          </a:prstGeom>
          <a:noFill/>
          <a:ln>
            <a:noFill/>
          </a:ln>
        </p:spPr>
        <p:txBody>
          <a:bodyPr spcFirstLastPara="1" wrap="square" lIns="0" tIns="55225" rIns="0" bIns="0" anchor="t" anchorCtr="0">
            <a:spAutoFit/>
          </a:bodyPr>
          <a:lstStyle/>
          <a:p>
            <a:pPr marL="109220" lvl="0" algn="just">
              <a:spcBef>
                <a:spcPts val="434"/>
              </a:spcBef>
            </a:pPr>
            <a:r>
              <a:rPr lang="en-US" sz="1400" b="0" i="0" dirty="0" smtClean="0">
                <a:solidFill>
                  <a:schemeClr val="lt1"/>
                </a:solidFill>
                <a:latin typeface="Arial"/>
                <a:ea typeface="Arial"/>
                <a:cs typeface="Arial"/>
                <a:sym typeface="Arial"/>
              </a:rPr>
              <a:t>		</a:t>
            </a:r>
            <a:r>
              <a:rPr lang="vi-VN" sz="1400" b="0" i="0" dirty="0" smtClean="0">
                <a:solidFill>
                  <a:schemeClr val="lt1"/>
                </a:solidFill>
                <a:latin typeface="Arial"/>
                <a:ea typeface="Arial"/>
                <a:cs typeface="Arial"/>
                <a:sym typeface="Arial"/>
              </a:rPr>
              <a:t>Học </a:t>
            </a:r>
            <a:r>
              <a:rPr lang="vi-VN" sz="1400" b="0" i="0" dirty="0">
                <a:solidFill>
                  <a:schemeClr val="lt1"/>
                </a:solidFill>
                <a:latin typeface="Arial"/>
                <a:ea typeface="Arial"/>
                <a:cs typeface="Arial"/>
                <a:sym typeface="Arial"/>
              </a:rPr>
              <a:t>viên thực hiện: 	</a:t>
            </a:r>
            <a:r>
              <a:rPr lang="vi-VN" dirty="0" smtClean="0">
                <a:solidFill>
                  <a:schemeClr val="lt1"/>
                </a:solidFill>
              </a:rPr>
              <a:t>Bùi </a:t>
            </a:r>
            <a:r>
              <a:rPr lang="vi-VN" dirty="0">
                <a:solidFill>
                  <a:schemeClr val="lt1"/>
                </a:solidFill>
              </a:rPr>
              <a:t>Nguyên Quốc </a:t>
            </a:r>
            <a:r>
              <a:rPr lang="vi-VN" dirty="0" smtClean="0">
                <a:solidFill>
                  <a:schemeClr val="lt1"/>
                </a:solidFill>
              </a:rPr>
              <a:t>Bảo</a:t>
            </a:r>
            <a:endParaRPr lang="en-US" dirty="0" smtClean="0">
              <a:solidFill>
                <a:schemeClr val="lt1"/>
              </a:solidFill>
            </a:endParaRPr>
          </a:p>
          <a:p>
            <a:pPr marL="109220" lvl="0" algn="just">
              <a:spcBef>
                <a:spcPts val="434"/>
              </a:spcBef>
            </a:pPr>
            <a:r>
              <a:rPr lang="en-US" dirty="0">
                <a:solidFill>
                  <a:schemeClr val="lt1"/>
                </a:solidFill>
              </a:rPr>
              <a:t>	</a:t>
            </a:r>
            <a:r>
              <a:rPr lang="en-US" dirty="0" smtClean="0">
                <a:solidFill>
                  <a:schemeClr val="lt1"/>
                </a:solidFill>
              </a:rPr>
              <a:t>	MSHV:		24C12002</a:t>
            </a:r>
          </a:p>
          <a:p>
            <a:pPr marL="109220" lvl="0" algn="just">
              <a:spcBef>
                <a:spcPts val="434"/>
              </a:spcBef>
            </a:pPr>
            <a:r>
              <a:rPr lang="en-US" dirty="0">
                <a:solidFill>
                  <a:schemeClr val="lt1"/>
                </a:solidFill>
              </a:rPr>
              <a:t>	</a:t>
            </a:r>
            <a:r>
              <a:rPr lang="en-US" dirty="0" smtClean="0">
                <a:solidFill>
                  <a:schemeClr val="lt1"/>
                </a:solidFill>
              </a:rPr>
              <a:t>	</a:t>
            </a:r>
            <a:r>
              <a:rPr lang="en-US" dirty="0" err="1" smtClean="0">
                <a:solidFill>
                  <a:schemeClr val="lt1"/>
                </a:solidFill>
              </a:rPr>
              <a:t>Ngành</a:t>
            </a:r>
            <a:r>
              <a:rPr lang="en-US" dirty="0" smtClean="0">
                <a:solidFill>
                  <a:schemeClr val="lt1"/>
                </a:solidFill>
              </a:rPr>
              <a:t> </a:t>
            </a:r>
            <a:r>
              <a:rPr lang="en-US" dirty="0" err="1" smtClean="0">
                <a:solidFill>
                  <a:schemeClr val="lt1"/>
                </a:solidFill>
              </a:rPr>
              <a:t>đào</a:t>
            </a:r>
            <a:r>
              <a:rPr lang="en-US" dirty="0" smtClean="0">
                <a:solidFill>
                  <a:schemeClr val="lt1"/>
                </a:solidFill>
              </a:rPr>
              <a:t> </a:t>
            </a:r>
            <a:r>
              <a:rPr lang="en-US" dirty="0" err="1" smtClean="0">
                <a:solidFill>
                  <a:schemeClr val="lt1"/>
                </a:solidFill>
              </a:rPr>
              <a:t>tạo</a:t>
            </a:r>
            <a:r>
              <a:rPr lang="en-US" dirty="0" smtClean="0">
                <a:solidFill>
                  <a:schemeClr val="lt1"/>
                </a:solidFill>
              </a:rPr>
              <a:t>:	</a:t>
            </a:r>
            <a:r>
              <a:rPr lang="en-US" dirty="0" err="1" smtClean="0">
                <a:solidFill>
                  <a:schemeClr val="lt1"/>
                </a:solidFill>
              </a:rPr>
              <a:t>Hệ</a:t>
            </a:r>
            <a:r>
              <a:rPr lang="en-US" dirty="0" smtClean="0">
                <a:solidFill>
                  <a:schemeClr val="lt1"/>
                </a:solidFill>
              </a:rPr>
              <a:t> </a:t>
            </a:r>
            <a:r>
              <a:rPr lang="en-US" dirty="0" err="1">
                <a:solidFill>
                  <a:schemeClr val="lt1"/>
                </a:solidFill>
              </a:rPr>
              <a:t>T</a:t>
            </a:r>
            <a:r>
              <a:rPr lang="en-US" dirty="0" err="1" smtClean="0">
                <a:solidFill>
                  <a:schemeClr val="lt1"/>
                </a:solidFill>
              </a:rPr>
              <a:t>hống</a:t>
            </a:r>
            <a:r>
              <a:rPr lang="en-US" dirty="0" smtClean="0">
                <a:solidFill>
                  <a:schemeClr val="lt1"/>
                </a:solidFill>
              </a:rPr>
              <a:t> </a:t>
            </a:r>
            <a:r>
              <a:rPr lang="en-US" dirty="0" err="1">
                <a:solidFill>
                  <a:schemeClr val="lt1"/>
                </a:solidFill>
              </a:rPr>
              <a:t>T</a:t>
            </a:r>
            <a:r>
              <a:rPr lang="en-US" dirty="0" err="1" smtClean="0">
                <a:solidFill>
                  <a:schemeClr val="lt1"/>
                </a:solidFill>
              </a:rPr>
              <a:t>hông</a:t>
            </a:r>
            <a:r>
              <a:rPr lang="en-US" dirty="0" smtClean="0">
                <a:solidFill>
                  <a:schemeClr val="lt1"/>
                </a:solidFill>
              </a:rPr>
              <a:t> Tin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a:t>Nội dung</a:t>
            </a:r>
            <a:endParaRPr dirty="0"/>
          </a:p>
        </p:txBody>
      </p:sp>
      <p:sp>
        <p:nvSpPr>
          <p:cNvPr id="60" name="Google Shape;60;p8"/>
          <p:cNvSpPr txBox="1"/>
          <p:nvPr/>
        </p:nvSpPr>
        <p:spPr>
          <a:xfrm>
            <a:off x="914400" y="971550"/>
            <a:ext cx="7086600" cy="2195473"/>
          </a:xfrm>
          <a:prstGeom prst="rect">
            <a:avLst/>
          </a:prstGeom>
          <a:noFill/>
          <a:ln>
            <a:noFill/>
          </a:ln>
        </p:spPr>
        <p:txBody>
          <a:bodyPr spcFirstLastPara="1" wrap="square" lIns="0" tIns="152400" rIns="0" bIns="0" anchor="t" anchorCtr="0">
            <a:spAutoFit/>
          </a:bodyPr>
          <a:lstStyle/>
          <a:p>
            <a:pPr marL="360045" lvl="0" indent="-347345">
              <a:spcBef>
                <a:spcPts val="1130"/>
              </a:spcBef>
              <a:buClr>
                <a:srgbClr val="F79646"/>
              </a:buClr>
              <a:buSzPts val="2400"/>
              <a:buFont typeface="Arial"/>
              <a:buChar char="❖"/>
            </a:pPr>
            <a:r>
              <a:rPr lang="vi-VN" sz="2400" dirty="0" smtClean="0">
                <a:solidFill>
                  <a:schemeClr val="dk1"/>
                </a:solidFill>
              </a:rPr>
              <a:t>Khảo sát cách hướng căn chỉnh và hợp nhất</a:t>
            </a:r>
            <a:endParaRPr lang="en-US" sz="2400" dirty="0" smtClean="0">
              <a:solidFill>
                <a:schemeClr val="dk1"/>
              </a:solidFill>
            </a:endParaRPr>
          </a:p>
          <a:p>
            <a:pPr marL="360045" lvl="0" indent="-347345">
              <a:spcBef>
                <a:spcPts val="1130"/>
              </a:spcBef>
              <a:buClr>
                <a:srgbClr val="F79646"/>
              </a:buClr>
              <a:buSzPts val="2400"/>
              <a:buFont typeface="Arial"/>
              <a:buChar char="❖"/>
            </a:pPr>
            <a:r>
              <a:rPr lang="vi-VN" sz="2400" dirty="0" smtClean="0">
                <a:solidFill>
                  <a:schemeClr val="dk1"/>
                </a:solidFill>
              </a:rPr>
              <a:t>Cải tiến đề xuất</a:t>
            </a:r>
            <a:endParaRPr lang="en-US" sz="2400" dirty="0" smtClean="0">
              <a:solidFill>
                <a:schemeClr val="dk1"/>
              </a:solidFill>
            </a:endParaRPr>
          </a:p>
          <a:p>
            <a:pPr marL="360045" lvl="0" indent="-347345">
              <a:spcBef>
                <a:spcPts val="1130"/>
              </a:spcBef>
              <a:buClr>
                <a:srgbClr val="F79646"/>
              </a:buClr>
              <a:buSzPts val="2400"/>
              <a:buFont typeface="Arial"/>
              <a:buChar char="❖"/>
            </a:pPr>
            <a:r>
              <a:rPr lang="vi-VN" sz="2400" dirty="0" smtClean="0">
                <a:solidFill>
                  <a:schemeClr val="dk1"/>
                </a:solidFill>
              </a:rPr>
              <a:t>Công việc đã hoàn thành</a:t>
            </a:r>
            <a:endParaRPr lang="en-US" sz="2400" dirty="0" smtClean="0">
              <a:solidFill>
                <a:schemeClr val="dk1"/>
              </a:solidFill>
            </a:endParaRPr>
          </a:p>
          <a:p>
            <a:pPr marL="360045" lvl="0" indent="-347345">
              <a:spcBef>
                <a:spcPts val="1130"/>
              </a:spcBef>
              <a:buClr>
                <a:srgbClr val="F79646"/>
              </a:buClr>
              <a:buSzPts val="2400"/>
              <a:buFont typeface="Arial"/>
              <a:buChar char="❖"/>
            </a:pPr>
            <a:r>
              <a:rPr lang="en-US" sz="2400" dirty="0" err="1" smtClean="0">
                <a:solidFill>
                  <a:schemeClr val="dk1"/>
                </a:solidFill>
              </a:rPr>
              <a:t>Kế</a:t>
            </a:r>
            <a:r>
              <a:rPr lang="en-US" sz="2400" dirty="0" smtClean="0">
                <a:solidFill>
                  <a:schemeClr val="dk1"/>
                </a:solidFill>
              </a:rPr>
              <a:t> </a:t>
            </a:r>
            <a:r>
              <a:rPr lang="en-US" sz="2400" dirty="0" err="1" smtClean="0">
                <a:solidFill>
                  <a:schemeClr val="dk1"/>
                </a:solidFill>
              </a:rPr>
              <a:t>hoạch</a:t>
            </a:r>
            <a:r>
              <a:rPr lang="en-US" sz="2400" dirty="0" smtClean="0">
                <a:solidFill>
                  <a:schemeClr val="dk1"/>
                </a:solidFill>
              </a:rPr>
              <a:t> tiếp </a:t>
            </a:r>
            <a:r>
              <a:rPr lang="en-US" sz="2400" dirty="0" err="1" smtClean="0">
                <a:solidFill>
                  <a:schemeClr val="dk1"/>
                </a:solidFill>
              </a:rPr>
              <a:t>theo</a:t>
            </a:r>
            <a:endParaRPr lang="en-US" sz="2400" dirty="0" smtClean="0">
              <a:solidFill>
                <a:schemeClr val="dk1"/>
              </a:solidFill>
            </a:endParaRPr>
          </a:p>
        </p:txBody>
      </p:sp>
      <p:sp>
        <p:nvSpPr>
          <p:cNvPr id="61" name="Google Shape;61;p8"/>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913596" y="497546"/>
            <a:ext cx="5746261" cy="3785652"/>
          </a:xfrm>
          <a:prstGeom prst="rect">
            <a:avLst/>
          </a:prstGeom>
          <a:noFill/>
        </p:spPr>
        <p:txBody>
          <a:bodyPr wrap="square" rtlCol="0">
            <a:spAutoFit/>
          </a:bodyPr>
          <a:lstStyle/>
          <a:p>
            <a:pPr algn="ctr"/>
            <a:r>
              <a:rPr lang="en-US" sz="6000" b="1" dirty="0" smtClean="0">
                <a:solidFill>
                  <a:srgbClr val="0070C0"/>
                </a:solidFill>
              </a:rPr>
              <a:t>MULTIMODAL ALIGNMENT AND FUSION: A SURVEY</a:t>
            </a:r>
            <a:endParaRPr lang="en-US" sz="6000" dirty="0">
              <a:solidFill>
                <a:srgbClr val="0070C0"/>
              </a:solidFill>
            </a:endParaRPr>
          </a:p>
        </p:txBody>
      </p:sp>
    </p:spTree>
    <p:extLst>
      <p:ext uri="{BB962C8B-B14F-4D97-AF65-F5344CB8AC3E}">
        <p14:creationId xmlns:p14="http://schemas.microsoft.com/office/powerpoint/2010/main" val="2167345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smtClean="0"/>
              <a:t>Khảo sát</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628377"/>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Các </a:t>
            </a:r>
            <a:r>
              <a:rPr lang="vi-VN" sz="2000" dirty="0">
                <a:solidFill>
                  <a:schemeClr val="tx1">
                    <a:lumMod val="50000"/>
                    <a:lumOff val="50000"/>
                  </a:schemeClr>
                </a:solidFill>
              </a:rPr>
              <a:t>cấp độ kết hợp (Fusion Levels) trong Multimodal Alignment</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948030"/>
            <a:ext cx="5141588" cy="2462213"/>
          </a:xfrm>
          <a:prstGeom prst="rect">
            <a:avLst/>
          </a:prstGeom>
          <a:noFill/>
        </p:spPr>
        <p:txBody>
          <a:bodyPr wrap="square" rtlCol="0">
            <a:spAutoFit/>
          </a:bodyPr>
          <a:lstStyle/>
          <a:p>
            <a:r>
              <a:rPr lang="vi-VN" dirty="0"/>
              <a:t>Data-level Fusion – dữ liệu thô từ hai modality </a:t>
            </a:r>
            <a:r>
              <a:rPr lang="vi-VN" dirty="0" smtClean="0"/>
              <a:t>được </a:t>
            </a:r>
            <a:r>
              <a:rPr lang="vi-VN" dirty="0"/>
              <a:t>kết hợp trực tiếp và đưa vào một mô hình fusion duy </a:t>
            </a:r>
            <a:r>
              <a:rPr lang="vi-VN" dirty="0" smtClean="0"/>
              <a:t>nhất</a:t>
            </a:r>
          </a:p>
          <a:p>
            <a:endParaRPr lang="vi-VN" dirty="0" smtClean="0"/>
          </a:p>
          <a:p>
            <a:r>
              <a:rPr lang="vi-VN" dirty="0" smtClean="0"/>
              <a:t>Feature-Level Fusion</a:t>
            </a:r>
            <a:r>
              <a:rPr lang="vi-VN" dirty="0"/>
              <a:t>: mỗi modality qua một encoder trích đặc </a:t>
            </a:r>
            <a:r>
              <a:rPr lang="vi-VN" dirty="0" smtClean="0"/>
              <a:t>trưng riêng, </a:t>
            </a:r>
            <a:r>
              <a:rPr lang="vi-VN" dirty="0"/>
              <a:t>sau đó đặc trưng được hợp nhất qua module fusion </a:t>
            </a:r>
            <a:r>
              <a:rPr lang="vi-VN" dirty="0" smtClean="0"/>
              <a:t>và </a:t>
            </a:r>
            <a:r>
              <a:rPr lang="vi-VN" dirty="0"/>
              <a:t>đưa vào một mô hình dự đoán </a:t>
            </a:r>
            <a:r>
              <a:rPr lang="vi-VN" dirty="0" smtClean="0"/>
              <a:t>chung</a:t>
            </a:r>
            <a:r>
              <a:rPr lang="vi-VN" dirty="0"/>
              <a:t>: </a:t>
            </a:r>
            <a:r>
              <a:rPr lang="vi-VN" dirty="0" smtClean="0"/>
              <a:t>Cross-attention, Q-Former, MLP....</a:t>
            </a:r>
          </a:p>
          <a:p>
            <a:endParaRPr lang="vi-VN" dirty="0" smtClean="0"/>
          </a:p>
          <a:p>
            <a:r>
              <a:rPr lang="vi-VN" dirty="0"/>
              <a:t>Output-level Fusion – mỗi modality được xử lý hoàn chỉnh bởi mô hình riêng (ô màu hồng) tạo ra quyết định hoặc dự đoán riêng, rồi các quyết định này được kết hợp ở tầng quyết định</a:t>
            </a:r>
          </a:p>
        </p:txBody>
      </p:sp>
      <p:sp>
        <p:nvSpPr>
          <p:cNvPr id="7" name="TextBox 6"/>
          <p:cNvSpPr txBox="1"/>
          <p:nvPr/>
        </p:nvSpPr>
        <p:spPr>
          <a:xfrm>
            <a:off x="5921582" y="4127904"/>
            <a:ext cx="2475358" cy="246221"/>
          </a:xfrm>
          <a:prstGeom prst="rect">
            <a:avLst/>
          </a:prstGeom>
          <a:noFill/>
        </p:spPr>
        <p:txBody>
          <a:bodyPr wrap="none" rtlCol="0">
            <a:spAutoFit/>
          </a:bodyPr>
          <a:lstStyle/>
          <a:p>
            <a:pPr algn="ctr"/>
            <a:r>
              <a:rPr lang="en-US" sz="1000" dirty="0" smtClean="0"/>
              <a:t>Hình: Prompt </a:t>
            </a:r>
            <a:r>
              <a:rPr lang="en-US" sz="1000" dirty="0" err="1" smtClean="0"/>
              <a:t>tích</a:t>
            </a:r>
            <a:r>
              <a:rPr lang="en-US" sz="1000" dirty="0" smtClean="0"/>
              <a:t> hợp </a:t>
            </a:r>
            <a:r>
              <a:rPr lang="en-US" sz="1000" dirty="0" err="1" smtClean="0"/>
              <a:t>thông</a:t>
            </a:r>
            <a:r>
              <a:rPr lang="en-US" sz="1000" dirty="0" smtClean="0"/>
              <a:t> tin </a:t>
            </a:r>
            <a:r>
              <a:rPr lang="en-US" sz="1000" dirty="0" err="1" smtClean="0"/>
              <a:t>cộng</a:t>
            </a:r>
            <a:r>
              <a:rPr lang="en-US" sz="1000" dirty="0" smtClean="0"/>
              <a:t> </a:t>
            </a:r>
            <a:r>
              <a:rPr lang="en-US" sz="1000" dirty="0" err="1" smtClean="0"/>
              <a:t>tác</a:t>
            </a:r>
            <a:endParaRPr lang="en-US" sz="1000" dirty="0"/>
          </a:p>
        </p:txBody>
      </p:sp>
      <p:pic>
        <p:nvPicPr>
          <p:cNvPr id="3" name="Picture 2"/>
          <p:cNvPicPr>
            <a:picLocks noChangeAspect="1"/>
          </p:cNvPicPr>
          <p:nvPr/>
        </p:nvPicPr>
        <p:blipFill>
          <a:blip r:embed="rId3"/>
          <a:stretch>
            <a:fillRect/>
          </a:stretch>
        </p:blipFill>
        <p:spPr>
          <a:xfrm>
            <a:off x="5586490" y="1206190"/>
            <a:ext cx="3145542" cy="2985146"/>
          </a:xfrm>
          <a:prstGeom prst="rect">
            <a:avLst/>
          </a:prstGeom>
        </p:spPr>
      </p:pic>
    </p:spTree>
    <p:extLst>
      <p:ext uri="{BB962C8B-B14F-4D97-AF65-F5344CB8AC3E}">
        <p14:creationId xmlns:p14="http://schemas.microsoft.com/office/powerpoint/2010/main" val="120718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986540"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a:solidFill>
                  <a:schemeClr val="tx1">
                    <a:lumMod val="50000"/>
                    <a:lumOff val="50000"/>
                  </a:schemeClr>
                </a:solidFill>
              </a:rPr>
              <a:t>Generative Alignment: căn chỉnh bằng mô hình sinh</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622442"/>
            <a:ext cx="4248912" cy="307777"/>
          </a:xfrm>
          <a:prstGeom prst="rect">
            <a:avLst/>
          </a:prstGeom>
          <a:noFill/>
        </p:spPr>
        <p:txBody>
          <a:bodyPr wrap="square" rtlCol="0">
            <a:spAutoFit/>
          </a:bodyPr>
          <a:lstStyle/>
          <a:p>
            <a:endParaRPr lang="vi-VN" dirty="0"/>
          </a:p>
        </p:txBody>
      </p:sp>
      <p:sp>
        <p:nvSpPr>
          <p:cNvPr id="10" name="TextBox 9"/>
          <p:cNvSpPr txBox="1"/>
          <p:nvPr/>
        </p:nvSpPr>
        <p:spPr>
          <a:xfrm>
            <a:off x="576306" y="2346298"/>
            <a:ext cx="3437421" cy="1384995"/>
          </a:xfrm>
          <a:prstGeom prst="rect">
            <a:avLst/>
          </a:prstGeom>
          <a:noFill/>
        </p:spPr>
        <p:txBody>
          <a:bodyPr wrap="square" rtlCol="0">
            <a:spAutoFit/>
          </a:bodyPr>
          <a:lstStyle/>
          <a:p>
            <a:r>
              <a:rPr lang="vi-VN" dirty="0"/>
              <a:t>Sử dụng mô hình sinh (VAE, GAN, diffusion, decoder LLM) để tạo ra representation hoặc sample mô phỏng cross-modal.Học cách modality </a:t>
            </a:r>
            <a:r>
              <a:rPr lang="vi-VN" dirty="0" smtClean="0"/>
              <a:t>A (mô tả) </a:t>
            </a:r>
            <a:r>
              <a:rPr lang="vi-VN" dirty="0"/>
              <a:t>tái tạo modality B </a:t>
            </a:r>
            <a:r>
              <a:rPr lang="vi-VN" dirty="0" smtClean="0"/>
              <a:t>(vector CF)→ </a:t>
            </a:r>
            <a:r>
              <a:rPr lang="vi-VN" dirty="0"/>
              <a:t>tự động align 2 space.</a:t>
            </a:r>
          </a:p>
        </p:txBody>
      </p:sp>
      <p:pic>
        <p:nvPicPr>
          <p:cNvPr id="5" name="Picture 4"/>
          <p:cNvPicPr>
            <a:picLocks noChangeAspect="1"/>
          </p:cNvPicPr>
          <p:nvPr/>
        </p:nvPicPr>
        <p:blipFill>
          <a:blip r:embed="rId3"/>
          <a:stretch>
            <a:fillRect/>
          </a:stretch>
        </p:blipFill>
        <p:spPr>
          <a:xfrm>
            <a:off x="4170388" y="1925309"/>
            <a:ext cx="4784915" cy="2106976"/>
          </a:xfrm>
          <a:prstGeom prst="rect">
            <a:avLst/>
          </a:prstGeom>
        </p:spPr>
      </p:pic>
      <p:sp>
        <p:nvSpPr>
          <p:cNvPr id="13" name="TextBox 12"/>
          <p:cNvSpPr txBox="1"/>
          <p:nvPr/>
        </p:nvSpPr>
        <p:spPr>
          <a:xfrm>
            <a:off x="6231542" y="4188539"/>
            <a:ext cx="950902" cy="246221"/>
          </a:xfrm>
          <a:prstGeom prst="rect">
            <a:avLst/>
          </a:prstGeom>
          <a:noFill/>
        </p:spPr>
        <p:txBody>
          <a:bodyPr wrap="none" rtlCol="0">
            <a:spAutoFit/>
          </a:bodyPr>
          <a:lstStyle/>
          <a:p>
            <a:pPr algn="ctr"/>
            <a:r>
              <a:rPr lang="en-US" sz="1000" dirty="0" smtClean="0"/>
              <a:t>Hình: </a:t>
            </a:r>
            <a:r>
              <a:rPr lang="vi-VN" sz="1000" dirty="0" smtClean="0"/>
              <a:t>LC Rec</a:t>
            </a:r>
            <a:endParaRPr lang="en-US" sz="1000" dirty="0"/>
          </a:p>
        </p:txBody>
      </p:sp>
    </p:spTree>
    <p:extLst>
      <p:ext uri="{BB962C8B-B14F-4D97-AF65-F5344CB8AC3E}">
        <p14:creationId xmlns:p14="http://schemas.microsoft.com/office/powerpoint/2010/main" val="2236797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986540"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a:solidFill>
                  <a:schemeClr val="tx1">
                    <a:lumMod val="50000"/>
                    <a:lumOff val="50000"/>
                  </a:schemeClr>
                </a:solidFill>
              </a:rPr>
              <a:t>Phương pháp học tương phản (</a:t>
            </a:r>
            <a:r>
              <a:rPr lang="vi-VN" sz="2000" dirty="0" smtClean="0">
                <a:solidFill>
                  <a:schemeClr val="tx1">
                    <a:lumMod val="50000"/>
                    <a:lumOff val="50000"/>
                  </a:schemeClr>
                </a:solidFill>
              </a:rPr>
              <a:t>contrastive learning)</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622442"/>
            <a:ext cx="4248912" cy="307777"/>
          </a:xfrm>
          <a:prstGeom prst="rect">
            <a:avLst/>
          </a:prstGeom>
          <a:noFill/>
        </p:spPr>
        <p:txBody>
          <a:bodyPr wrap="square" rtlCol="0">
            <a:spAutoFit/>
          </a:bodyPr>
          <a:lstStyle/>
          <a:p>
            <a:endParaRPr lang="vi-VN" dirty="0"/>
          </a:p>
        </p:txBody>
      </p:sp>
      <p:sp>
        <p:nvSpPr>
          <p:cNvPr id="7" name="TextBox 6"/>
          <p:cNvSpPr txBox="1"/>
          <p:nvPr/>
        </p:nvSpPr>
        <p:spPr>
          <a:xfrm>
            <a:off x="6171430" y="4188539"/>
            <a:ext cx="1071127" cy="246221"/>
          </a:xfrm>
          <a:prstGeom prst="rect">
            <a:avLst/>
          </a:prstGeom>
          <a:noFill/>
        </p:spPr>
        <p:txBody>
          <a:bodyPr wrap="none" rtlCol="0">
            <a:spAutoFit/>
          </a:bodyPr>
          <a:lstStyle/>
          <a:p>
            <a:pPr algn="ctr"/>
            <a:r>
              <a:rPr lang="en-US" sz="1000" dirty="0" smtClean="0"/>
              <a:t>Hình: </a:t>
            </a:r>
            <a:r>
              <a:rPr lang="vi-VN" sz="1000" dirty="0" smtClean="0"/>
              <a:t>Sella Rec</a:t>
            </a:r>
            <a:endParaRPr lang="en-US" sz="1000" dirty="0"/>
          </a:p>
        </p:txBody>
      </p:sp>
      <p:sp>
        <p:nvSpPr>
          <p:cNvPr id="10" name="TextBox 9"/>
          <p:cNvSpPr txBox="1"/>
          <p:nvPr/>
        </p:nvSpPr>
        <p:spPr>
          <a:xfrm>
            <a:off x="254644" y="1939942"/>
            <a:ext cx="3759084" cy="2462213"/>
          </a:xfrm>
          <a:prstGeom prst="rect">
            <a:avLst/>
          </a:prstGeom>
          <a:noFill/>
        </p:spPr>
        <p:txBody>
          <a:bodyPr wrap="square" rtlCol="0">
            <a:spAutoFit/>
          </a:bodyPr>
          <a:lstStyle/>
          <a:p>
            <a:r>
              <a:rPr lang="vi-VN" dirty="0"/>
              <a:t>Đây là hướng tiếp cận dựa trên </a:t>
            </a:r>
            <a:r>
              <a:rPr lang="vi-VN" b="1" dirty="0"/>
              <a:t>học so sánh (comparative learning)</a:t>
            </a:r>
            <a:r>
              <a:rPr lang="vi-VN" dirty="0"/>
              <a:t> để kéo gần các cặp dữ liệu liên quan và đẩy xa các cặp không liên quan trong không gian đặc </a:t>
            </a:r>
            <a:r>
              <a:rPr lang="vi-VN" dirty="0" smtClean="0"/>
              <a:t>trưng</a:t>
            </a:r>
          </a:p>
          <a:p>
            <a:endParaRPr lang="vi-VN" dirty="0" smtClean="0"/>
          </a:p>
          <a:p>
            <a:r>
              <a:rPr lang="vi-VN" dirty="0" smtClean="0"/>
              <a:t>Trong </a:t>
            </a:r>
            <a:r>
              <a:rPr lang="vi-VN" dirty="0"/>
              <a:t>những năm gần đây, nhiều biến thể của contrastive loss ra đời để tăng cường khả năng phân </a:t>
            </a:r>
            <a:r>
              <a:rPr lang="vi-VN" dirty="0" smtClean="0"/>
              <a:t>biệt:</a:t>
            </a:r>
            <a:endParaRPr lang="vi-VN" dirty="0"/>
          </a:p>
          <a:p>
            <a:r>
              <a:rPr lang="vi-VN" dirty="0"/>
              <a:t>AMC-Loss: Thêm biên độ góc tăng phân biệt</a:t>
            </a:r>
            <a:r>
              <a:rPr lang="vi-VN" dirty="0" smtClean="0"/>
              <a:t>.</a:t>
            </a:r>
          </a:p>
          <a:p>
            <a:r>
              <a:rPr lang="vi-VN" dirty="0" smtClean="0"/>
              <a:t>Supervised </a:t>
            </a:r>
            <a:r>
              <a:rPr lang="vi-VN" dirty="0"/>
              <a:t>Contrastive Loss: Dùng nhãn lớp ổn định hiệu năng.</a:t>
            </a:r>
            <a:endParaRPr lang="vi-VN" dirty="0" smtClean="0"/>
          </a:p>
        </p:txBody>
      </p:sp>
      <p:pic>
        <p:nvPicPr>
          <p:cNvPr id="11" name="Picture 10"/>
          <p:cNvPicPr>
            <a:picLocks noChangeAspect="1"/>
          </p:cNvPicPr>
          <p:nvPr/>
        </p:nvPicPr>
        <p:blipFill>
          <a:blip r:embed="rId3"/>
          <a:stretch>
            <a:fillRect/>
          </a:stretch>
        </p:blipFill>
        <p:spPr>
          <a:xfrm>
            <a:off x="4208558" y="1781798"/>
            <a:ext cx="4783042" cy="2381430"/>
          </a:xfrm>
          <a:prstGeom prst="rect">
            <a:avLst/>
          </a:prstGeom>
        </p:spPr>
      </p:pic>
    </p:spTree>
    <p:extLst>
      <p:ext uri="{BB962C8B-B14F-4D97-AF65-F5344CB8AC3E}">
        <p14:creationId xmlns:p14="http://schemas.microsoft.com/office/powerpoint/2010/main" val="878757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986540"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a:solidFill>
                  <a:schemeClr val="tx1">
                    <a:lumMod val="50000"/>
                    <a:lumOff val="50000"/>
                  </a:schemeClr>
                </a:solidFill>
              </a:rPr>
              <a:t>Phương pháp dựa trên attention (attention-based)</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622442"/>
            <a:ext cx="4248912" cy="307777"/>
          </a:xfrm>
          <a:prstGeom prst="rect">
            <a:avLst/>
          </a:prstGeom>
          <a:noFill/>
        </p:spPr>
        <p:txBody>
          <a:bodyPr wrap="square" rtlCol="0">
            <a:spAutoFit/>
          </a:bodyPr>
          <a:lstStyle/>
          <a:p>
            <a:endParaRPr lang="vi-VN" dirty="0"/>
          </a:p>
        </p:txBody>
      </p:sp>
      <p:sp>
        <p:nvSpPr>
          <p:cNvPr id="7" name="TextBox 6"/>
          <p:cNvSpPr txBox="1"/>
          <p:nvPr/>
        </p:nvSpPr>
        <p:spPr>
          <a:xfrm>
            <a:off x="6241962" y="4188539"/>
            <a:ext cx="930063" cy="246221"/>
          </a:xfrm>
          <a:prstGeom prst="rect">
            <a:avLst/>
          </a:prstGeom>
          <a:noFill/>
        </p:spPr>
        <p:txBody>
          <a:bodyPr wrap="none" rtlCol="0">
            <a:spAutoFit/>
          </a:bodyPr>
          <a:lstStyle/>
          <a:p>
            <a:pPr algn="ctr"/>
            <a:r>
              <a:rPr lang="en-US" sz="1000" dirty="0" smtClean="0"/>
              <a:t>Hình: </a:t>
            </a:r>
            <a:r>
              <a:rPr lang="vi-VN" sz="1000" dirty="0" smtClean="0"/>
              <a:t>RARec</a:t>
            </a:r>
            <a:endParaRPr lang="en-US" sz="1000" dirty="0"/>
          </a:p>
        </p:txBody>
      </p:sp>
      <p:sp>
        <p:nvSpPr>
          <p:cNvPr id="10" name="TextBox 9"/>
          <p:cNvSpPr txBox="1"/>
          <p:nvPr/>
        </p:nvSpPr>
        <p:spPr>
          <a:xfrm>
            <a:off x="254644" y="1939942"/>
            <a:ext cx="3759084" cy="2246769"/>
          </a:xfrm>
          <a:prstGeom prst="rect">
            <a:avLst/>
          </a:prstGeom>
          <a:noFill/>
        </p:spPr>
        <p:txBody>
          <a:bodyPr wrap="square" rtlCol="0">
            <a:spAutoFit/>
          </a:bodyPr>
          <a:lstStyle/>
          <a:p>
            <a:r>
              <a:rPr lang="vi-VN" dirty="0" smtClean="0"/>
              <a:t>Cách </a:t>
            </a:r>
            <a:r>
              <a:rPr lang="vi-VN" dirty="0"/>
              <a:t>tiếp cận này khai thác cơ chế chú ý (attention) để cho phép mô hình tự động tập trung vào phần thông tin quan trọng nhất ở mỗi modality khi kết </a:t>
            </a:r>
            <a:r>
              <a:rPr lang="vi-VN" dirty="0" smtClean="0"/>
              <a:t>hợp.</a:t>
            </a:r>
          </a:p>
          <a:p>
            <a:endParaRPr lang="vi-VN" dirty="0"/>
          </a:p>
          <a:p>
            <a:r>
              <a:rPr lang="vi-VN" dirty="0"/>
              <a:t>Attention hoạt động dựa trên bộ ba Query-Key-Value: nó tính trọng số bằng softmax của độ tương tự giữa </a:t>
            </a:r>
            <a:r>
              <a:rPr lang="vi-VN" i="1" dirty="0"/>
              <a:t>query</a:t>
            </a:r>
            <a:r>
              <a:rPr lang="vi-VN" dirty="0"/>
              <a:t> và mỗi </a:t>
            </a:r>
            <a:r>
              <a:rPr lang="vi-VN" i="1" dirty="0"/>
              <a:t>key</a:t>
            </a:r>
            <a:r>
              <a:rPr lang="vi-VN" dirty="0"/>
              <a:t>, rồi dùng trọng số đó để tổng hợp các </a:t>
            </a:r>
            <a:r>
              <a:rPr lang="vi-VN" i="1" dirty="0"/>
              <a:t>value</a:t>
            </a:r>
            <a:r>
              <a:rPr lang="vi-VN" dirty="0"/>
              <a:t> tương ứng</a:t>
            </a:r>
            <a:endParaRPr lang="vi-VN" dirty="0" smtClean="0"/>
          </a:p>
        </p:txBody>
      </p:sp>
      <p:pic>
        <p:nvPicPr>
          <p:cNvPr id="3" name="Picture 2"/>
          <p:cNvPicPr>
            <a:picLocks noChangeAspect="1"/>
          </p:cNvPicPr>
          <p:nvPr/>
        </p:nvPicPr>
        <p:blipFill>
          <a:blip r:embed="rId3"/>
          <a:stretch>
            <a:fillRect/>
          </a:stretch>
        </p:blipFill>
        <p:spPr>
          <a:xfrm>
            <a:off x="4291924" y="1622442"/>
            <a:ext cx="4830138" cy="2487217"/>
          </a:xfrm>
          <a:prstGeom prst="rect">
            <a:avLst/>
          </a:prstGeom>
        </p:spPr>
      </p:pic>
    </p:spTree>
    <p:extLst>
      <p:ext uri="{BB962C8B-B14F-4D97-AF65-F5344CB8AC3E}">
        <p14:creationId xmlns:p14="http://schemas.microsoft.com/office/powerpoint/2010/main" val="3263512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5" y="1292118"/>
            <a:ext cx="6985079"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a:solidFill>
                  <a:schemeClr val="tx1">
                    <a:lumMod val="50000"/>
                    <a:lumOff val="50000"/>
                  </a:schemeClr>
                </a:solidFill>
              </a:rPr>
              <a:t>Phương pháp dựa trên LLM (Multimodal LLM (</a:t>
            </a:r>
            <a:r>
              <a:rPr lang="vi-VN" sz="2000" dirty="0" smtClean="0">
                <a:solidFill>
                  <a:schemeClr val="tx1">
                    <a:lumMod val="50000"/>
                    <a:lumOff val="50000"/>
                  </a:schemeClr>
                </a:solidFill>
              </a:rPr>
              <a:t>MLLM))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622442"/>
            <a:ext cx="4248912" cy="307777"/>
          </a:xfrm>
          <a:prstGeom prst="rect">
            <a:avLst/>
          </a:prstGeom>
          <a:noFill/>
        </p:spPr>
        <p:txBody>
          <a:bodyPr wrap="square" rtlCol="0">
            <a:spAutoFit/>
          </a:bodyPr>
          <a:lstStyle/>
          <a:p>
            <a:endParaRPr lang="vi-VN" dirty="0"/>
          </a:p>
        </p:txBody>
      </p:sp>
      <p:sp>
        <p:nvSpPr>
          <p:cNvPr id="7" name="TextBox 6"/>
          <p:cNvSpPr txBox="1"/>
          <p:nvPr/>
        </p:nvSpPr>
        <p:spPr>
          <a:xfrm>
            <a:off x="6471151" y="4364073"/>
            <a:ext cx="737702" cy="246221"/>
          </a:xfrm>
          <a:prstGeom prst="rect">
            <a:avLst/>
          </a:prstGeom>
          <a:noFill/>
        </p:spPr>
        <p:txBody>
          <a:bodyPr wrap="none" rtlCol="0">
            <a:spAutoFit/>
          </a:bodyPr>
          <a:lstStyle/>
          <a:p>
            <a:pPr algn="ctr"/>
            <a:r>
              <a:rPr lang="en-US" sz="1000" dirty="0" smtClean="0"/>
              <a:t>Hình: </a:t>
            </a:r>
            <a:r>
              <a:rPr lang="vi-VN" sz="1000" dirty="0" smtClean="0"/>
              <a:t>ILM</a:t>
            </a:r>
            <a:endParaRPr lang="en-US" sz="1000" dirty="0"/>
          </a:p>
        </p:txBody>
      </p:sp>
      <p:sp>
        <p:nvSpPr>
          <p:cNvPr id="10" name="TextBox 9"/>
          <p:cNvSpPr txBox="1"/>
          <p:nvPr/>
        </p:nvSpPr>
        <p:spPr>
          <a:xfrm>
            <a:off x="162613" y="1748576"/>
            <a:ext cx="4768202" cy="2893100"/>
          </a:xfrm>
          <a:prstGeom prst="rect">
            <a:avLst/>
          </a:prstGeom>
          <a:noFill/>
        </p:spPr>
        <p:txBody>
          <a:bodyPr wrap="square" rtlCol="0">
            <a:spAutoFit/>
          </a:bodyPr>
          <a:lstStyle/>
          <a:p>
            <a:r>
              <a:rPr lang="vi-VN" dirty="0"/>
              <a:t>Dùng LLM làm thành phần trung tâm của hệ thống đa </a:t>
            </a:r>
            <a:r>
              <a:rPr lang="vi-VN" dirty="0" smtClean="0"/>
              <a:t>modal.</a:t>
            </a:r>
          </a:p>
          <a:p>
            <a:endParaRPr lang="vi-VN" dirty="0" smtClean="0"/>
          </a:p>
          <a:p>
            <a:r>
              <a:rPr lang="vi-VN" dirty="0" smtClean="0"/>
              <a:t>Kết </a:t>
            </a:r>
            <a:r>
              <a:rPr lang="vi-VN" dirty="0"/>
              <a:t>hợp Encoder thị giác/âm thanh với LLM để LLM xử lý dữ liệu phi văn bản bằng kiến thức ngôn ngữ của nó</a:t>
            </a:r>
            <a:r>
              <a:rPr lang="vi-VN" dirty="0" smtClean="0"/>
              <a:t>.</a:t>
            </a:r>
          </a:p>
          <a:p>
            <a:endParaRPr lang="vi-VN" dirty="0" smtClean="0"/>
          </a:p>
          <a:p>
            <a:r>
              <a:rPr lang="vi-VN" dirty="0"/>
              <a:t>K</a:t>
            </a:r>
            <a:r>
              <a:rPr lang="vi-VN" dirty="0" smtClean="0"/>
              <a:t>iến </a:t>
            </a:r>
            <a:r>
              <a:rPr lang="vi-VN" dirty="0"/>
              <a:t>trúc MLLM gồm một encoder cho modality phi văn bản (ví dụ ảnh) và một LLM decoder/generator cho đầu </a:t>
            </a:r>
            <a:r>
              <a:rPr lang="vi-VN" dirty="0" smtClean="0"/>
              <a:t>ra thông qua 1 connector. </a:t>
            </a:r>
          </a:p>
          <a:p>
            <a:r>
              <a:rPr lang="vi-VN" dirty="0" smtClean="0"/>
              <a:t>Connector giữa </a:t>
            </a:r>
            <a:r>
              <a:rPr lang="vi-VN" dirty="0"/>
              <a:t>encoder và LLM: ban đầu </a:t>
            </a:r>
            <a:r>
              <a:rPr lang="vi-VN" dirty="0" smtClean="0"/>
              <a:t>là </a:t>
            </a:r>
            <a:r>
              <a:rPr lang="vi-VN" dirty="0"/>
              <a:t>MLP đơn giản để chiếu đặc trưng ảnh sang không gian embedding của </a:t>
            </a:r>
            <a:r>
              <a:rPr lang="vi-VN" dirty="0" smtClean="0"/>
              <a:t>LLM, gần </a:t>
            </a:r>
            <a:r>
              <a:rPr lang="vi-VN" dirty="0"/>
              <a:t>đây đã phát triển thành các module attention phức tạp hoặc </a:t>
            </a:r>
            <a:r>
              <a:rPr lang="vi-VN" b="1" dirty="0"/>
              <a:t>Q-Former</a:t>
            </a:r>
            <a:r>
              <a:rPr lang="vi-VN" dirty="0"/>
              <a:t> (Query Transformer)</a:t>
            </a:r>
            <a:endParaRPr lang="vi-VN" dirty="0" smtClean="0"/>
          </a:p>
        </p:txBody>
      </p:sp>
      <p:pic>
        <p:nvPicPr>
          <p:cNvPr id="5" name="Picture 4"/>
          <p:cNvPicPr>
            <a:picLocks noChangeAspect="1"/>
          </p:cNvPicPr>
          <p:nvPr/>
        </p:nvPicPr>
        <p:blipFill>
          <a:blip r:embed="rId3"/>
          <a:stretch>
            <a:fillRect/>
          </a:stretch>
        </p:blipFill>
        <p:spPr>
          <a:xfrm>
            <a:off x="5076809" y="1667118"/>
            <a:ext cx="3604138" cy="2820065"/>
          </a:xfrm>
          <a:prstGeom prst="rect">
            <a:avLst/>
          </a:prstGeom>
        </p:spPr>
      </p:pic>
    </p:spTree>
    <p:extLst>
      <p:ext uri="{BB962C8B-B14F-4D97-AF65-F5344CB8AC3E}">
        <p14:creationId xmlns:p14="http://schemas.microsoft.com/office/powerpoint/2010/main" val="905865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627455" y="1360853"/>
            <a:ext cx="6264519" cy="1938992"/>
          </a:xfrm>
          <a:prstGeom prst="rect">
            <a:avLst/>
          </a:prstGeom>
          <a:noFill/>
        </p:spPr>
        <p:txBody>
          <a:bodyPr wrap="square" rtlCol="0">
            <a:spAutoFit/>
          </a:bodyPr>
          <a:lstStyle/>
          <a:p>
            <a:pPr algn="ctr"/>
            <a:r>
              <a:rPr lang="vi-VN" sz="6000" b="1" dirty="0" smtClean="0">
                <a:solidFill>
                  <a:srgbClr val="0070C0"/>
                </a:solidFill>
              </a:rPr>
              <a:t>ĐỀ XUẤT</a:t>
            </a:r>
          </a:p>
          <a:p>
            <a:pPr algn="ctr"/>
            <a:r>
              <a:rPr lang="vi-VN" sz="6000" b="1" dirty="0" smtClean="0">
                <a:solidFill>
                  <a:srgbClr val="0070C0"/>
                </a:solidFill>
              </a:rPr>
              <a:t>CẢI TIẾN</a:t>
            </a:r>
            <a:endParaRPr lang="en-US" sz="6000" dirty="0">
              <a:solidFill>
                <a:srgbClr val="0070C0"/>
              </a:solidFill>
            </a:endParaRPr>
          </a:p>
        </p:txBody>
      </p:sp>
    </p:spTree>
    <p:extLst>
      <p:ext uri="{BB962C8B-B14F-4D97-AF65-F5344CB8AC3E}">
        <p14:creationId xmlns:p14="http://schemas.microsoft.com/office/powerpoint/2010/main" val="118934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vi-VN" sz="2800" dirty="0" smtClean="0"/>
              <a:t>Đề xuất cải tiến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Sử dụng các hàm contrastive loss mới hơn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smtClean="0">
                <a:solidFill>
                  <a:schemeClr val="tx1"/>
                </a:solidFill>
              </a:rPr>
              <a:t>Về phương pháp huấn luyện</a:t>
            </a:r>
            <a:endParaRPr lang="vi-VN" sz="2400" dirty="0">
              <a:solidFill>
                <a:schemeClr val="tx1"/>
              </a:solidFill>
            </a:endParaRPr>
          </a:p>
        </p:txBody>
      </p:sp>
      <p:sp>
        <p:nvSpPr>
          <p:cNvPr id="2" name="TextBox 1"/>
          <p:cNvSpPr txBox="1"/>
          <p:nvPr/>
        </p:nvSpPr>
        <p:spPr>
          <a:xfrm>
            <a:off x="576306" y="1801471"/>
            <a:ext cx="4884694" cy="2677656"/>
          </a:xfrm>
          <a:prstGeom prst="rect">
            <a:avLst/>
          </a:prstGeom>
          <a:noFill/>
        </p:spPr>
        <p:txBody>
          <a:bodyPr wrap="square" rtlCol="0">
            <a:spAutoFit/>
          </a:bodyPr>
          <a:lstStyle/>
          <a:p>
            <a:pPr marL="285750" indent="-285750" algn="just">
              <a:buFont typeface="Arial" panose="020B0604020202020204" pitchFamily="34" charset="0"/>
              <a:buChar char="•"/>
            </a:pPr>
            <a:r>
              <a:rPr lang="vi-VN" dirty="0" smtClean="0"/>
              <a:t>N</a:t>
            </a:r>
            <a:r>
              <a:rPr lang="en-US" dirty="0" err="1" smtClean="0"/>
              <a:t>hóm</a:t>
            </a:r>
            <a:r>
              <a:rPr lang="en-US" dirty="0" smtClean="0"/>
              <a:t> </a:t>
            </a:r>
            <a:r>
              <a:rPr lang="en-US" dirty="0" err="1"/>
              <a:t>tác</a:t>
            </a:r>
            <a:r>
              <a:rPr lang="en-US" dirty="0"/>
              <a:t> </a:t>
            </a:r>
            <a:r>
              <a:rPr lang="en-US" dirty="0" err="1"/>
              <a:t>giả</a:t>
            </a:r>
            <a:r>
              <a:rPr lang="en-US" dirty="0"/>
              <a:t> ILM đã </a:t>
            </a:r>
            <a:r>
              <a:rPr lang="en-US" dirty="0" err="1"/>
              <a:t>xác</a:t>
            </a:r>
            <a:r>
              <a:rPr lang="en-US" dirty="0"/>
              <a:t> </a:t>
            </a:r>
            <a:r>
              <a:rPr lang="en-US" dirty="0" err="1"/>
              <a:t>định</a:t>
            </a:r>
            <a:r>
              <a:rPr lang="en-US" dirty="0"/>
              <a:t> </a:t>
            </a:r>
            <a:r>
              <a:rPr lang="en-US" dirty="0" err="1"/>
              <a:t>một</a:t>
            </a:r>
            <a:r>
              <a:rPr lang="en-US" dirty="0"/>
              <a:t> </a:t>
            </a:r>
            <a:r>
              <a:rPr lang="en-US" dirty="0" err="1"/>
              <a:t>điểm</a:t>
            </a:r>
            <a:r>
              <a:rPr lang="en-US" dirty="0"/>
              <a:t> </a:t>
            </a:r>
            <a:r>
              <a:rPr lang="en-US" dirty="0" err="1"/>
              <a:t>yếu</a:t>
            </a:r>
            <a:r>
              <a:rPr lang="en-US" dirty="0"/>
              <a:t> </a:t>
            </a:r>
            <a:r>
              <a:rPr lang="en-US" dirty="0" err="1"/>
              <a:t>chí</a:t>
            </a:r>
            <a:r>
              <a:rPr lang="en-US" dirty="0"/>
              <a:t> </a:t>
            </a:r>
            <a:r>
              <a:rPr lang="en-US" dirty="0" err="1"/>
              <a:t>mạng</a:t>
            </a:r>
            <a:r>
              <a:rPr lang="en-US" dirty="0"/>
              <a:t>: việc </a:t>
            </a:r>
            <a:r>
              <a:rPr lang="en-US" dirty="0" err="1"/>
              <a:t>căn</a:t>
            </a:r>
            <a:r>
              <a:rPr lang="en-US" dirty="0"/>
              <a:t> </a:t>
            </a:r>
            <a:r>
              <a:rPr lang="en-US" dirty="0" err="1"/>
              <a:t>chỉnh</a:t>
            </a:r>
            <a:r>
              <a:rPr lang="en-US" dirty="0"/>
              <a:t> chỉ </a:t>
            </a:r>
            <a:r>
              <a:rPr lang="en-US" dirty="0" err="1"/>
              <a:t>dựa</a:t>
            </a:r>
            <a:r>
              <a:rPr lang="en-US" dirty="0"/>
              <a:t> trên </a:t>
            </a:r>
            <a:r>
              <a:rPr lang="en-US" dirty="0" err="1"/>
              <a:t>văn</a:t>
            </a:r>
            <a:r>
              <a:rPr lang="en-US" dirty="0"/>
              <a:t> </a:t>
            </a:r>
            <a:r>
              <a:rPr lang="en-US" dirty="0" err="1"/>
              <a:t>bản</a:t>
            </a:r>
            <a:r>
              <a:rPr lang="en-US" dirty="0"/>
              <a:t> </a:t>
            </a:r>
            <a:r>
              <a:rPr lang="en-US" dirty="0" err="1"/>
              <a:t>sẽ</a:t>
            </a:r>
            <a:r>
              <a:rPr lang="en-US" dirty="0"/>
              <a:t> </a:t>
            </a:r>
            <a:r>
              <a:rPr lang="en-US" dirty="0" err="1"/>
              <a:t>thất</a:t>
            </a:r>
            <a:r>
              <a:rPr lang="en-US" dirty="0"/>
              <a:t> </a:t>
            </a:r>
            <a:r>
              <a:rPr lang="en-US" dirty="0" err="1"/>
              <a:t>bại</a:t>
            </a:r>
            <a:r>
              <a:rPr lang="en-US" dirty="0"/>
              <a:t> trong việc </a:t>
            </a:r>
            <a:r>
              <a:rPr lang="vi-VN" dirty="0" smtClean="0"/>
              <a:t>trường hợp:</a:t>
            </a:r>
            <a:r>
              <a:rPr lang="en-US" dirty="0" smtClean="0"/>
              <a:t> </a:t>
            </a:r>
            <a:r>
              <a:rPr lang="en-US" dirty="0" err="1"/>
              <a:t>hai</a:t>
            </a:r>
            <a:r>
              <a:rPr lang="en-US" dirty="0"/>
              <a:t> </a:t>
            </a:r>
            <a:r>
              <a:rPr lang="en-US" dirty="0" err="1"/>
              <a:t>bộ</a:t>
            </a:r>
            <a:r>
              <a:rPr lang="en-US" dirty="0"/>
              <a:t> </a:t>
            </a:r>
            <a:r>
              <a:rPr lang="en-US" dirty="0" err="1"/>
              <a:t>phim</a:t>
            </a:r>
            <a:r>
              <a:rPr lang="en-US" dirty="0"/>
              <a:t> có thể </a:t>
            </a:r>
            <a:r>
              <a:rPr lang="en-US" dirty="0" err="1"/>
              <a:t>thường</a:t>
            </a:r>
            <a:r>
              <a:rPr lang="en-US" dirty="0"/>
              <a:t> </a:t>
            </a:r>
            <a:r>
              <a:rPr lang="en-US" dirty="0" err="1"/>
              <a:t>xuyên</a:t>
            </a:r>
            <a:r>
              <a:rPr lang="en-US" dirty="0"/>
              <a:t> được xem </a:t>
            </a:r>
            <a:r>
              <a:rPr lang="en-US" dirty="0" err="1"/>
              <a:t>cùng</a:t>
            </a:r>
            <a:r>
              <a:rPr lang="en-US" dirty="0"/>
              <a:t> </a:t>
            </a:r>
            <a:r>
              <a:rPr lang="en-US" dirty="0" err="1"/>
              <a:t>nhau</a:t>
            </a:r>
            <a:r>
              <a:rPr lang="en-US" dirty="0"/>
              <a:t> </a:t>
            </a:r>
            <a:r>
              <a:rPr lang="en-US" dirty="0" err="1"/>
              <a:t>bởi</a:t>
            </a:r>
            <a:r>
              <a:rPr lang="en-US" dirty="0"/>
              <a:t> </a:t>
            </a:r>
            <a:r>
              <a:rPr lang="en-US" dirty="0" err="1"/>
              <a:t>một</a:t>
            </a:r>
            <a:r>
              <a:rPr lang="en-US" dirty="0"/>
              <a:t> </a:t>
            </a:r>
            <a:r>
              <a:rPr lang="en-US" dirty="0" err="1"/>
              <a:t>nhóm</a:t>
            </a:r>
            <a:r>
              <a:rPr lang="en-US" dirty="0"/>
              <a:t> người </a:t>
            </a:r>
            <a:r>
              <a:rPr lang="en-US" dirty="0" err="1"/>
              <a:t>dùng</a:t>
            </a:r>
            <a:r>
              <a:rPr lang="en-US" dirty="0"/>
              <a:t> (</a:t>
            </a:r>
            <a:r>
              <a:rPr lang="en-US" dirty="0" err="1"/>
              <a:t>tín</a:t>
            </a:r>
            <a:r>
              <a:rPr lang="en-US" dirty="0"/>
              <a:t> </a:t>
            </a:r>
            <a:r>
              <a:rPr lang="en-US" dirty="0" err="1"/>
              <a:t>hiệu</a:t>
            </a:r>
            <a:r>
              <a:rPr lang="en-US" dirty="0"/>
              <a:t> CF </a:t>
            </a:r>
            <a:r>
              <a:rPr lang="en-US" dirty="0" err="1"/>
              <a:t>mạnh</a:t>
            </a:r>
            <a:r>
              <a:rPr lang="en-US" dirty="0"/>
              <a:t>) </a:t>
            </a:r>
            <a:r>
              <a:rPr lang="en-US" dirty="0" err="1"/>
              <a:t>nhưng</a:t>
            </a:r>
            <a:r>
              <a:rPr lang="en-US" dirty="0"/>
              <a:t> lại có </a:t>
            </a:r>
            <a:r>
              <a:rPr lang="en-US" dirty="0" err="1"/>
              <a:t>mô</a:t>
            </a:r>
            <a:r>
              <a:rPr lang="en-US" dirty="0"/>
              <a:t> </a:t>
            </a:r>
            <a:r>
              <a:rPr lang="en-US" dirty="0" err="1"/>
              <a:t>tả</a:t>
            </a:r>
            <a:r>
              <a:rPr lang="en-US" dirty="0"/>
              <a:t> </a:t>
            </a:r>
            <a:r>
              <a:rPr lang="en-US" dirty="0" err="1"/>
              <a:t>nội</a:t>
            </a:r>
            <a:r>
              <a:rPr lang="en-US" dirty="0"/>
              <a:t> dung </a:t>
            </a:r>
            <a:r>
              <a:rPr lang="en-US" dirty="0" err="1"/>
              <a:t>rất</a:t>
            </a:r>
            <a:r>
              <a:rPr lang="en-US" dirty="0"/>
              <a:t> </a:t>
            </a:r>
            <a:r>
              <a:rPr lang="en-US" dirty="0" err="1"/>
              <a:t>khác</a:t>
            </a:r>
            <a:r>
              <a:rPr lang="en-US" dirty="0"/>
              <a:t> </a:t>
            </a:r>
            <a:r>
              <a:rPr lang="en-US" dirty="0" err="1"/>
              <a:t>nhau</a:t>
            </a:r>
            <a:r>
              <a:rPr lang="en-US" dirty="0"/>
              <a:t> (</a:t>
            </a:r>
            <a:r>
              <a:rPr lang="en-US" dirty="0" err="1"/>
              <a:t>tín</a:t>
            </a:r>
            <a:r>
              <a:rPr lang="en-US" dirty="0"/>
              <a:t> </a:t>
            </a:r>
            <a:r>
              <a:rPr lang="en-US" dirty="0" err="1"/>
              <a:t>hiệu</a:t>
            </a:r>
            <a:r>
              <a:rPr lang="en-US" dirty="0"/>
              <a:t> </a:t>
            </a:r>
            <a:r>
              <a:rPr lang="en-US" dirty="0" err="1"/>
              <a:t>văn</a:t>
            </a:r>
            <a:r>
              <a:rPr lang="en-US" dirty="0"/>
              <a:t> </a:t>
            </a:r>
            <a:r>
              <a:rPr lang="en-US" dirty="0" err="1"/>
              <a:t>bản</a:t>
            </a:r>
            <a:r>
              <a:rPr lang="en-US" dirty="0"/>
              <a:t> </a:t>
            </a:r>
            <a:r>
              <a:rPr lang="en-US" dirty="0" err="1"/>
              <a:t>yếu</a:t>
            </a:r>
            <a:r>
              <a:rPr lang="en-US" dirty="0"/>
              <a:t>). </a:t>
            </a:r>
            <a:endParaRPr lang="vi-VN" dirty="0" smtClean="0"/>
          </a:p>
          <a:p>
            <a:pPr marL="285750" indent="-285750" algn="just">
              <a:buFont typeface="Arial" panose="020B0604020202020204" pitchFamily="34" charset="0"/>
              <a:buChar char="•"/>
            </a:pPr>
            <a:r>
              <a:rPr lang="en-US" dirty="0"/>
              <a:t>Angular Margin Contrastive Loss (AMC-Loss), Triplet Loss, </a:t>
            </a:r>
            <a:r>
              <a:rPr lang="en-US" dirty="0" err="1"/>
              <a:t>hoặc</a:t>
            </a:r>
            <a:r>
              <a:rPr lang="en-US" dirty="0"/>
              <a:t> Supervised Contrastive Loss (</a:t>
            </a:r>
            <a:r>
              <a:rPr lang="en-US" dirty="0" err="1" smtClean="0"/>
              <a:t>SupCon</a:t>
            </a:r>
            <a:r>
              <a:rPr lang="vi-VN" dirty="0" smtClean="0"/>
              <a:t>), hoặc </a:t>
            </a:r>
            <a:r>
              <a:rPr lang="en-US" dirty="0"/>
              <a:t>(IIC Loss).  </a:t>
            </a:r>
            <a:endParaRPr lang="vi-VN" dirty="0" smtClean="0"/>
          </a:p>
          <a:p>
            <a:pPr algn="just"/>
            <a:endParaRPr lang="en-US" dirty="0" smtClean="0"/>
          </a:p>
          <a:p>
            <a:pPr algn="just"/>
            <a:endParaRPr lang="en-US" dirty="0"/>
          </a:p>
          <a:p>
            <a:pPr algn="just"/>
            <a:endParaRPr lang="en-US" dirty="0"/>
          </a:p>
        </p:txBody>
      </p:sp>
      <p:pic>
        <p:nvPicPr>
          <p:cNvPr id="3" name="Picture 2"/>
          <p:cNvPicPr>
            <a:picLocks noChangeAspect="1"/>
          </p:cNvPicPr>
          <p:nvPr/>
        </p:nvPicPr>
        <p:blipFill>
          <a:blip r:embed="rId3"/>
          <a:stretch>
            <a:fillRect/>
          </a:stretch>
        </p:blipFill>
        <p:spPr>
          <a:xfrm>
            <a:off x="5513940" y="1191195"/>
            <a:ext cx="3418373" cy="2463749"/>
          </a:xfrm>
          <a:prstGeom prst="rect">
            <a:avLst/>
          </a:prstGeom>
        </p:spPr>
      </p:pic>
      <p:sp>
        <p:nvSpPr>
          <p:cNvPr id="12" name="TextBox 11"/>
          <p:cNvSpPr txBox="1"/>
          <p:nvPr/>
        </p:nvSpPr>
        <p:spPr>
          <a:xfrm>
            <a:off x="6854275" y="3895825"/>
            <a:ext cx="737702" cy="246221"/>
          </a:xfrm>
          <a:prstGeom prst="rect">
            <a:avLst/>
          </a:prstGeom>
          <a:noFill/>
        </p:spPr>
        <p:txBody>
          <a:bodyPr wrap="none" rtlCol="0">
            <a:spAutoFit/>
          </a:bodyPr>
          <a:lstStyle/>
          <a:p>
            <a:pPr algn="ctr"/>
            <a:r>
              <a:rPr lang="en-US" sz="1000" dirty="0" smtClean="0"/>
              <a:t>Hình: </a:t>
            </a:r>
            <a:r>
              <a:rPr lang="vi-VN" sz="1000" dirty="0" smtClean="0"/>
              <a:t>ILM</a:t>
            </a:r>
            <a:endParaRPr lang="en-US" sz="1000" dirty="0"/>
          </a:p>
        </p:txBody>
      </p:sp>
    </p:spTree>
    <p:extLst>
      <p:ext uri="{BB962C8B-B14F-4D97-AF65-F5344CB8AC3E}">
        <p14:creationId xmlns:p14="http://schemas.microsoft.com/office/powerpoint/2010/main" val="21457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Quá</a:t>
            </a:r>
            <a:r>
              <a:rPr lang="en-US" sz="2800" dirty="0"/>
              <a:t> </a:t>
            </a:r>
            <a:r>
              <a:rPr lang="en-US" sz="2800" dirty="0" err="1"/>
              <a:t>trình</a:t>
            </a:r>
            <a:r>
              <a:rPr lang="en-US" sz="2800" dirty="0"/>
              <a:t> </a:t>
            </a:r>
            <a:r>
              <a:rPr lang="en-US" sz="2800" dirty="0" err="1"/>
              <a:t>huấn</a:t>
            </a:r>
            <a:r>
              <a:rPr lang="en-US" sz="2800" dirty="0"/>
              <a:t> </a:t>
            </a:r>
            <a:r>
              <a:rPr lang="en-US" sz="2800" dirty="0" err="1"/>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Nghiên cứu tính khả thi của Q-Former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smtClean="0">
                <a:solidFill>
                  <a:schemeClr val="tx1"/>
                </a:solidFill>
              </a:rPr>
              <a:t>Về mô hình</a:t>
            </a:r>
            <a:endParaRPr lang="vi-VN" sz="2400" dirty="0">
              <a:solidFill>
                <a:schemeClr val="tx1"/>
              </a:solidFill>
            </a:endParaRPr>
          </a:p>
        </p:txBody>
      </p:sp>
      <p:sp>
        <p:nvSpPr>
          <p:cNvPr id="7" name="TextBox 6"/>
          <p:cNvSpPr txBox="1"/>
          <p:nvPr/>
        </p:nvSpPr>
        <p:spPr>
          <a:xfrm>
            <a:off x="6219201" y="4275064"/>
            <a:ext cx="1617752" cy="246221"/>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Sella-Rec</a:t>
            </a:r>
            <a:endParaRPr lang="en-US" sz="1000" dirty="0"/>
          </a:p>
        </p:txBody>
      </p:sp>
      <p:pic>
        <p:nvPicPr>
          <p:cNvPr id="10" name="Picture 9"/>
          <p:cNvPicPr>
            <a:picLocks noChangeAspect="1"/>
          </p:cNvPicPr>
          <p:nvPr/>
        </p:nvPicPr>
        <p:blipFill>
          <a:blip r:embed="rId3"/>
          <a:stretch>
            <a:fillRect/>
          </a:stretch>
        </p:blipFill>
        <p:spPr>
          <a:xfrm>
            <a:off x="5252050" y="1954474"/>
            <a:ext cx="2928423" cy="2110624"/>
          </a:xfrm>
          <a:prstGeom prst="rect">
            <a:avLst/>
          </a:prstGeom>
        </p:spPr>
      </p:pic>
      <p:pic>
        <p:nvPicPr>
          <p:cNvPr id="11" name="Picture 10"/>
          <p:cNvPicPr>
            <a:picLocks noChangeAspect="1"/>
          </p:cNvPicPr>
          <p:nvPr/>
        </p:nvPicPr>
        <p:blipFill>
          <a:blip r:embed="rId4"/>
          <a:stretch>
            <a:fillRect/>
          </a:stretch>
        </p:blipFill>
        <p:spPr>
          <a:xfrm>
            <a:off x="785528" y="2038076"/>
            <a:ext cx="4379293" cy="1943419"/>
          </a:xfrm>
          <a:prstGeom prst="rect">
            <a:avLst/>
          </a:prstGeom>
        </p:spPr>
      </p:pic>
      <p:sp>
        <p:nvSpPr>
          <p:cNvPr id="12" name="TextBox 11"/>
          <p:cNvSpPr txBox="1"/>
          <p:nvPr/>
        </p:nvSpPr>
        <p:spPr>
          <a:xfrm>
            <a:off x="1957296" y="4160631"/>
            <a:ext cx="1475084" cy="246221"/>
          </a:xfrm>
          <a:prstGeom prst="rect">
            <a:avLst/>
          </a:prstGeom>
          <a:noFill/>
        </p:spPr>
        <p:txBody>
          <a:bodyPr wrap="none" rtlCol="0">
            <a:spAutoFit/>
          </a:bodyPr>
          <a:lstStyle/>
          <a:p>
            <a:pPr algn="ctr"/>
            <a:r>
              <a:rPr lang="en-US" sz="1000" dirty="0" smtClean="0"/>
              <a:t>Hình: Kiến </a:t>
            </a:r>
            <a:r>
              <a:rPr lang="en-US" sz="1000" dirty="0" err="1" smtClean="0"/>
              <a:t>trúc</a:t>
            </a:r>
            <a:r>
              <a:rPr lang="vi-VN" sz="1000" dirty="0" smtClean="0"/>
              <a:t> CoLLM</a:t>
            </a:r>
            <a:endParaRPr lang="en-US" sz="1000" dirty="0"/>
          </a:p>
        </p:txBody>
      </p:sp>
    </p:spTree>
    <p:extLst>
      <p:ext uri="{BB962C8B-B14F-4D97-AF65-F5344CB8AC3E}">
        <p14:creationId xmlns:p14="http://schemas.microsoft.com/office/powerpoint/2010/main" val="1688002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2023400" y="992689"/>
            <a:ext cx="5156200" cy="2862322"/>
          </a:xfrm>
          <a:prstGeom prst="rect">
            <a:avLst/>
          </a:prstGeom>
          <a:noFill/>
        </p:spPr>
        <p:txBody>
          <a:bodyPr wrap="square" rtlCol="0">
            <a:spAutoFit/>
          </a:bodyPr>
          <a:lstStyle/>
          <a:p>
            <a:pPr algn="ctr"/>
            <a:r>
              <a:rPr lang="vi-VN" sz="6000" b="1" dirty="0" smtClean="0">
                <a:solidFill>
                  <a:srgbClr val="0070C0"/>
                </a:solidFill>
              </a:rPr>
              <a:t>CÔNG VIỆC ĐÃ HOÀN THÀNH</a:t>
            </a:r>
            <a:endParaRPr lang="en-US" sz="6000" dirty="0">
              <a:solidFill>
                <a:srgbClr val="0070C0"/>
              </a:solidFill>
            </a:endParaRPr>
          </a:p>
        </p:txBody>
      </p:sp>
    </p:spTree>
    <p:extLst>
      <p:ext uri="{BB962C8B-B14F-4D97-AF65-F5344CB8AC3E}">
        <p14:creationId xmlns:p14="http://schemas.microsoft.com/office/powerpoint/2010/main" val="19187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smtClean="0"/>
              <a:t>Công việc đã hoàn thành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r>
              <a:rPr lang="en-US" sz="2000" dirty="0" smtClean="0">
                <a:solidFill>
                  <a:schemeClr val="tx1">
                    <a:lumMod val="50000"/>
                    <a:lumOff val="50000"/>
                  </a:schemeClr>
                </a:solidFill>
              </a:rPr>
              <a:t> - baseline</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smtClean="0">
                <a:solidFill>
                  <a:schemeClr val="tx1"/>
                </a:solidFill>
              </a:rPr>
              <a:t>Xây dựng và chạy lại mô hình CoLLM trên Colab</a:t>
            </a:r>
            <a:endParaRPr lang="vi-VN" sz="2400" dirty="0">
              <a:solidFill>
                <a:schemeClr val="tx1"/>
              </a:solidFill>
            </a:endParaRPr>
          </a:p>
        </p:txBody>
      </p:sp>
      <p:sp>
        <p:nvSpPr>
          <p:cNvPr id="2" name="TextBox 1"/>
          <p:cNvSpPr txBox="1"/>
          <p:nvPr/>
        </p:nvSpPr>
        <p:spPr>
          <a:xfrm>
            <a:off x="248817" y="2126465"/>
            <a:ext cx="3825640" cy="2246769"/>
          </a:xfrm>
          <a:prstGeom prst="rect">
            <a:avLst/>
          </a:prstGeom>
          <a:noFill/>
        </p:spPr>
        <p:txBody>
          <a:bodyPr wrap="square" rtlCol="0">
            <a:spAutoFit/>
          </a:bodyPr>
          <a:lstStyle/>
          <a:p>
            <a:pPr marL="285750" indent="-285750" algn="just">
              <a:buFont typeface="Arial" panose="020B0604020202020204" pitchFamily="34" charset="0"/>
              <a:buChar char="•"/>
            </a:pPr>
            <a:r>
              <a:rPr lang="vi-VN" dirty="0" smtClean="0"/>
              <a:t>Đã mua tài khoản Colab Pro</a:t>
            </a:r>
          </a:p>
          <a:p>
            <a:pPr marL="285750" indent="-285750" algn="just">
              <a:buFont typeface="Arial" panose="020B0604020202020204" pitchFamily="34" charset="0"/>
              <a:buChar char="•"/>
            </a:pPr>
            <a:r>
              <a:rPr lang="vi-VN" dirty="0" smtClean="0"/>
              <a:t>Đã setup code CoLLM và môi trường để chạy lại trên Colab với 1 vài epoch</a:t>
            </a:r>
            <a:r>
              <a:rPr lang="en-US" dirty="0" smtClean="0"/>
              <a:t>.</a:t>
            </a:r>
            <a:endParaRPr lang="vi-VN" dirty="0" smtClean="0"/>
          </a:p>
          <a:p>
            <a:pPr marL="285750" indent="-285750" algn="just">
              <a:buFont typeface="Arial" panose="020B0604020202020204" pitchFamily="34" charset="0"/>
              <a:buChar char="•"/>
            </a:pPr>
            <a:r>
              <a:rPr lang="vi-VN" dirty="0" smtClean="0"/>
              <a:t>Các thông số đánh giá còn hơi thấp với kết quả bài báo, sẽ kiểm tra lại</a:t>
            </a:r>
          </a:p>
          <a:p>
            <a:pPr marL="285750" indent="-285750" algn="just">
              <a:buFont typeface="Arial" panose="020B0604020202020204" pitchFamily="34" charset="0"/>
              <a:buChar char="•"/>
            </a:pPr>
            <a:endParaRPr lang="vi-VN" dirty="0" smtClean="0"/>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endParaRPr lang="en-US" dirty="0" smtClean="0"/>
          </a:p>
          <a:p>
            <a:pPr algn="just"/>
            <a:endParaRPr lang="en-US" dirty="0" smtClean="0"/>
          </a:p>
          <a:p>
            <a:pPr algn="just"/>
            <a:endParaRPr lang="en-US" dirty="0"/>
          </a:p>
        </p:txBody>
      </p:sp>
      <p:sp>
        <p:nvSpPr>
          <p:cNvPr id="5" name="Rectangle 4"/>
          <p:cNvSpPr/>
          <p:nvPr/>
        </p:nvSpPr>
        <p:spPr>
          <a:xfrm>
            <a:off x="5856530" y="4193415"/>
            <a:ext cx="2055371" cy="307777"/>
          </a:xfrm>
          <a:prstGeom prst="rect">
            <a:avLst/>
          </a:prstGeom>
        </p:spPr>
        <p:txBody>
          <a:bodyPr wrap="none">
            <a:spAutoFit/>
          </a:bodyPr>
          <a:lstStyle/>
          <a:p>
            <a:r>
              <a:rPr lang="en-US" dirty="0" smtClean="0"/>
              <a:t>Hình:</a:t>
            </a:r>
            <a:r>
              <a:rPr lang="vi-VN" dirty="0" smtClean="0"/>
              <a:t>Codebase hiện tại</a:t>
            </a:r>
            <a:endParaRPr lang="en-US" dirty="0"/>
          </a:p>
        </p:txBody>
      </p:sp>
      <p:pic>
        <p:nvPicPr>
          <p:cNvPr id="3" name="Picture 2"/>
          <p:cNvPicPr>
            <a:picLocks noChangeAspect="1"/>
          </p:cNvPicPr>
          <p:nvPr/>
        </p:nvPicPr>
        <p:blipFill>
          <a:blip r:embed="rId3"/>
          <a:stretch>
            <a:fillRect/>
          </a:stretch>
        </p:blipFill>
        <p:spPr>
          <a:xfrm>
            <a:off x="4409334" y="1452418"/>
            <a:ext cx="4456330" cy="2575260"/>
          </a:xfrm>
          <a:prstGeom prst="rect">
            <a:avLst/>
          </a:prstGeom>
        </p:spPr>
      </p:pic>
    </p:spTree>
    <p:extLst>
      <p:ext uri="{BB962C8B-B14F-4D97-AF65-F5344CB8AC3E}">
        <p14:creationId xmlns:p14="http://schemas.microsoft.com/office/powerpoint/2010/main" val="425647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smtClean="0"/>
              <a:t>Công việc đã hoàn thành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Đề cương luận văn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smtClean="0">
                <a:solidFill>
                  <a:schemeClr val="tx1"/>
                </a:solidFill>
              </a:rPr>
              <a:t>Về đề cương và các vấn đề khác</a:t>
            </a:r>
            <a:endParaRPr lang="vi-VN" sz="2400" dirty="0">
              <a:solidFill>
                <a:schemeClr val="tx1"/>
              </a:solidFill>
            </a:endParaRPr>
          </a:p>
        </p:txBody>
      </p:sp>
      <p:sp>
        <p:nvSpPr>
          <p:cNvPr id="2" name="TextBox 1"/>
          <p:cNvSpPr txBox="1"/>
          <p:nvPr/>
        </p:nvSpPr>
        <p:spPr>
          <a:xfrm>
            <a:off x="1091810" y="1828611"/>
            <a:ext cx="6593780" cy="1169551"/>
          </a:xfrm>
          <a:prstGeom prst="rect">
            <a:avLst/>
          </a:prstGeom>
          <a:noFill/>
        </p:spPr>
        <p:txBody>
          <a:bodyPr wrap="square" rtlCol="0">
            <a:spAutoFit/>
          </a:bodyPr>
          <a:lstStyle/>
          <a:p>
            <a:pPr marL="285750" indent="-285750" algn="just">
              <a:buFont typeface="Arial" panose="020B0604020202020204" pitchFamily="34" charset="0"/>
              <a:buChar char="•"/>
            </a:pPr>
            <a:r>
              <a:rPr lang="vi-VN" dirty="0" smtClean="0"/>
              <a:t>Đã nộp đề cương luận văn, tuy nhiên còn thiếu chữ ký</a:t>
            </a:r>
            <a:endParaRPr lang="vi-VN" dirty="0" smtClean="0"/>
          </a:p>
          <a:p>
            <a:pPr marL="285750" indent="-285750" algn="just">
              <a:buFont typeface="Arial" panose="020B0604020202020204" pitchFamily="34" charset="0"/>
              <a:buChar char="•"/>
            </a:pPr>
            <a:r>
              <a:rPr lang="vi-VN" dirty="0" smtClean="0"/>
              <a:t>Nhờ thầy mở quyền để upload tài liệu lên drive</a:t>
            </a:r>
            <a:endParaRPr lang="en-US" dirty="0" smtClean="0"/>
          </a:p>
          <a:p>
            <a:pPr marL="285750" indent="-285750" algn="just">
              <a:buFont typeface="Arial" panose="020B0604020202020204" pitchFamily="34" charset="0"/>
              <a:buChar char="•"/>
            </a:pPr>
            <a:endParaRPr lang="en-US" dirty="0" smtClean="0"/>
          </a:p>
          <a:p>
            <a:pPr algn="just"/>
            <a:endParaRPr lang="en-US" dirty="0" smtClean="0"/>
          </a:p>
          <a:p>
            <a:pPr algn="just"/>
            <a:endParaRPr lang="en-US" dirty="0"/>
          </a:p>
        </p:txBody>
      </p:sp>
    </p:spTree>
    <p:extLst>
      <p:ext uri="{BB962C8B-B14F-4D97-AF65-F5344CB8AC3E}">
        <p14:creationId xmlns:p14="http://schemas.microsoft.com/office/powerpoint/2010/main" val="3782927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502815" y="1485494"/>
            <a:ext cx="6485383" cy="1938992"/>
          </a:xfrm>
          <a:prstGeom prst="rect">
            <a:avLst/>
          </a:prstGeom>
          <a:noFill/>
        </p:spPr>
        <p:txBody>
          <a:bodyPr wrap="square" rtlCol="0">
            <a:spAutoFit/>
          </a:bodyPr>
          <a:lstStyle/>
          <a:p>
            <a:pPr algn="ctr"/>
            <a:r>
              <a:rPr lang="en-US" sz="6000" b="1" dirty="0" smtClean="0">
                <a:solidFill>
                  <a:srgbClr val="0070C0"/>
                </a:solidFill>
              </a:rPr>
              <a:t>KẾ HOẠCH </a:t>
            </a:r>
            <a:endParaRPr lang="vi-VN" sz="6000" b="1" dirty="0">
              <a:solidFill>
                <a:srgbClr val="0070C0"/>
              </a:solidFill>
            </a:endParaRPr>
          </a:p>
          <a:p>
            <a:pPr algn="ctr"/>
            <a:r>
              <a:rPr lang="vi-VN" sz="6000" b="1" dirty="0" smtClean="0">
                <a:solidFill>
                  <a:srgbClr val="0070C0"/>
                </a:solidFill>
              </a:rPr>
              <a:t>TIẾP THEO</a:t>
            </a:r>
            <a:endParaRPr lang="en-US" sz="6000" dirty="0">
              <a:solidFill>
                <a:srgbClr val="0070C0"/>
              </a:solidFill>
            </a:endParaRPr>
          </a:p>
        </p:txBody>
      </p:sp>
    </p:spTree>
    <p:extLst>
      <p:ext uri="{BB962C8B-B14F-4D97-AF65-F5344CB8AC3E}">
        <p14:creationId xmlns:p14="http://schemas.microsoft.com/office/powerpoint/2010/main" val="308092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smtClean="0"/>
              <a:t>Công việc đã hoàn thành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Tiếp đọc các paper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smtClean="0">
                <a:solidFill>
                  <a:schemeClr val="tx1"/>
                </a:solidFill>
              </a:rPr>
              <a:t>Xây dựng và chạy lại mô hình CoLLM trên Colab</a:t>
            </a:r>
            <a:endParaRPr lang="vi-VN" sz="2400" dirty="0">
              <a:solidFill>
                <a:schemeClr val="tx1"/>
              </a:solidFill>
            </a:endParaRPr>
          </a:p>
        </p:txBody>
      </p:sp>
      <p:sp>
        <p:nvSpPr>
          <p:cNvPr id="5" name="Rectangle 4"/>
          <p:cNvSpPr/>
          <p:nvPr/>
        </p:nvSpPr>
        <p:spPr>
          <a:xfrm>
            <a:off x="3810417" y="4142850"/>
            <a:ext cx="2214068" cy="307777"/>
          </a:xfrm>
          <a:prstGeom prst="rect">
            <a:avLst/>
          </a:prstGeom>
        </p:spPr>
        <p:txBody>
          <a:bodyPr wrap="none">
            <a:spAutoFit/>
          </a:bodyPr>
          <a:lstStyle/>
          <a:p>
            <a:r>
              <a:rPr lang="en-US" dirty="0" smtClean="0"/>
              <a:t>Hình:</a:t>
            </a:r>
            <a:r>
              <a:rPr lang="vi-VN" dirty="0" smtClean="0"/>
              <a:t>Các paper liên quan</a:t>
            </a:r>
            <a:endParaRPr lang="en-US" dirty="0"/>
          </a:p>
        </p:txBody>
      </p:sp>
      <p:pic>
        <p:nvPicPr>
          <p:cNvPr id="4" name="Picture 3"/>
          <p:cNvPicPr>
            <a:picLocks noChangeAspect="1"/>
          </p:cNvPicPr>
          <p:nvPr/>
        </p:nvPicPr>
        <p:blipFill>
          <a:blip r:embed="rId3"/>
          <a:stretch>
            <a:fillRect/>
          </a:stretch>
        </p:blipFill>
        <p:spPr>
          <a:xfrm>
            <a:off x="3579447" y="1614269"/>
            <a:ext cx="2676008" cy="2451188"/>
          </a:xfrm>
          <a:prstGeom prst="rect">
            <a:avLst/>
          </a:prstGeom>
        </p:spPr>
      </p:pic>
    </p:spTree>
    <p:extLst>
      <p:ext uri="{BB962C8B-B14F-4D97-AF65-F5344CB8AC3E}">
        <p14:creationId xmlns:p14="http://schemas.microsoft.com/office/powerpoint/2010/main" val="3441006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smtClean="0"/>
              <a:t>Công việc đã hoàn thành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7479674"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Kiểm tra lại code, nghiên cứu tính khả thi của các đề xuất cải tiến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smtClean="0">
                <a:solidFill>
                  <a:schemeClr val="tx1"/>
                </a:solidFill>
              </a:rPr>
              <a:t>Xây dựng và chạy lại mô hình CoLLM trên Colab</a:t>
            </a:r>
            <a:endParaRPr lang="vi-VN" sz="2400" dirty="0">
              <a:solidFill>
                <a:schemeClr val="tx1"/>
              </a:solidFill>
            </a:endParaRPr>
          </a:p>
        </p:txBody>
      </p:sp>
    </p:spTree>
    <p:extLst>
      <p:ext uri="{BB962C8B-B14F-4D97-AF65-F5344CB8AC3E}">
        <p14:creationId xmlns:p14="http://schemas.microsoft.com/office/powerpoint/2010/main" val="1207780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714</TotalTime>
  <Words>3709</Words>
  <Application>Microsoft Office PowerPoint</Application>
  <PresentationFormat>On-screen Show (16:9)</PresentationFormat>
  <Paragraphs>196</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CĂN CHỈNH VÀ TÍCH HỢP THÔNG TIN CỘNG TÁC NHẰM NÂNG CAO HIỆU QUẢ CHO HỆ THỐNG TƯ VẤN DỰA TRÊN MÔ HÌNH NGÔN NGỮ LỚN</vt:lpstr>
      <vt:lpstr>Nội dung</vt:lpstr>
      <vt:lpstr>PowerPoint Presentation</vt:lpstr>
      <vt:lpstr>Khảo sát</vt:lpstr>
      <vt:lpstr>GIỚI THIỆU TỔNG QUAN</vt:lpstr>
      <vt:lpstr>GIỚI THIỆU TỔNG QUAN</vt:lpstr>
      <vt:lpstr>GIỚI THIỆU TỔNG QUAN</vt:lpstr>
      <vt:lpstr>GIỚI THIỆU TỔNG QUAN</vt:lpstr>
      <vt:lpstr>PowerPoint Presentation</vt:lpstr>
      <vt:lpstr>Đề xuất cải tiến</vt:lpstr>
      <vt:lpstr>Quá trình huấn luyện</vt:lpstr>
      <vt:lpstr>PowerPoint Presentation</vt:lpstr>
      <vt:lpstr>Công việc đã hoàn thành</vt:lpstr>
      <vt:lpstr>Công việc đã hoàn thành</vt:lpstr>
      <vt:lpstr>PowerPoint Presentation</vt:lpstr>
      <vt:lpstr>Công việc đã hoàn thành</vt:lpstr>
      <vt:lpstr>Công việc đã hoàn thành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Ý TƯỞNG CHẤM ĐIỂM BÀI THI LẬP TRÌNH</dc:title>
  <cp:lastModifiedBy>Dell</cp:lastModifiedBy>
  <cp:revision>43</cp:revision>
  <dcterms:modified xsi:type="dcterms:W3CDTF">2025-11-18T15:56:53Z</dcterms:modified>
</cp:coreProperties>
</file>