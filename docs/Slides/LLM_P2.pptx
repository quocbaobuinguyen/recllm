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7"/>
  </p:notesMasterIdLst>
  <p:sldIdLst>
    <p:sldId id="256" r:id="rId2"/>
    <p:sldId id="257" r:id="rId3"/>
    <p:sldId id="268" r:id="rId4"/>
    <p:sldId id="263" r:id="rId5"/>
    <p:sldId id="280" r:id="rId6"/>
    <p:sldId id="269" r:id="rId7"/>
    <p:sldId id="270" r:id="rId8"/>
    <p:sldId id="281" r:id="rId9"/>
    <p:sldId id="273" r:id="rId10"/>
    <p:sldId id="274" r:id="rId11"/>
    <p:sldId id="271" r:id="rId12"/>
    <p:sldId id="275" r:id="rId13"/>
    <p:sldId id="276" r:id="rId14"/>
    <p:sldId id="278" r:id="rId15"/>
    <p:sldId id="279" r:id="rId16"/>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1" autoAdjust="0"/>
    <p:restoredTop sz="94118" autoAdjust="0"/>
  </p:normalViewPr>
  <p:slideViewPr>
    <p:cSldViewPr snapToGrid="0">
      <p:cViewPr varScale="1">
        <p:scale>
          <a:sx n="109" d="100"/>
          <a:sy n="109" d="100"/>
        </p:scale>
        <p:origin x="706" y="86"/>
      </p:cViewPr>
      <p:guideLst>
        <p:guide orient="horz" pos="2880"/>
        <p:guide pos="2160"/>
      </p:guideLst>
    </p:cSldViewPr>
  </p:slideViewPr>
  <p:outlineViewPr>
    <p:cViewPr>
      <p:scale>
        <a:sx n="33" d="100"/>
        <a:sy n="33" d="100"/>
      </p:scale>
      <p:origin x="0" y="-153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56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620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986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513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088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662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045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rtl="0">
              <a:lnSpc>
                <a:spcPct val="99700"/>
              </a:lnSpc>
              <a:spcBef>
                <a:spcPts val="540"/>
              </a:spcBef>
              <a:spcAft>
                <a:spcPts val="0"/>
              </a:spcAft>
              <a:buNone/>
            </a:pPr>
            <a:r>
              <a:rPr lang="en-US" sz="2400" b="1" dirty="0" smtClean="0">
                <a:solidFill>
                  <a:srgbClr val="FFFFFF"/>
                </a:solidFill>
              </a:rPr>
              <a:t>NGHIÊN CỨU TÍCH HỢP TRI THỨC NGỮ NGHĨA VÀ </a:t>
            </a:r>
            <a:r>
              <a:rPr lang="en-US" sz="2400" b="1" dirty="0" smtClean="0">
                <a:solidFill>
                  <a:srgbClr val="FFFFFF"/>
                </a:solidFill>
              </a:rPr>
              <a:t>THÔNG TIN CỘNG </a:t>
            </a:r>
            <a:r>
              <a:rPr lang="en-US" sz="2400" b="1" dirty="0" smtClean="0">
                <a:solidFill>
                  <a:srgbClr val="FFFFFF"/>
                </a:solidFill>
              </a:rPr>
              <a:t>TÁC TRONG HỆ THỐNG TƯ </a:t>
            </a:r>
            <a:r>
              <a:rPr lang="en-US" sz="2400" b="1" dirty="0" smtClean="0">
                <a:solidFill>
                  <a:srgbClr val="FFFFFF"/>
                </a:solidFill>
              </a:rPr>
              <a:t>VẤN SỬ DỤNG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smtClean="0">
                <a:solidFill>
                  <a:schemeClr val="dk1"/>
                </a:solidFill>
              </a:rPr>
              <a:t>Các </a:t>
            </a:r>
            <a:r>
              <a:rPr lang="en-US" sz="2400" dirty="0" err="1" smtClean="0">
                <a:solidFill>
                  <a:schemeClr val="dk1"/>
                </a:solidFill>
              </a:rPr>
              <a:t>hướng</a:t>
            </a:r>
            <a:r>
              <a:rPr lang="en-US" sz="2400" dirty="0" smtClean="0">
                <a:solidFill>
                  <a:schemeClr val="dk1"/>
                </a:solidFill>
              </a:rPr>
              <a:t> </a:t>
            </a:r>
            <a:r>
              <a:rPr lang="en-US" sz="2400" dirty="0" err="1" smtClean="0">
                <a:solidFill>
                  <a:schemeClr val="dk1"/>
                </a:solidFill>
              </a:rPr>
              <a:t>tích</a:t>
            </a:r>
            <a:r>
              <a:rPr lang="en-US" sz="2400" dirty="0" smtClean="0">
                <a:solidFill>
                  <a:schemeClr val="dk1"/>
                </a:solidFill>
              </a:rPr>
              <a:t> hợp </a:t>
            </a:r>
          </a:p>
          <a:p>
            <a:pPr marL="360045" lvl="0" indent="-347345">
              <a:spcBef>
                <a:spcPts val="1130"/>
              </a:spcBef>
              <a:buClr>
                <a:srgbClr val="F79646"/>
              </a:buClr>
              <a:buSzPts val="2400"/>
              <a:buFont typeface="Arial"/>
              <a:buChar char="❖"/>
            </a:pPr>
            <a:r>
              <a:rPr lang="en-US" sz="2400" dirty="0" err="1" smtClean="0">
                <a:solidFill>
                  <a:schemeClr val="dk1"/>
                </a:solidFill>
              </a:rPr>
              <a:t>Quá</a:t>
            </a:r>
            <a:r>
              <a:rPr lang="en-US" sz="2400" dirty="0" smtClean="0">
                <a:solidFill>
                  <a:schemeClr val="dk1"/>
                </a:solidFill>
              </a:rPr>
              <a:t> </a:t>
            </a:r>
            <a:r>
              <a:rPr lang="en-US" sz="2400" dirty="0" err="1" smtClean="0">
                <a:solidFill>
                  <a:schemeClr val="dk1"/>
                </a:solidFill>
              </a:rPr>
              <a:t>trình</a:t>
            </a:r>
            <a:r>
              <a:rPr lang="en-US" sz="2400" dirty="0" smtClean="0">
                <a:solidFill>
                  <a:schemeClr val="dk1"/>
                </a:solidFill>
              </a:rPr>
              <a:t>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Yêu</a:t>
            </a:r>
            <a:r>
              <a:rPr lang="en-US" sz="2400" dirty="0" smtClean="0">
                <a:solidFill>
                  <a:schemeClr val="dk1"/>
                </a:solidFill>
              </a:rPr>
              <a:t> cầu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tiếp </a:t>
            </a:r>
            <a:r>
              <a:rPr lang="en-US" sz="2400" dirty="0" err="1" smtClean="0">
                <a:solidFill>
                  <a:schemeClr val="dk1"/>
                </a:solidFill>
              </a:rPr>
              <a:t>theo</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955800" y="1911350"/>
            <a:ext cx="5156200" cy="1938992"/>
          </a:xfrm>
          <a:prstGeom prst="rect">
            <a:avLst/>
          </a:prstGeom>
          <a:noFill/>
        </p:spPr>
        <p:txBody>
          <a:bodyPr wrap="square" rtlCol="0">
            <a:spAutoFit/>
          </a:bodyPr>
          <a:lstStyle/>
          <a:p>
            <a:pPr algn="ctr"/>
            <a:r>
              <a:rPr lang="en-US" sz="6000" b="1" dirty="0" smtClean="0">
                <a:solidFill>
                  <a:srgbClr val="0070C0"/>
                </a:solidFill>
              </a:rPr>
              <a:t>CÁC HƯỚNG TÍCH HỢP</a:t>
            </a:r>
            <a:endParaRPr lang="en-US" sz="6000" dirty="0">
              <a:solidFill>
                <a:srgbClr val="0070C0"/>
              </a:solidFill>
            </a:endParaRPr>
          </a:p>
        </p:txBody>
      </p:sp>
    </p:spTree>
    <p:extLst>
      <p:ext uri="{BB962C8B-B14F-4D97-AF65-F5344CB8AC3E}">
        <p14:creationId xmlns:p14="http://schemas.microsoft.com/office/powerpoint/2010/main" val="216734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a:t>
            </a:r>
            <a:r>
              <a:rPr lang="en-US" sz="2000" dirty="0" err="1" smtClean="0">
                <a:solidFill>
                  <a:schemeClr val="tx1">
                    <a:lumMod val="50000"/>
                    <a:lumOff val="50000"/>
                  </a:schemeClr>
                </a:solidFill>
              </a:rPr>
              <a:t>dạng</a:t>
            </a:r>
            <a:r>
              <a:rPr lang="en-US" sz="2000" dirty="0" smtClean="0">
                <a:solidFill>
                  <a:schemeClr val="tx1">
                    <a:lumMod val="50000"/>
                    <a:lumOff val="50000"/>
                  </a:schemeClr>
                </a:solidFill>
              </a:rPr>
              <a:t> text</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a:t>
            </a:r>
            <a:r>
              <a:rPr lang="en-US" sz="2400" dirty="0" err="1" smtClean="0">
                <a:solidFill>
                  <a:schemeClr val="tx1"/>
                </a:solidFill>
              </a:rPr>
              <a:t>ngữ</a:t>
            </a:r>
            <a:r>
              <a:rPr lang="en-US" sz="2400" dirty="0" smtClean="0">
                <a:solidFill>
                  <a:schemeClr val="tx1"/>
                </a:solidFill>
              </a:rPr>
              <a:t> </a:t>
            </a:r>
            <a:r>
              <a:rPr lang="en-US" sz="2400" dirty="0" err="1" smtClean="0">
                <a:solidFill>
                  <a:schemeClr val="tx1"/>
                </a:solidFill>
              </a:rPr>
              <a:t>nghĩa</a:t>
            </a:r>
            <a:r>
              <a:rPr lang="en-US" sz="2400" dirty="0" smtClean="0">
                <a:solidFill>
                  <a:schemeClr val="tx1"/>
                </a:solidFill>
              </a:rPr>
              <a:t> và </a:t>
            </a:r>
            <a:r>
              <a:rPr lang="en-US" sz="2400" dirty="0" err="1" smtClean="0">
                <a:solidFill>
                  <a:schemeClr val="tx1"/>
                </a:solidFill>
              </a:rPr>
              <a:t>thông</a:t>
            </a:r>
            <a:r>
              <a:rPr lang="en-US" sz="2400" dirty="0" smtClean="0">
                <a:solidFill>
                  <a:schemeClr val="tx1"/>
                </a:solidFill>
              </a:rPr>
              <a:t> tin </a:t>
            </a:r>
            <a:r>
              <a:rPr lang="en-US" sz="2400" dirty="0" err="1" smtClean="0">
                <a:solidFill>
                  <a:schemeClr val="tx1"/>
                </a:solidFill>
              </a:rPr>
              <a:t>cộng</a:t>
            </a:r>
            <a:r>
              <a:rPr lang="en-US" sz="2400" dirty="0" smtClean="0">
                <a:solidFill>
                  <a:schemeClr val="tx1"/>
                </a:solidFill>
              </a:rPr>
              <a:t> </a:t>
            </a:r>
            <a:r>
              <a:rPr lang="en-US" sz="2400" dirty="0" err="1" smtClean="0">
                <a:solidFill>
                  <a:schemeClr val="tx1"/>
                </a:solidFill>
              </a:rPr>
              <a:t>tác</a:t>
            </a:r>
            <a:endParaRPr lang="vi-VN" sz="2400" dirty="0">
              <a:solidFill>
                <a:schemeClr val="tx1"/>
              </a:solidFill>
            </a:endParaRPr>
          </a:p>
        </p:txBody>
      </p:sp>
      <p:sp>
        <p:nvSpPr>
          <p:cNvPr id="2" name="TextBox 1"/>
          <p:cNvSpPr txBox="1"/>
          <p:nvPr/>
        </p:nvSpPr>
        <p:spPr>
          <a:xfrm>
            <a:off x="576306" y="1689669"/>
            <a:ext cx="4150439" cy="2462213"/>
          </a:xfrm>
          <a:prstGeom prst="rect">
            <a:avLst/>
          </a:prstGeom>
          <a:noFill/>
        </p:spPr>
        <p:txBody>
          <a:bodyPr wrap="square" rtlCol="0">
            <a:spAutoFit/>
          </a:bodyPr>
          <a:lstStyle/>
          <a:p>
            <a:r>
              <a:rPr lang="vi-VN" dirty="0"/>
              <a:t>Phương pháp này thêm các token và embedding vào LLM để đại diện cho người dùng và sản phẩm, sau đó sử dụng dữ liệu tương tác để nắm bắt thông tin hợp tác trong không gian ẩn. Tuy nhiên, phương pháp gặp phải hai thách thức chính: </a:t>
            </a:r>
            <a:r>
              <a:rPr lang="en-US" dirty="0" smtClean="0"/>
              <a:t/>
            </a:r>
            <a:br>
              <a:rPr lang="en-US" dirty="0" smtClean="0"/>
            </a:br>
            <a:r>
              <a:rPr lang="en-US" dirty="0" smtClean="0"/>
              <a:t>- </a:t>
            </a:r>
            <a:r>
              <a:rPr lang="en-US" dirty="0"/>
              <a:t>H</a:t>
            </a:r>
            <a:r>
              <a:rPr lang="vi-VN" dirty="0" smtClean="0"/>
              <a:t>iệu </a:t>
            </a:r>
            <a:r>
              <a:rPr lang="vi-VN" dirty="0"/>
              <a:t>quả học thấp do tính chất low-rank của thông tin hợp tác </a:t>
            </a:r>
            <a:r>
              <a:rPr lang="en-US" dirty="0"/>
              <a:t/>
            </a:r>
            <a:br>
              <a:rPr lang="en-US" dirty="0"/>
            </a:br>
            <a:r>
              <a:rPr lang="en-US" dirty="0" smtClean="0"/>
              <a:t>- </a:t>
            </a:r>
            <a:r>
              <a:rPr lang="en-US" dirty="0"/>
              <a:t>D</a:t>
            </a:r>
            <a:r>
              <a:rPr lang="vi-VN" dirty="0" smtClean="0"/>
              <a:t>ư </a:t>
            </a:r>
            <a:r>
              <a:rPr lang="vi-VN" dirty="0"/>
              <a:t>thừa tokenization khi sử dụng token bổ sung cho người dùng và sản phẩm, làm giảm hiệu quả xử lý.</a:t>
            </a:r>
          </a:p>
        </p:txBody>
      </p:sp>
      <p:sp>
        <p:nvSpPr>
          <p:cNvPr id="7" name="TextBox 6"/>
          <p:cNvSpPr txBox="1"/>
          <p:nvPr/>
        </p:nvSpPr>
        <p:spPr>
          <a:xfrm>
            <a:off x="5574012" y="3593052"/>
            <a:ext cx="2475358" cy="246221"/>
          </a:xfrm>
          <a:prstGeom prst="rect">
            <a:avLst/>
          </a:prstGeom>
          <a:noFill/>
        </p:spPr>
        <p:txBody>
          <a:bodyPr wrap="none" rtlCol="0">
            <a:spAutoFit/>
          </a:bodyPr>
          <a:lstStyle/>
          <a:p>
            <a:pPr algn="ctr"/>
            <a:r>
              <a:rPr lang="en-US" sz="1000" dirty="0" smtClean="0"/>
              <a:t>Hình: Prompt </a:t>
            </a:r>
            <a:r>
              <a:rPr lang="en-US" sz="1000" dirty="0" err="1" smtClean="0"/>
              <a:t>tích</a:t>
            </a:r>
            <a:r>
              <a:rPr lang="en-US" sz="1000" dirty="0" smtClean="0"/>
              <a:t> hợp </a:t>
            </a:r>
            <a:r>
              <a:rPr lang="en-US" sz="1000" dirty="0" err="1" smtClean="0"/>
              <a:t>thông</a:t>
            </a:r>
            <a:r>
              <a:rPr lang="en-US" sz="1000" dirty="0" smtClean="0"/>
              <a:t> tin </a:t>
            </a:r>
            <a:r>
              <a:rPr lang="en-US" sz="1000" dirty="0" err="1" smtClean="0"/>
              <a:t>cộng</a:t>
            </a:r>
            <a:r>
              <a:rPr lang="en-US" sz="1000" dirty="0" smtClean="0"/>
              <a:t> </a:t>
            </a:r>
            <a:r>
              <a:rPr lang="en-US" sz="1000" dirty="0" err="1" smtClean="0"/>
              <a:t>tác</a:t>
            </a:r>
            <a:endParaRPr lang="en-US" sz="1000" dirty="0"/>
          </a:p>
        </p:txBody>
      </p:sp>
      <p:pic>
        <p:nvPicPr>
          <p:cNvPr id="4" name="Picture 3"/>
          <p:cNvPicPr>
            <a:picLocks noChangeAspect="1"/>
          </p:cNvPicPr>
          <p:nvPr/>
        </p:nvPicPr>
        <p:blipFill>
          <a:blip r:embed="rId3"/>
          <a:stretch>
            <a:fillRect/>
          </a:stretch>
        </p:blipFill>
        <p:spPr>
          <a:xfrm>
            <a:off x="4950542" y="1955418"/>
            <a:ext cx="3848100" cy="1543050"/>
          </a:xfrm>
          <a:prstGeom prst="rect">
            <a:avLst/>
          </a:prstGeom>
        </p:spPr>
      </p:pic>
    </p:spTree>
    <p:extLst>
      <p:ext uri="{BB962C8B-B14F-4D97-AF65-F5344CB8AC3E}">
        <p14:creationId xmlns:p14="http://schemas.microsoft.com/office/powerpoint/2010/main" val="1207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a:t>
            </a:r>
            <a:r>
              <a:rPr lang="en-US" sz="2000" dirty="0" err="1" smtClean="0">
                <a:solidFill>
                  <a:schemeClr val="tx1">
                    <a:lumMod val="50000"/>
                    <a:lumOff val="50000"/>
                  </a:schemeClr>
                </a:solidFill>
              </a:rPr>
              <a:t>dạng</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embeding</a:t>
            </a:r>
            <a:r>
              <a:rPr lang="en-US" sz="2000" dirty="0" smtClean="0">
                <a:solidFill>
                  <a:schemeClr val="tx1">
                    <a:lumMod val="50000"/>
                    <a:lumOff val="50000"/>
                  </a:schemeClr>
                </a:solidFill>
              </a:rPr>
              <a:t> vector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a:t>
            </a:r>
            <a:r>
              <a:rPr lang="en-US" sz="2400" dirty="0" err="1" smtClean="0">
                <a:solidFill>
                  <a:schemeClr val="tx1"/>
                </a:solidFill>
              </a:rPr>
              <a:t>ngữ</a:t>
            </a:r>
            <a:r>
              <a:rPr lang="en-US" sz="2400" dirty="0" smtClean="0">
                <a:solidFill>
                  <a:schemeClr val="tx1"/>
                </a:solidFill>
              </a:rPr>
              <a:t> </a:t>
            </a:r>
            <a:r>
              <a:rPr lang="en-US" sz="2400" dirty="0" err="1" smtClean="0">
                <a:solidFill>
                  <a:schemeClr val="tx1"/>
                </a:solidFill>
              </a:rPr>
              <a:t>nghĩa</a:t>
            </a:r>
            <a:r>
              <a:rPr lang="en-US" sz="2400" dirty="0" smtClean="0">
                <a:solidFill>
                  <a:schemeClr val="tx1"/>
                </a:solidFill>
              </a:rPr>
              <a:t> và </a:t>
            </a:r>
            <a:r>
              <a:rPr lang="en-US" sz="2400" dirty="0" err="1" smtClean="0">
                <a:solidFill>
                  <a:schemeClr val="tx1"/>
                </a:solidFill>
              </a:rPr>
              <a:t>thông</a:t>
            </a:r>
            <a:r>
              <a:rPr lang="en-US" sz="2400" dirty="0" smtClean="0">
                <a:solidFill>
                  <a:schemeClr val="tx1"/>
                </a:solidFill>
              </a:rPr>
              <a:t> tin </a:t>
            </a:r>
            <a:r>
              <a:rPr lang="en-US" sz="2400" dirty="0" err="1" smtClean="0">
                <a:solidFill>
                  <a:schemeClr val="tx1"/>
                </a:solidFill>
              </a:rPr>
              <a:t>cộng</a:t>
            </a:r>
            <a:r>
              <a:rPr lang="en-US" sz="2400" dirty="0" smtClean="0">
                <a:solidFill>
                  <a:schemeClr val="tx1"/>
                </a:solidFill>
              </a:rPr>
              <a:t> </a:t>
            </a:r>
            <a:r>
              <a:rPr lang="en-US" sz="2400" dirty="0" err="1" smtClean="0">
                <a:solidFill>
                  <a:schemeClr val="tx1"/>
                </a:solidFill>
              </a:rPr>
              <a:t>tác</a:t>
            </a:r>
            <a:endParaRPr lang="vi-VN" sz="2400" dirty="0">
              <a:solidFill>
                <a:schemeClr val="tx1"/>
              </a:solidFill>
            </a:endParaRPr>
          </a:p>
        </p:txBody>
      </p:sp>
      <p:sp>
        <p:nvSpPr>
          <p:cNvPr id="2" name="TextBox 1"/>
          <p:cNvSpPr txBox="1"/>
          <p:nvPr/>
        </p:nvSpPr>
        <p:spPr>
          <a:xfrm>
            <a:off x="576306" y="1622442"/>
            <a:ext cx="4248912" cy="3108543"/>
          </a:xfrm>
          <a:prstGeom prst="rect">
            <a:avLst/>
          </a:prstGeom>
          <a:noFill/>
        </p:spPr>
        <p:txBody>
          <a:bodyPr wrap="square" rtlCol="0">
            <a:spAutoFit/>
          </a:bodyPr>
          <a:lstStyle/>
          <a:p>
            <a:r>
              <a:rPr lang="vi-VN" dirty="0"/>
              <a:t>Thay vì học các </a:t>
            </a:r>
            <a:r>
              <a:rPr lang="vi-VN" b="1" dirty="0"/>
              <a:t>collaborative embeddings</a:t>
            </a:r>
            <a:r>
              <a:rPr lang="vi-VN" dirty="0"/>
              <a:t> trực tiếp trong LLM, chiến lược thứ hai sử dụng </a:t>
            </a:r>
            <a:r>
              <a:rPr lang="vi-VN" b="1" dirty="0"/>
              <a:t>mô hình yếu tố tiềm ẩn bên ngoài</a:t>
            </a:r>
            <a:r>
              <a:rPr lang="vi-VN" dirty="0"/>
              <a:t> (ví dụ: matrix factorization) để nắm bắt các tín hiệu hợp tác (mô hình tương tác người dùng-sản phẩm). Các embeddings này sau đó được ** ánh xạ vào không gian nhúng token của LLM**.</a:t>
            </a:r>
          </a:p>
          <a:p>
            <a:r>
              <a:rPr lang="vi-VN" b="1" dirty="0"/>
              <a:t>Ưu điểm</a:t>
            </a:r>
            <a:r>
              <a:rPr lang="vi-VN" dirty="0"/>
              <a:t>: Nó giúp </a:t>
            </a:r>
            <a:r>
              <a:rPr lang="vi-VN" b="1" dirty="0"/>
              <a:t>bỏ qua việc huấn luyện lại các embeddings hợp tác từ đầu</a:t>
            </a:r>
            <a:r>
              <a:rPr lang="vi-VN" dirty="0"/>
              <a:t>.</a:t>
            </a:r>
          </a:p>
          <a:p>
            <a:r>
              <a:rPr lang="vi-VN" b="1" dirty="0"/>
              <a:t>Thách thức</a:t>
            </a:r>
            <a:r>
              <a:rPr lang="vi-VN" dirty="0"/>
              <a:t>: Phương pháp này yêu cầu thêm chi phí để huấn luyện mô hình ánh xạ, và nó gặp phải vấn đề </a:t>
            </a:r>
            <a:r>
              <a:rPr lang="vi-VN" b="1" dirty="0"/>
              <a:t>căn chỉnh</a:t>
            </a:r>
            <a:r>
              <a:rPr lang="vi-VN" dirty="0"/>
              <a:t> vì các embeddings tạo ra không hoàn toàn khớp với cấu trúc mã hóa văn bản gốc của LLM.</a:t>
            </a:r>
          </a:p>
        </p:txBody>
      </p:sp>
      <p:sp>
        <p:nvSpPr>
          <p:cNvPr id="7" name="TextBox 6"/>
          <p:cNvSpPr txBox="1"/>
          <p:nvPr/>
        </p:nvSpPr>
        <p:spPr>
          <a:xfrm>
            <a:off x="6396351" y="3593052"/>
            <a:ext cx="830677" cy="246221"/>
          </a:xfrm>
          <a:prstGeom prst="rect">
            <a:avLst/>
          </a:prstGeom>
          <a:noFill/>
        </p:spPr>
        <p:txBody>
          <a:bodyPr wrap="none" rtlCol="0">
            <a:spAutoFit/>
          </a:bodyPr>
          <a:lstStyle/>
          <a:p>
            <a:pPr algn="ctr"/>
            <a:r>
              <a:rPr lang="en-US" sz="1000" dirty="0" smtClean="0"/>
              <a:t>Hình: </a:t>
            </a:r>
            <a:r>
              <a:rPr lang="en-US" sz="1000" dirty="0" err="1" smtClean="0"/>
              <a:t>Tisch</a:t>
            </a:r>
            <a:endParaRPr lang="en-US" sz="1000" dirty="0"/>
          </a:p>
        </p:txBody>
      </p:sp>
      <p:pic>
        <p:nvPicPr>
          <p:cNvPr id="4" name="Picture 3"/>
          <p:cNvPicPr>
            <a:picLocks noChangeAspect="1"/>
          </p:cNvPicPr>
          <p:nvPr/>
        </p:nvPicPr>
        <p:blipFill>
          <a:blip r:embed="rId3"/>
          <a:stretch>
            <a:fillRect/>
          </a:stretch>
        </p:blipFill>
        <p:spPr>
          <a:xfrm>
            <a:off x="4950542" y="1955418"/>
            <a:ext cx="3848100" cy="1543050"/>
          </a:xfrm>
          <a:prstGeom prst="rect">
            <a:avLst/>
          </a:prstGeom>
        </p:spPr>
      </p:pic>
    </p:spTree>
    <p:extLst>
      <p:ext uri="{BB962C8B-B14F-4D97-AF65-F5344CB8AC3E}">
        <p14:creationId xmlns:p14="http://schemas.microsoft.com/office/powerpoint/2010/main" val="223679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627455" y="1360853"/>
            <a:ext cx="6264519" cy="1938992"/>
          </a:xfrm>
          <a:prstGeom prst="rect">
            <a:avLst/>
          </a:prstGeom>
          <a:noFill/>
        </p:spPr>
        <p:txBody>
          <a:bodyPr wrap="square" rtlCol="0">
            <a:spAutoFit/>
          </a:bodyPr>
          <a:lstStyle/>
          <a:p>
            <a:pPr algn="ctr"/>
            <a:r>
              <a:rPr lang="en-US" sz="6000" b="1" dirty="0" smtClean="0">
                <a:solidFill>
                  <a:srgbClr val="0070C0"/>
                </a:solidFill>
              </a:rPr>
              <a:t>QUÁ TRÌNH HUẤN LUYỆN</a:t>
            </a:r>
            <a:endParaRPr lang="en-US" sz="6000" dirty="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2" name="TextBox 1"/>
          <p:cNvSpPr txBox="1"/>
          <p:nvPr/>
        </p:nvSpPr>
        <p:spPr>
          <a:xfrm>
            <a:off x="576306" y="1801471"/>
            <a:ext cx="4440862" cy="2677656"/>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Mô</a:t>
            </a:r>
            <a:r>
              <a:rPr lang="en-US" dirty="0" smtClean="0"/>
              <a:t> hình </a:t>
            </a:r>
            <a:r>
              <a:rPr lang="en-US" b="1" dirty="0"/>
              <a:t>s</a:t>
            </a:r>
            <a:r>
              <a:rPr lang="en-US" b="1" dirty="0" smtClean="0"/>
              <a:t>tate-of-the-art </a:t>
            </a:r>
            <a:r>
              <a:rPr lang="en-US" b="1" dirty="0" err="1" smtClean="0"/>
              <a:t>LLMRec</a:t>
            </a:r>
            <a:endParaRPr lang="en-US" dirty="0" smtClean="0"/>
          </a:p>
          <a:p>
            <a:pPr marL="285750" indent="-285750" algn="just">
              <a:buFont typeface="Arial" panose="020B0604020202020204" pitchFamily="34" charset="0"/>
              <a:buChar char="•"/>
            </a:pPr>
            <a:r>
              <a:rPr lang="en-US" dirty="0" err="1"/>
              <a:t>Trích</a:t>
            </a:r>
            <a:r>
              <a:rPr lang="en-US" dirty="0"/>
              <a:t> </a:t>
            </a:r>
            <a:r>
              <a:rPr lang="en-US" dirty="0" err="1"/>
              <a:t>xuất</a:t>
            </a:r>
            <a:r>
              <a:rPr lang="en-US" dirty="0"/>
              <a:t> </a:t>
            </a:r>
            <a:r>
              <a:rPr lang="en-US" dirty="0" err="1"/>
              <a:t>tín</a:t>
            </a:r>
            <a:r>
              <a:rPr lang="en-US" dirty="0"/>
              <a:t> </a:t>
            </a:r>
            <a:r>
              <a:rPr lang="en-US" dirty="0" err="1"/>
              <a:t>hiệu</a:t>
            </a:r>
            <a:r>
              <a:rPr lang="en-US" dirty="0"/>
              <a:t> </a:t>
            </a:r>
            <a:r>
              <a:rPr lang="en-US" dirty="0" err="1"/>
              <a:t>cộng</a:t>
            </a:r>
            <a:r>
              <a:rPr lang="en-US" dirty="0"/>
              <a:t> </a:t>
            </a:r>
            <a:r>
              <a:rPr lang="en-US" dirty="0" err="1"/>
              <a:t>tác</a:t>
            </a:r>
            <a:r>
              <a:rPr lang="en-US" dirty="0"/>
              <a:t> </a:t>
            </a:r>
            <a:r>
              <a:rPr lang="en-US" dirty="0" err="1"/>
              <a:t>thông</a:t>
            </a:r>
            <a:r>
              <a:rPr lang="en-US" dirty="0"/>
              <a:t> qua </a:t>
            </a:r>
            <a:r>
              <a:rPr lang="en-US" dirty="0" err="1"/>
              <a:t>sử</a:t>
            </a:r>
            <a:r>
              <a:rPr lang="en-US" dirty="0"/>
              <a:t> </a:t>
            </a:r>
            <a:r>
              <a:rPr lang="en-US" dirty="0" err="1"/>
              <a:t>dụng</a:t>
            </a:r>
            <a:r>
              <a:rPr lang="en-US" dirty="0"/>
              <a:t> các </a:t>
            </a:r>
            <a:r>
              <a:rPr lang="en-US" dirty="0" err="1"/>
              <a:t>mô</a:t>
            </a:r>
            <a:r>
              <a:rPr lang="en-US" dirty="0"/>
              <a:t> hình </a:t>
            </a:r>
            <a:r>
              <a:rPr lang="en-US" dirty="0" err="1"/>
              <a:t>truyền</a:t>
            </a:r>
            <a:r>
              <a:rPr lang="en-US" dirty="0"/>
              <a:t> </a:t>
            </a:r>
            <a:r>
              <a:rPr lang="en-US" dirty="0" err="1"/>
              <a:t>thống</a:t>
            </a:r>
            <a:r>
              <a:rPr lang="en-US" dirty="0"/>
              <a:t> như </a:t>
            </a:r>
            <a:r>
              <a:rPr lang="en-US" dirty="0" smtClean="0"/>
              <a:t>MF </a:t>
            </a:r>
            <a:r>
              <a:rPr lang="en-US" dirty="0" err="1" smtClean="0"/>
              <a:t>hoặc</a:t>
            </a:r>
            <a:r>
              <a:rPr lang="en-US" dirty="0" smtClean="0"/>
              <a:t> DIN.</a:t>
            </a:r>
          </a:p>
          <a:p>
            <a:pPr marL="285750" indent="-285750" algn="just">
              <a:buFont typeface="Arial" panose="020B0604020202020204" pitchFamily="34" charset="0"/>
              <a:buChar char="•"/>
            </a:pPr>
            <a:r>
              <a:rPr lang="en-US" dirty="0" err="1" smtClean="0"/>
              <a:t>Tích</a:t>
            </a:r>
            <a:r>
              <a:rPr lang="en-US" dirty="0" smtClean="0"/>
              <a:t> hợp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 bằng </a:t>
            </a:r>
            <a:r>
              <a:rPr lang="en-US" dirty="0" err="1" smtClean="0"/>
              <a:t>cách</a:t>
            </a:r>
            <a:r>
              <a:rPr lang="en-US" dirty="0" smtClean="0"/>
              <a:t> </a:t>
            </a:r>
            <a:r>
              <a:rPr lang="en-US" dirty="0" err="1" smtClean="0"/>
              <a:t>ánh</a:t>
            </a:r>
            <a:r>
              <a:rPr lang="en-US" dirty="0" smtClean="0"/>
              <a:t> </a:t>
            </a:r>
            <a:r>
              <a:rPr lang="en-US" dirty="0" err="1" smtClean="0"/>
              <a:t>xạ</a:t>
            </a:r>
            <a:r>
              <a:rPr lang="en-US" dirty="0" smtClean="0"/>
              <a:t> vector </a:t>
            </a:r>
            <a:r>
              <a:rPr lang="en-US" dirty="0" err="1" smtClean="0"/>
              <a:t>cộng</a:t>
            </a:r>
            <a:r>
              <a:rPr lang="en-US" dirty="0" smtClean="0"/>
              <a:t> </a:t>
            </a:r>
            <a:r>
              <a:rPr lang="en-US" dirty="0" err="1" smtClean="0"/>
              <a:t>tác</a:t>
            </a:r>
            <a:r>
              <a:rPr lang="en-US" dirty="0" smtClean="0"/>
              <a:t> vào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của LLM </a:t>
            </a:r>
            <a:r>
              <a:rPr lang="en-US" dirty="0" err="1" smtClean="0"/>
              <a:t>thông</a:t>
            </a:r>
            <a:r>
              <a:rPr lang="en-US" dirty="0" smtClean="0"/>
              <a:t> qua 1 </a:t>
            </a:r>
            <a:r>
              <a:rPr lang="en-US" dirty="0" err="1" smtClean="0"/>
              <a:t>lớp</a:t>
            </a:r>
            <a:r>
              <a:rPr lang="en-US" dirty="0" smtClean="0"/>
              <a:t> Projection </a:t>
            </a:r>
            <a:r>
              <a:rPr lang="en-US" dirty="0" err="1" smtClean="0"/>
              <a:t>đơn</a:t>
            </a:r>
            <a:r>
              <a:rPr lang="en-US" dirty="0" smtClean="0"/>
              <a:t> </a:t>
            </a:r>
            <a:r>
              <a:rPr lang="en-US" dirty="0" err="1" smtClean="0"/>
              <a:t>giản</a:t>
            </a:r>
            <a:r>
              <a:rPr lang="en-US" dirty="0" smtClean="0"/>
              <a:t>.</a:t>
            </a:r>
            <a:endParaRPr lang="en-US" dirty="0"/>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a:t>
            </a:r>
            <a:r>
              <a:rPr lang="en-US" dirty="0" err="1" smtClean="0"/>
              <a:t>để</a:t>
            </a:r>
            <a:r>
              <a:rPr lang="en-US" dirty="0" smtClean="0"/>
              <a:t> </a:t>
            </a:r>
            <a:r>
              <a:rPr lang="en-US" dirty="0" err="1" smtClean="0"/>
              <a:t>finetune</a:t>
            </a:r>
            <a:r>
              <a:rPr lang="en-US" dirty="0" smtClean="0"/>
              <a:t> </a:t>
            </a:r>
            <a:r>
              <a:rPr lang="en-US" dirty="0" err="1" smtClean="0"/>
              <a:t>tác</a:t>
            </a:r>
            <a:r>
              <a:rPr lang="en-US" dirty="0" smtClean="0"/>
              <a:t> vụ tư vấn </a:t>
            </a:r>
            <a:r>
              <a:rPr lang="en-US" dirty="0" err="1" smtClean="0"/>
              <a:t>cho</a:t>
            </a:r>
            <a:r>
              <a:rPr lang="en-US" dirty="0" smtClean="0"/>
              <a:t> </a:t>
            </a:r>
            <a:r>
              <a:rPr lang="en-US" dirty="0" err="1" smtClean="0"/>
              <a:t>mô</a:t>
            </a:r>
            <a:r>
              <a:rPr lang="en-US" dirty="0" smtClean="0"/>
              <a:t> hình LLMs.</a:t>
            </a:r>
          </a:p>
          <a:p>
            <a:pPr marL="285750" indent="-285750" algn="just">
              <a:buFont typeface="Arial" panose="020B0604020202020204" pitchFamily="34" charset="0"/>
              <a:buChar char="•"/>
            </a:pPr>
            <a:r>
              <a:rPr lang="en-US" dirty="0" err="1" smtClean="0"/>
              <a:t>Xây</a:t>
            </a:r>
            <a:r>
              <a:rPr lang="en-US" dirty="0" smtClean="0"/>
              <a:t> </a:t>
            </a:r>
            <a:r>
              <a:rPr lang="en-US" dirty="0" err="1" smtClean="0"/>
              <a:t>dựng</a:t>
            </a:r>
            <a:r>
              <a:rPr lang="en-US" dirty="0" smtClean="0"/>
              <a:t> few-shot prompt.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23504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2" name="TextBox 1"/>
          <p:cNvSpPr txBox="1"/>
          <p:nvPr/>
        </p:nvSpPr>
        <p:spPr>
          <a:xfrm>
            <a:off x="576306" y="1801471"/>
            <a:ext cx="4440862" cy="1600438"/>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Stage 1: tunin</a:t>
            </a:r>
            <a:r>
              <a:rPr lang="en-US" dirty="0" smtClean="0"/>
              <a:t>g </a:t>
            </a:r>
            <a:r>
              <a:rPr lang="en-US" dirty="0" err="1" smtClean="0"/>
              <a:t>LoRA</a:t>
            </a:r>
            <a:r>
              <a:rPr lang="en-US" dirty="0" smtClean="0"/>
              <a:t>, </a:t>
            </a:r>
            <a:r>
              <a:rPr lang="en-US" dirty="0" err="1" smtClean="0"/>
              <a:t>không</a:t>
            </a:r>
            <a:r>
              <a:rPr lang="en-US" dirty="0" smtClean="0"/>
              <a:t> </a:t>
            </a:r>
            <a:r>
              <a:rPr lang="en-US" dirty="0" err="1" smtClean="0"/>
              <a:t>nhúng</a:t>
            </a:r>
            <a:r>
              <a:rPr lang="en-US" dirty="0" smtClean="0"/>
              <a:t> </a:t>
            </a:r>
            <a:r>
              <a:rPr lang="en-US" dirty="0" err="1" smtClean="0"/>
              <a:t>thông</a:t>
            </a:r>
            <a:r>
              <a:rPr lang="en-US" dirty="0" smtClean="0"/>
              <a:t> tin </a:t>
            </a:r>
            <a:r>
              <a:rPr lang="en-US" dirty="0" err="1" smtClean="0"/>
              <a:t>cộng</a:t>
            </a:r>
            <a:r>
              <a:rPr lang="en-US" dirty="0" smtClean="0"/>
              <a:t> </a:t>
            </a:r>
            <a:r>
              <a:rPr lang="en-US" dirty="0" err="1" smtClean="0"/>
              <a:t>tác</a:t>
            </a:r>
            <a:endParaRPr lang="en-US" dirty="0" smtClean="0"/>
          </a:p>
          <a:p>
            <a:pPr marL="285750" indent="-285750" algn="just">
              <a:buFont typeface="Arial" panose="020B0604020202020204" pitchFamily="34" charset="0"/>
              <a:buChar char="•"/>
            </a:pPr>
            <a:r>
              <a:rPr lang="en-US" dirty="0" smtClean="0"/>
              <a:t>Stage 2: tuning </a:t>
            </a:r>
            <a:r>
              <a:rPr lang="en-US" dirty="0" err="1" smtClean="0"/>
              <a:t>lớp</a:t>
            </a:r>
            <a:r>
              <a:rPr lang="en-US" dirty="0" smtClean="0"/>
              <a:t> mapping, </a:t>
            </a:r>
            <a:r>
              <a:rPr lang="en-US" dirty="0" err="1" smtClean="0"/>
              <a:t>sử</a:t>
            </a:r>
            <a:r>
              <a:rPr lang="en-US" dirty="0" smtClean="0"/>
              <a:t> </a:t>
            </a:r>
            <a:r>
              <a:rPr lang="en-US" dirty="0" err="1" smtClean="0"/>
              <a:t>dụng</a:t>
            </a:r>
            <a:r>
              <a:rPr lang="en-US" dirty="0" smtClean="0"/>
              <a:t> </a:t>
            </a:r>
            <a:r>
              <a:rPr lang="en-US" dirty="0" err="1" smtClean="0"/>
              <a:t>thêm</a:t>
            </a:r>
            <a:r>
              <a:rPr lang="en-US" dirty="0" smtClean="0"/>
              <a:t>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a:t>
            </a:r>
            <a:endParaRPr lang="en-US" dirty="0" smtClean="0"/>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3723368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BinLLM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2" name="TextBox 1"/>
          <p:cNvSpPr txBox="1"/>
          <p:nvPr/>
        </p:nvSpPr>
        <p:spPr>
          <a:xfrm>
            <a:off x="576306" y="1801471"/>
            <a:ext cx="4884694" cy="1815882"/>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Chuyển các vector embedding </a:t>
            </a:r>
            <a:r>
              <a:rPr lang="en-US" dirty="0" err="1" smtClean="0"/>
              <a:t>cộng</a:t>
            </a:r>
            <a:r>
              <a:rPr lang="en-US" dirty="0" smtClean="0"/>
              <a:t> </a:t>
            </a:r>
            <a:r>
              <a:rPr lang="en-US" dirty="0" err="1" smtClean="0"/>
              <a:t>tác</a:t>
            </a:r>
            <a:r>
              <a:rPr lang="en-US" dirty="0" smtClean="0"/>
              <a:t> </a:t>
            </a:r>
            <a:r>
              <a:rPr lang="en-US" dirty="0" err="1" smtClean="0"/>
              <a:t>từ</a:t>
            </a:r>
            <a:r>
              <a:rPr lang="en-US" dirty="0" smtClean="0"/>
              <a:t> </a:t>
            </a:r>
            <a:r>
              <a:rPr lang="en-US" dirty="0" err="1" smtClean="0"/>
              <a:t>mô</a:t>
            </a:r>
            <a:r>
              <a:rPr lang="en-US" dirty="0" smtClean="0"/>
              <a:t> hình MF </a:t>
            </a:r>
            <a:r>
              <a:rPr lang="en-US" dirty="0" err="1" smtClean="0"/>
              <a:t>thành</a:t>
            </a:r>
            <a:r>
              <a:rPr lang="en-US" dirty="0" smtClean="0"/>
              <a:t> </a:t>
            </a:r>
            <a:r>
              <a:rPr lang="en-US" dirty="0" err="1" smtClean="0"/>
              <a:t>chuỗi</a:t>
            </a:r>
            <a:r>
              <a:rPr lang="en-US" dirty="0" smtClean="0"/>
              <a:t> </a:t>
            </a:r>
            <a:r>
              <a:rPr lang="en-US" dirty="0" err="1" smtClean="0"/>
              <a:t>nhị</a:t>
            </a:r>
            <a:r>
              <a:rPr lang="en-US" dirty="0" smtClean="0"/>
              <a:t> </a:t>
            </a:r>
            <a:r>
              <a:rPr lang="en-US" dirty="0" err="1" smtClean="0"/>
              <a:t>phân</a:t>
            </a:r>
            <a:r>
              <a:rPr lang="en-US" dirty="0" smtClean="0"/>
              <a:t> </a:t>
            </a:r>
            <a:r>
              <a:rPr lang="en-US" dirty="0" err="1" smtClean="0"/>
              <a:t>dạng</a:t>
            </a:r>
            <a:r>
              <a:rPr lang="en-US" dirty="0" smtClean="0"/>
              <a:t> text – </a:t>
            </a:r>
            <a:r>
              <a:rPr lang="en-US" dirty="0" err="1" smtClean="0"/>
              <a:t>định</a:t>
            </a:r>
            <a:r>
              <a:rPr lang="en-US" dirty="0" smtClean="0"/>
              <a:t> </a:t>
            </a:r>
            <a:r>
              <a:rPr lang="en-US" dirty="0" err="1" smtClean="0"/>
              <a:t>dạng</a:t>
            </a:r>
            <a:r>
              <a:rPr lang="en-US" dirty="0" smtClean="0"/>
              <a:t> </a:t>
            </a:r>
            <a:r>
              <a:rPr lang="en-US" dirty="0" err="1" smtClean="0"/>
              <a:t>văn</a:t>
            </a:r>
            <a:r>
              <a:rPr lang="en-US" dirty="0" smtClean="0"/>
              <a:t> </a:t>
            </a:r>
            <a:r>
              <a:rPr lang="en-US" dirty="0" err="1" smtClean="0"/>
              <a:t>bản</a:t>
            </a:r>
            <a:r>
              <a:rPr lang="en-US" dirty="0" smtClean="0"/>
              <a:t> mà LLM có thể </a:t>
            </a:r>
            <a:r>
              <a:rPr lang="en-US" dirty="0" err="1" smtClean="0"/>
              <a:t>xử</a:t>
            </a:r>
            <a:r>
              <a:rPr lang="en-US" dirty="0" smtClean="0"/>
              <a:t> </a:t>
            </a:r>
            <a:r>
              <a:rPr lang="en-US" dirty="0" err="1" smtClean="0"/>
              <a:t>lí</a:t>
            </a:r>
            <a:r>
              <a:rPr lang="en-US" dirty="0" smtClean="0"/>
              <a:t>.</a:t>
            </a:r>
          </a:p>
          <a:p>
            <a:pPr marL="285750" indent="-285750" algn="just">
              <a:buFont typeface="Arial" panose="020B0604020202020204" pitchFamily="34" charset="0"/>
              <a:buChar char="•"/>
            </a:pPr>
            <a:r>
              <a:rPr lang="en-US" dirty="0" smtClean="0"/>
              <a:t>Giữ </a:t>
            </a:r>
            <a:r>
              <a:rPr lang="en-US" dirty="0" err="1" smtClean="0"/>
              <a:t>nguyên</a:t>
            </a:r>
            <a:r>
              <a:rPr lang="en-US" dirty="0" smtClean="0"/>
              <a:t> kiến </a:t>
            </a:r>
            <a:r>
              <a:rPr lang="en-US" dirty="0" err="1" smtClean="0"/>
              <a:t>trúc</a:t>
            </a:r>
            <a:r>
              <a:rPr lang="en-US" dirty="0" smtClean="0"/>
              <a:t> của </a:t>
            </a:r>
            <a:r>
              <a:rPr lang="en-US" dirty="0" err="1" smtClean="0"/>
              <a:t>CoLLM</a:t>
            </a:r>
            <a:r>
              <a:rPr lang="en-US" dirty="0" smtClean="0"/>
              <a:t>.</a:t>
            </a:r>
          </a:p>
          <a:p>
            <a:pPr marL="285750" indent="-285750" algn="just">
              <a:buFont typeface="Arial" panose="020B0604020202020204" pitchFamily="34" charset="0"/>
              <a:buChar char="•"/>
            </a:pPr>
            <a:r>
              <a:rPr lang="en-US" dirty="0" err="1" smtClean="0"/>
              <a:t>Cải</a:t>
            </a:r>
            <a:r>
              <a:rPr lang="en-US" dirty="0" smtClean="0"/>
              <a:t> </a:t>
            </a:r>
            <a:r>
              <a:rPr lang="en-US" dirty="0" err="1" smtClean="0"/>
              <a:t>thiện</a:t>
            </a:r>
            <a:r>
              <a:rPr lang="en-US" dirty="0" smtClean="0"/>
              <a:t> </a:t>
            </a:r>
            <a:r>
              <a:rPr lang="en-US" dirty="0" err="1" smtClean="0"/>
              <a:t>hiệu</a:t>
            </a:r>
            <a:r>
              <a:rPr lang="en-US" dirty="0" smtClean="0"/>
              <a:t> </a:t>
            </a:r>
            <a:r>
              <a:rPr lang="en-US" dirty="0" err="1" smtClean="0"/>
              <a:t>năng</a:t>
            </a:r>
            <a:r>
              <a:rPr lang="en-US" dirty="0" smtClean="0"/>
              <a:t> </a:t>
            </a:r>
            <a:r>
              <a:rPr lang="en-US" dirty="0" err="1" smtClean="0"/>
              <a:t>CoLLM</a:t>
            </a:r>
            <a:r>
              <a:rPr lang="en-US" dirty="0" smtClean="0"/>
              <a:t> 1 </a:t>
            </a:r>
            <a:r>
              <a:rPr lang="en-US" dirty="0" err="1" smtClean="0"/>
              <a:t>cách</a:t>
            </a:r>
            <a:r>
              <a:rPr lang="en-US" dirty="0" smtClean="0"/>
              <a:t> </a:t>
            </a:r>
            <a:r>
              <a:rPr lang="en-US" dirty="0" err="1" smtClean="0"/>
              <a:t>đáng</a:t>
            </a:r>
            <a:r>
              <a:rPr lang="en-US" dirty="0" smtClean="0"/>
              <a:t> </a:t>
            </a:r>
            <a:r>
              <a:rPr lang="en-US" dirty="0" err="1" smtClean="0"/>
              <a:t>kể</a:t>
            </a:r>
            <a:r>
              <a:rPr lang="en-US" dirty="0" smtClean="0"/>
              <a: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sp>
        <p:nvSpPr>
          <p:cNvPr id="7" name="TextBox 6"/>
          <p:cNvSpPr txBox="1"/>
          <p:nvPr/>
        </p:nvSpPr>
        <p:spPr>
          <a:xfrm>
            <a:off x="5535205" y="3820239"/>
            <a:ext cx="3575018" cy="707886"/>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a:t>
            </a:r>
            <a:r>
              <a:rPr lang="en-US" sz="1000" dirty="0" err="1" smtClean="0"/>
              <a:t>BinLLM</a:t>
            </a:r>
            <a:r>
              <a:rPr lang="en-US" sz="1000" dirty="0" smtClean="0"/>
              <a:t> và </a:t>
            </a:r>
            <a:r>
              <a:rPr lang="en-US" sz="1000" dirty="0" err="1"/>
              <a:t>Kết</a:t>
            </a:r>
            <a:r>
              <a:rPr lang="en-US" sz="1000" dirty="0"/>
              <a:t> </a:t>
            </a:r>
            <a:r>
              <a:rPr lang="en-US" sz="1000" dirty="0" err="1"/>
              <a:t>quả</a:t>
            </a:r>
            <a:r>
              <a:rPr lang="en-US" sz="1000" dirty="0"/>
              <a:t> out perform trên tập data</a:t>
            </a:r>
            <a:br>
              <a:rPr lang="en-US" sz="1000" dirty="0"/>
            </a:br>
            <a:r>
              <a:rPr lang="en-US" sz="1000" dirty="0"/>
              <a:t>Amazon-Book và ML-1M của </a:t>
            </a:r>
            <a:r>
              <a:rPr lang="en-US" sz="1000" dirty="0" err="1"/>
              <a:t>CoLLM</a:t>
            </a:r>
            <a:r>
              <a:rPr lang="en-US" sz="1000" dirty="0"/>
              <a:t> </a:t>
            </a:r>
            <a:br>
              <a:rPr lang="en-US" sz="1000" dirty="0"/>
            </a:br>
            <a:r>
              <a:rPr lang="en-US" sz="1000" dirty="0"/>
              <a:t>so với các </a:t>
            </a:r>
            <a:r>
              <a:rPr lang="en-US" sz="1000" dirty="0" err="1"/>
              <a:t>mô</a:t>
            </a:r>
            <a:r>
              <a:rPr lang="en-US" sz="1000" dirty="0"/>
              <a:t> hình </a:t>
            </a:r>
            <a:r>
              <a:rPr lang="en-US" sz="1000" dirty="0" err="1"/>
              <a:t>khác</a:t>
            </a:r>
            <a:r>
              <a:rPr lang="en-US" sz="1000" dirty="0"/>
              <a:t> trong điều </a:t>
            </a:r>
            <a:r>
              <a:rPr lang="en-US" sz="1000" dirty="0" err="1"/>
              <a:t>kiện</a:t>
            </a:r>
            <a:r>
              <a:rPr lang="en-US" sz="1000" dirty="0"/>
              <a:t> cold/warm start</a:t>
            </a:r>
          </a:p>
          <a:p>
            <a:pPr algn="ctr"/>
            <a:endParaRPr lang="en-US" sz="1000" dirty="0"/>
          </a:p>
        </p:txBody>
      </p:sp>
      <p:pic>
        <p:nvPicPr>
          <p:cNvPr id="4" name="Picture 3"/>
          <p:cNvPicPr>
            <a:picLocks noChangeAspect="1"/>
          </p:cNvPicPr>
          <p:nvPr/>
        </p:nvPicPr>
        <p:blipFill>
          <a:blip r:embed="rId3"/>
          <a:stretch>
            <a:fillRect/>
          </a:stretch>
        </p:blipFill>
        <p:spPr>
          <a:xfrm>
            <a:off x="5360121" y="1624624"/>
            <a:ext cx="4286956" cy="1891704"/>
          </a:xfrm>
          <a:prstGeom prst="rect">
            <a:avLst/>
          </a:prstGeom>
        </p:spPr>
      </p:pic>
      <p:pic>
        <p:nvPicPr>
          <p:cNvPr id="5" name="Picture 4"/>
          <p:cNvPicPr>
            <a:picLocks noChangeAspect="1"/>
          </p:cNvPicPr>
          <p:nvPr/>
        </p:nvPicPr>
        <p:blipFill>
          <a:blip r:embed="rId4"/>
          <a:stretch>
            <a:fillRect/>
          </a:stretch>
        </p:blipFill>
        <p:spPr>
          <a:xfrm>
            <a:off x="2153555" y="3008982"/>
            <a:ext cx="1588670" cy="1491521"/>
          </a:xfrm>
          <a:prstGeom prst="rect">
            <a:avLst/>
          </a:prstGeom>
        </p:spPr>
      </p:pic>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Sella-Rec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2" name="TextBox 1"/>
          <p:cNvSpPr txBox="1"/>
          <p:nvPr/>
        </p:nvSpPr>
        <p:spPr>
          <a:xfrm>
            <a:off x="576305" y="1801471"/>
            <a:ext cx="4645399" cy="3539430"/>
          </a:xfrm>
          <a:prstGeom prst="rect">
            <a:avLst/>
          </a:prstGeom>
          <a:noFill/>
        </p:spPr>
        <p:txBody>
          <a:bodyPr wrap="square" rtlCol="0">
            <a:spAutoFit/>
          </a:bodyPr>
          <a:lstStyle/>
          <a:p>
            <a:pPr marL="285750" indent="-285750" algn="just">
              <a:buFont typeface="Arial" panose="020B0604020202020204" pitchFamily="34" charset="0"/>
              <a:buChar char="•"/>
            </a:pPr>
            <a:r>
              <a:rPr lang="en-US" dirty="0"/>
              <a:t>Đ</a:t>
            </a:r>
            <a:r>
              <a:rPr lang="vi-VN" dirty="0" smtClean="0"/>
              <a:t>ề </a:t>
            </a:r>
            <a:r>
              <a:rPr lang="vi-VN" dirty="0"/>
              <a:t>xuất căn chỉnh không gian ngữ nghĩa giữa LLM và mô hình CF nhằm hợp nhất tri thức ngữ nghĩa với tín hiệu tương </a:t>
            </a:r>
            <a:r>
              <a:rPr lang="vi-VN" dirty="0" smtClean="0"/>
              <a:t>tác.</a:t>
            </a:r>
            <a:endParaRPr lang="en-US" dirty="0" smtClean="0"/>
          </a:p>
          <a:p>
            <a:pPr marL="285750" indent="-285750" algn="just">
              <a:buFont typeface="Arial" panose="020B0604020202020204" pitchFamily="34" charset="0"/>
              <a:buChar char="•"/>
            </a:pPr>
            <a:r>
              <a:rPr lang="vi-VN" dirty="0" smtClean="0"/>
              <a:t>Cụ </a:t>
            </a:r>
            <a:r>
              <a:rPr lang="vi-VN" dirty="0"/>
              <a:t>thể, mô hình sử dụng contrastive learning để tiền-căn chỉnh embedding cộng tác với embedding ngữ nghĩa rút ra từ LLM, giúp giảm chênh lệch phân phối giữa hai không gian. Sau đó, một số token đặc biệt mang thông tin collaborative được chiếu qua tầng lai vào không gian ngữ nghĩa của LLM và đưa vào prompt để hướng dẫn quá trình dự </a:t>
            </a:r>
            <a:r>
              <a:rPr lang="vi-VN" dirty="0" smtClean="0"/>
              <a:t>đoán.</a:t>
            </a:r>
            <a:endParaRPr lang="en-US" dirty="0" smtClean="0"/>
          </a:p>
          <a:p>
            <a:pPr marL="285750" indent="-285750" algn="just">
              <a:buFont typeface="Arial" panose="020B0604020202020204" pitchFamily="34" charset="0"/>
              <a:buChar char="•"/>
            </a:pPr>
            <a:r>
              <a:rPr lang="vi-VN" dirty="0" smtClean="0"/>
              <a:t>Cách </a:t>
            </a:r>
            <a:r>
              <a:rPr lang="vi-VN" dirty="0"/>
              <a:t>tiếp cận này giúp LLM hòa trộn sâu kiến thức cộng tác, giảm nhiễu và cải thiện rõ rệt chất lượng gợi ý (SOTA trên các tập MovieLens-1M, Amazon Book)</a:t>
            </a:r>
          </a:p>
          <a:p>
            <a:pPr algn="just"/>
            <a:endParaRPr lang="vi-VN" dirty="0"/>
          </a:p>
          <a:p>
            <a:pPr algn="just"/>
            <a:endParaRPr lang="vi-VN" dirty="0"/>
          </a:p>
        </p:txBody>
      </p:sp>
      <p:sp>
        <p:nvSpPr>
          <p:cNvPr id="7" name="TextBox 6"/>
          <p:cNvSpPr txBox="1"/>
          <p:nvPr/>
        </p:nvSpPr>
        <p:spPr>
          <a:xfrm>
            <a:off x="6513841" y="3820239"/>
            <a:ext cx="1617752"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Sella-Rec</a:t>
            </a:r>
            <a:endParaRPr lang="en-US" sz="1000" dirty="0"/>
          </a:p>
        </p:txBody>
      </p:sp>
      <p:pic>
        <p:nvPicPr>
          <p:cNvPr id="3" name="Picture 2"/>
          <p:cNvPicPr>
            <a:picLocks noChangeAspect="1"/>
          </p:cNvPicPr>
          <p:nvPr/>
        </p:nvPicPr>
        <p:blipFill>
          <a:blip r:embed="rId3"/>
          <a:stretch>
            <a:fillRect/>
          </a:stretch>
        </p:blipFill>
        <p:spPr>
          <a:xfrm>
            <a:off x="5291936" y="1657513"/>
            <a:ext cx="3852064" cy="1917905"/>
          </a:xfrm>
          <a:prstGeom prst="rect">
            <a:avLst/>
          </a:prstGeom>
        </p:spPr>
      </p:pic>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Các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khác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7" name="TextBox 6"/>
          <p:cNvSpPr txBox="1"/>
          <p:nvPr/>
        </p:nvSpPr>
        <p:spPr>
          <a:xfrm>
            <a:off x="464785" y="3640334"/>
            <a:ext cx="4107215" cy="400110"/>
          </a:xfrm>
          <a:prstGeom prst="rect">
            <a:avLst/>
          </a:prstGeom>
          <a:noFill/>
        </p:spPr>
        <p:txBody>
          <a:bodyPr wrap="none" rtlCol="0">
            <a:spAutoFit/>
          </a:bodyPr>
          <a:lstStyle/>
          <a:p>
            <a:pPr algn="just"/>
            <a:r>
              <a:rPr lang="en-US" sz="1000" dirty="0" smtClean="0"/>
              <a:t>Hình: B</a:t>
            </a:r>
            <a:r>
              <a:rPr lang="vi-VN" sz="1000" dirty="0" smtClean="0"/>
              <a:t>eeFormer</a:t>
            </a:r>
            <a:r>
              <a:rPr lang="vi-VN" sz="1000" dirty="0"/>
              <a:t>: Thu hẹp khoảng cách giữa ngữ nghĩa và tương tác</a:t>
            </a:r>
          </a:p>
          <a:p>
            <a:pPr algn="just"/>
            <a:r>
              <a:rPr lang="vi-VN" sz="1000" dirty="0"/>
              <a:t>Tính tương đồng trong hệ thống đề xuất</a:t>
            </a:r>
            <a:endParaRPr lang="en-US" sz="1000" dirty="0"/>
          </a:p>
        </p:txBody>
      </p:sp>
      <p:pic>
        <p:nvPicPr>
          <p:cNvPr id="4" name="Picture 3"/>
          <p:cNvPicPr>
            <a:picLocks noChangeAspect="1"/>
          </p:cNvPicPr>
          <p:nvPr/>
        </p:nvPicPr>
        <p:blipFill>
          <a:blip r:embed="rId3"/>
          <a:stretch>
            <a:fillRect/>
          </a:stretch>
        </p:blipFill>
        <p:spPr>
          <a:xfrm>
            <a:off x="701800" y="1612719"/>
            <a:ext cx="3735907" cy="2004633"/>
          </a:xfrm>
          <a:prstGeom prst="rect">
            <a:avLst/>
          </a:prstGeom>
        </p:spPr>
      </p:pic>
      <p:pic>
        <p:nvPicPr>
          <p:cNvPr id="5" name="Picture 4"/>
          <p:cNvPicPr>
            <a:picLocks noChangeAspect="1"/>
          </p:cNvPicPr>
          <p:nvPr/>
        </p:nvPicPr>
        <p:blipFill>
          <a:blip r:embed="rId4"/>
          <a:stretch>
            <a:fillRect/>
          </a:stretch>
        </p:blipFill>
        <p:spPr>
          <a:xfrm>
            <a:off x="4672970" y="1569518"/>
            <a:ext cx="4187180" cy="1953361"/>
          </a:xfrm>
          <a:prstGeom prst="rect">
            <a:avLst/>
          </a:prstGeom>
        </p:spPr>
      </p:pic>
      <p:sp>
        <p:nvSpPr>
          <p:cNvPr id="13" name="TextBox 12"/>
          <p:cNvSpPr txBox="1"/>
          <p:nvPr/>
        </p:nvSpPr>
        <p:spPr>
          <a:xfrm>
            <a:off x="4618259" y="3634928"/>
            <a:ext cx="4241891" cy="861774"/>
          </a:xfrm>
          <a:prstGeom prst="rect">
            <a:avLst/>
          </a:prstGeom>
          <a:noFill/>
        </p:spPr>
        <p:txBody>
          <a:bodyPr wrap="square" rtlCol="0">
            <a:spAutoFit/>
          </a:bodyPr>
          <a:lstStyle/>
          <a:p>
            <a:pPr algn="just"/>
            <a:r>
              <a:rPr lang="en-US" sz="1000" dirty="0" smtClean="0"/>
              <a:t>Hình LC-Rec: </a:t>
            </a:r>
            <a:r>
              <a:rPr lang="en-US" sz="1000" dirty="0" err="1" smtClean="0"/>
              <a:t>Cải</a:t>
            </a:r>
            <a:r>
              <a:rPr lang="en-US" sz="1000" dirty="0" smtClean="0"/>
              <a:t> </a:t>
            </a:r>
            <a:r>
              <a:rPr lang="en-US" sz="1000" dirty="0" err="1" smtClean="0"/>
              <a:t>thiện</a:t>
            </a:r>
            <a:r>
              <a:rPr lang="en-US" sz="1000" dirty="0" smtClean="0"/>
              <a:t> LLM-</a:t>
            </a:r>
            <a:r>
              <a:rPr lang="en-US" sz="1000" dirty="0" err="1" smtClean="0"/>
              <a:t>RecSys</a:t>
            </a:r>
            <a:r>
              <a:rPr lang="en-US" sz="1000" dirty="0" smtClean="0"/>
              <a:t> bằng các </a:t>
            </a:r>
            <a:r>
              <a:rPr lang="en-US" sz="1000" dirty="0" err="1" smtClean="0"/>
              <a:t>kỹ</a:t>
            </a:r>
            <a:r>
              <a:rPr lang="en-US" sz="1000" dirty="0" smtClean="0"/>
              <a:t> </a:t>
            </a:r>
            <a:r>
              <a:rPr lang="en-US" sz="1000" dirty="0" err="1" smtClean="0"/>
              <a:t>thuật</a:t>
            </a:r>
            <a:r>
              <a:rPr lang="en-US" sz="1000" dirty="0"/>
              <a:t> </a:t>
            </a:r>
            <a:r>
              <a:rPr lang="en-US" sz="1000" dirty="0" err="1" smtClean="0"/>
              <a:t>căn</a:t>
            </a:r>
            <a:r>
              <a:rPr lang="en-US" sz="1000" dirty="0" smtClean="0"/>
              <a:t> </a:t>
            </a:r>
            <a:r>
              <a:rPr lang="en-US" sz="1000" dirty="0" err="1" smtClean="0"/>
              <a:t>chỉnh</a:t>
            </a:r>
            <a:r>
              <a:rPr lang="en-US" sz="1000" dirty="0" smtClean="0"/>
              <a:t>: g</a:t>
            </a:r>
            <a:r>
              <a:rPr lang="vi-VN" sz="1000" dirty="0" smtClean="0"/>
              <a:t>án </a:t>
            </a:r>
            <a:r>
              <a:rPr lang="vi-VN" sz="1000" dirty="0"/>
              <a:t>cho mỗi mục một mã định danh ngữ nghĩa thông qua </a:t>
            </a:r>
            <a:r>
              <a:rPr lang="vi-VN" sz="1000" b="1" dirty="0"/>
              <a:t>vector quantization</a:t>
            </a:r>
            <a:r>
              <a:rPr lang="vi-VN" sz="1000" dirty="0"/>
              <a:t> để chuyển ID rời rạc thành chuỗi ký tự có ý nghĩa; (2) thiết kế các tác vụ tinh chỉnh đặc thù nhằm </a:t>
            </a:r>
            <a:r>
              <a:rPr lang="vi-VN" sz="1000" b="1" dirty="0"/>
              <a:t>căn chỉnh ngữ nghĩa</a:t>
            </a:r>
            <a:r>
              <a:rPr lang="vi-VN" sz="1000" dirty="0"/>
              <a:t> của LLM với thông tin tương tác</a:t>
            </a:r>
            <a:endParaRPr lang="en-US" sz="1000" dirty="0"/>
          </a:p>
        </p:txBody>
      </p:sp>
    </p:spTree>
    <p:extLst>
      <p:ext uri="{BB962C8B-B14F-4D97-AF65-F5344CB8AC3E}">
        <p14:creationId xmlns:p14="http://schemas.microsoft.com/office/powerpoint/2010/main" val="6792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00250" y="1536700"/>
            <a:ext cx="5156200" cy="2862322"/>
          </a:xfrm>
          <a:prstGeom prst="rect">
            <a:avLst/>
          </a:prstGeom>
          <a:noFill/>
        </p:spPr>
        <p:txBody>
          <a:bodyPr wrap="square" rtlCol="0">
            <a:spAutoFit/>
          </a:bodyPr>
          <a:lstStyle/>
          <a:p>
            <a:pPr algn="ctr"/>
            <a:r>
              <a:rPr lang="en-US" sz="6000" b="1" dirty="0" smtClean="0">
                <a:solidFill>
                  <a:srgbClr val="0070C0"/>
                </a:solidFill>
              </a:rPr>
              <a:t>YÊU CẦU HUẤN LUYỆN</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YÊU CẦU HUẤN 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r>
              <a:rPr lang="en-US" sz="2000" dirty="0" smtClean="0">
                <a:solidFill>
                  <a:schemeClr val="tx1">
                    <a:lumMod val="50000"/>
                    <a:lumOff val="50000"/>
                  </a:schemeClr>
                </a:solidFill>
              </a:rPr>
              <a:t> - baseline</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Đối</a:t>
            </a:r>
            <a:r>
              <a:rPr lang="en-US" sz="2400" dirty="0" smtClean="0">
                <a:solidFill>
                  <a:schemeClr val="tx1"/>
                </a:solidFill>
              </a:rPr>
              <a:t> </a:t>
            </a:r>
            <a:r>
              <a:rPr lang="en-US" sz="2400" dirty="0" err="1" smtClean="0">
                <a:solidFill>
                  <a:schemeClr val="tx1"/>
                </a:solidFill>
              </a:rPr>
              <a:t>tượng</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75028" y="1612719"/>
            <a:ext cx="5629422" cy="3754874"/>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Cấu</a:t>
            </a:r>
            <a:r>
              <a:rPr lang="en-US" dirty="0" smtClean="0"/>
              <a:t> </a:t>
            </a:r>
            <a:r>
              <a:rPr lang="en-US" dirty="0" err="1" smtClean="0"/>
              <a:t>trúc</a:t>
            </a:r>
            <a:r>
              <a:rPr lang="en-US" dirty="0" smtClean="0"/>
              <a:t> </a:t>
            </a:r>
            <a:r>
              <a:rPr lang="en-US" dirty="0" err="1" smtClean="0"/>
              <a:t>CoLLM</a:t>
            </a:r>
            <a:r>
              <a:rPr lang="en-US" dirty="0" smtClean="0"/>
              <a:t>: </a:t>
            </a:r>
            <a:r>
              <a:rPr lang="en-US" dirty="0" err="1" smtClean="0"/>
              <a:t>Gồm</a:t>
            </a:r>
            <a:r>
              <a:rPr lang="en-US" dirty="0" smtClean="0"/>
              <a:t> 2 </a:t>
            </a:r>
            <a:r>
              <a:rPr lang="en-US" dirty="0" err="1" smtClean="0"/>
              <a:t>tầng</a:t>
            </a:r>
            <a:r>
              <a:rPr lang="en-US" dirty="0" smtClean="0"/>
              <a:t>, </a:t>
            </a:r>
            <a:r>
              <a:rPr lang="en-US" dirty="0" err="1" smtClean="0"/>
              <a:t>Colab</a:t>
            </a:r>
            <a:r>
              <a:rPr lang="en-US" dirty="0" smtClean="0"/>
              <a:t> Model </a:t>
            </a:r>
            <a:r>
              <a:rPr lang="en-US" dirty="0" err="1" smtClean="0"/>
              <a:t>truyền</a:t>
            </a:r>
            <a:r>
              <a:rPr lang="en-US" dirty="0" smtClean="0"/>
              <a:t> </a:t>
            </a:r>
            <a:r>
              <a:rPr lang="en-US" dirty="0" err="1" smtClean="0"/>
              <a:t>thống</a:t>
            </a:r>
            <a:r>
              <a:rPr lang="en-US" dirty="0" smtClean="0"/>
              <a:t> (</a:t>
            </a:r>
            <a:r>
              <a:rPr lang="en-US" dirty="0" err="1" smtClean="0"/>
              <a:t>LightGCN</a:t>
            </a:r>
            <a:r>
              <a:rPr lang="en-US" dirty="0"/>
              <a:t>)</a:t>
            </a:r>
            <a:r>
              <a:rPr lang="en-US" dirty="0" smtClean="0"/>
              <a:t> </a:t>
            </a:r>
            <a:r>
              <a:rPr lang="en-US" dirty="0" err="1" smtClean="0"/>
              <a:t>để</a:t>
            </a:r>
            <a:r>
              <a:rPr lang="en-US" dirty="0" smtClean="0"/>
              <a:t> </a:t>
            </a:r>
            <a:r>
              <a:rPr lang="en-US" dirty="0" err="1" smtClean="0"/>
              <a:t>trích</a:t>
            </a:r>
            <a:r>
              <a:rPr lang="en-US" dirty="0" smtClean="0"/>
              <a:t> </a:t>
            </a:r>
            <a:r>
              <a:rPr lang="en-US" dirty="0" err="1" smtClean="0"/>
              <a:t>xuất</a:t>
            </a:r>
            <a:r>
              <a:rPr lang="en-US" dirty="0" smtClean="0"/>
              <a:t> </a:t>
            </a:r>
            <a:r>
              <a:rPr lang="en-US" dirty="0" err="1" smtClean="0"/>
              <a:t>colab</a:t>
            </a:r>
            <a:r>
              <a:rPr lang="en-US" dirty="0" smtClean="0"/>
              <a:t> embedding vector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smtClean="0"/>
              <a:t>), qua 1 </a:t>
            </a:r>
            <a:r>
              <a:rPr lang="en-US" dirty="0" err="1" smtClean="0"/>
              <a:t>lớp</a:t>
            </a:r>
            <a:r>
              <a:rPr lang="en-US" dirty="0" smtClean="0"/>
              <a:t> </a:t>
            </a:r>
            <a:r>
              <a:rPr lang="en-US" dirty="0" err="1" smtClean="0"/>
              <a:t>ánh</a:t>
            </a:r>
            <a:r>
              <a:rPr lang="en-US" dirty="0" smtClean="0"/>
              <a:t> </a:t>
            </a:r>
            <a:r>
              <a:rPr lang="en-US" dirty="0" err="1" smtClean="0"/>
              <a:t>xạ</a:t>
            </a:r>
            <a:r>
              <a:rPr lang="en-US" dirty="0" smtClean="0"/>
              <a:t> (mapping vào </a:t>
            </a:r>
            <a:r>
              <a:rPr lang="en-US" dirty="0" err="1" smtClean="0"/>
              <a:t>không</a:t>
            </a:r>
            <a:r>
              <a:rPr lang="en-US" dirty="0" smtClean="0"/>
              <a:t> </a:t>
            </a:r>
            <a:r>
              <a:rPr lang="en-US" dirty="0" err="1" smtClean="0"/>
              <a:t>gian</a:t>
            </a:r>
            <a:r>
              <a:rPr lang="en-US" dirty="0" smtClean="0"/>
              <a:t> LLM) </a:t>
            </a:r>
            <a:r>
              <a:rPr lang="en-US" dirty="0" err="1" smtClean="0"/>
              <a:t>để</a:t>
            </a:r>
            <a:r>
              <a:rPr lang="en-US" dirty="0" smtClean="0"/>
              <a:t> được các user/item embed token, </a:t>
            </a:r>
            <a:r>
              <a:rPr lang="en-US" dirty="0" err="1" smtClean="0"/>
              <a:t>gắn</a:t>
            </a:r>
            <a:r>
              <a:rPr lang="en-US" dirty="0" smtClean="0"/>
              <a:t> với các text embed token </a:t>
            </a:r>
            <a:r>
              <a:rPr lang="en-US" dirty="0" err="1" smtClean="0"/>
              <a:t>khác</a:t>
            </a:r>
            <a:r>
              <a:rPr lang="en-US" dirty="0" smtClean="0"/>
              <a:t> và </a:t>
            </a:r>
            <a:r>
              <a:rPr lang="en-US" dirty="0" err="1" smtClean="0"/>
              <a:t>cho</a:t>
            </a:r>
            <a:r>
              <a:rPr lang="en-US" dirty="0" smtClean="0"/>
              <a:t> vào LLM (Vicuna – 7B).</a:t>
            </a:r>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fine-tune LLM với số </a:t>
            </a:r>
            <a:r>
              <a:rPr lang="en-US" dirty="0" err="1" smtClean="0"/>
              <a:t>lượng</a:t>
            </a:r>
            <a:r>
              <a:rPr lang="en-US" dirty="0" smtClean="0"/>
              <a:t> nhỏ </a:t>
            </a:r>
            <a:r>
              <a:rPr lang="en-US" dirty="0" err="1" smtClean="0"/>
              <a:t>tham</a:t>
            </a:r>
            <a:r>
              <a:rPr lang="en-US" dirty="0" smtClean="0"/>
              <a:t> số </a:t>
            </a:r>
            <a:r>
              <a:rPr lang="en-US" dirty="0" err="1" smtClean="0"/>
              <a:t>chọn</a:t>
            </a:r>
            <a:r>
              <a:rPr lang="en-US" dirty="0" smtClean="0"/>
              <a:t> </a:t>
            </a:r>
            <a:r>
              <a:rPr lang="en-US" dirty="0" err="1" smtClean="0"/>
              <a:t>lọc</a:t>
            </a:r>
            <a:r>
              <a:rPr lang="en-US" dirty="0" smtClean="0"/>
              <a:t> </a:t>
            </a:r>
            <a:r>
              <a:rPr lang="en-US" dirty="0" err="1" smtClean="0"/>
              <a:t>cho</a:t>
            </a:r>
            <a:r>
              <a:rPr lang="en-US" dirty="0" smtClean="0"/>
              <a:t> </a:t>
            </a:r>
            <a:r>
              <a:rPr lang="en-US" dirty="0" err="1" smtClean="0"/>
              <a:t>tác</a:t>
            </a:r>
            <a:r>
              <a:rPr lang="en-US" dirty="0" smtClean="0"/>
              <a:t> vụ tư vấn </a:t>
            </a:r>
            <a:r>
              <a:rPr lang="en-US" dirty="0" err="1" smtClean="0"/>
              <a:t>nhằm</a:t>
            </a:r>
            <a:r>
              <a:rPr lang="en-US" dirty="0" smtClean="0"/>
              <a:t> </a:t>
            </a:r>
            <a:r>
              <a:rPr lang="en-US" dirty="0" err="1" smtClean="0"/>
              <a:t>tăng</a:t>
            </a:r>
            <a:r>
              <a:rPr lang="en-US" dirty="0" smtClean="0"/>
              <a:t> </a:t>
            </a:r>
            <a:r>
              <a:rPr lang="en-US" dirty="0" err="1" smtClean="0"/>
              <a:t>hiệu</a:t>
            </a:r>
            <a:r>
              <a:rPr lang="en-US" dirty="0" smtClean="0"/>
              <a:t> </a:t>
            </a:r>
            <a:r>
              <a:rPr lang="en-US" dirty="0" err="1" smtClean="0"/>
              <a:t>quả</a:t>
            </a:r>
            <a:r>
              <a:rPr lang="en-US" dirty="0" smtClean="0"/>
              <a:t> tư vấn mà </a:t>
            </a:r>
            <a:r>
              <a:rPr lang="en-US" dirty="0" err="1" smtClean="0"/>
              <a:t>tiết</a:t>
            </a:r>
            <a:r>
              <a:rPr lang="en-US" dirty="0" smtClean="0"/>
              <a:t> </a:t>
            </a:r>
            <a:r>
              <a:rPr lang="en-US" dirty="0" err="1" smtClean="0"/>
              <a:t>kiệm</a:t>
            </a:r>
            <a:r>
              <a:rPr lang="en-US" dirty="0" smtClean="0"/>
              <a:t> </a:t>
            </a:r>
            <a:r>
              <a:rPr lang="en-US" dirty="0" err="1" smtClean="0"/>
              <a:t>thời</a:t>
            </a:r>
            <a:r>
              <a:rPr lang="en-US" dirty="0" smtClean="0"/>
              <a:t> </a:t>
            </a:r>
            <a:r>
              <a:rPr lang="en-US" dirty="0" err="1" smtClean="0"/>
              <a:t>gian</a:t>
            </a:r>
            <a:r>
              <a:rPr lang="en-US" dirty="0" smtClean="0"/>
              <a:t> </a:t>
            </a:r>
            <a:r>
              <a:rPr lang="en-US" dirty="0" smtClean="0"/>
              <a:t>train.</a:t>
            </a:r>
          </a:p>
          <a:p>
            <a:pPr marL="285750" indent="-285750" algn="just">
              <a:buFont typeface="Arial" panose="020B0604020202020204" pitchFamily="34" charset="0"/>
              <a:buChar char="•"/>
            </a:pPr>
            <a:r>
              <a:rPr lang="vi-VN" dirty="0" smtClean="0"/>
              <a:t>GPU</a:t>
            </a:r>
            <a:r>
              <a:rPr lang="vi-VN" dirty="0"/>
              <a:t>: Tesla T4, V100 hoặc A100 (nếu sử dụng mô hình lớn như Vicuna 7B</a:t>
            </a:r>
            <a:r>
              <a:rPr lang="vi-VN" dirty="0" smtClean="0"/>
              <a:t>).</a:t>
            </a:r>
            <a:endParaRPr lang="en-US" dirty="0" smtClean="0"/>
          </a:p>
          <a:p>
            <a:pPr marL="285750" indent="-285750" algn="just">
              <a:buFont typeface="Arial" panose="020B0604020202020204" pitchFamily="34" charset="0"/>
              <a:buChar char="•"/>
            </a:pPr>
            <a:r>
              <a:rPr lang="vi-VN" dirty="0" smtClean="0"/>
              <a:t>CPU</a:t>
            </a:r>
            <a:r>
              <a:rPr lang="vi-VN" dirty="0"/>
              <a:t>: Sử dụng khi không có GPU, nhưng thời gian xử lý sẽ lâu </a:t>
            </a:r>
            <a:r>
              <a:rPr lang="vi-VN" dirty="0" smtClean="0"/>
              <a:t>hơn.</a:t>
            </a:r>
            <a:endParaRPr lang="en-US" dirty="0" smtClean="0"/>
          </a:p>
          <a:p>
            <a:pPr marL="285750" indent="-285750" algn="just">
              <a:buFont typeface="Arial" panose="020B0604020202020204" pitchFamily="34" charset="0"/>
              <a:buChar char="•"/>
            </a:pPr>
            <a:r>
              <a:rPr lang="vi-VN" dirty="0" smtClean="0"/>
              <a:t>RAM</a:t>
            </a:r>
            <a:r>
              <a:rPr lang="vi-VN" dirty="0"/>
              <a:t>: Tối thiểu 16GB; 32GB hoặc nhiều hơn cho mô hình </a:t>
            </a:r>
            <a:r>
              <a:rPr lang="vi-VN" dirty="0" smtClean="0"/>
              <a:t>lớn.</a:t>
            </a:r>
            <a:endParaRPr lang="en-US" dirty="0" smtClean="0"/>
          </a:p>
          <a:p>
            <a:pPr marL="285750" indent="-285750" algn="just">
              <a:buFont typeface="Arial" panose="020B0604020202020204" pitchFamily="34" charset="0"/>
              <a:buChar char="•"/>
            </a:pPr>
            <a:r>
              <a:rPr lang="vi-VN" dirty="0" smtClean="0"/>
              <a:t>Dung </a:t>
            </a:r>
            <a:r>
              <a:rPr lang="vi-VN" dirty="0"/>
              <a:t>lượng ổ cứng: Ít nhất 50GB cho mô hình và dữ liệu.</a:t>
            </a:r>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pic>
        <p:nvPicPr>
          <p:cNvPr id="4" name="Picture 3"/>
          <p:cNvPicPr>
            <a:picLocks noChangeAspect="1"/>
          </p:cNvPicPr>
          <p:nvPr/>
        </p:nvPicPr>
        <p:blipFill>
          <a:blip r:embed="rId3"/>
          <a:stretch>
            <a:fillRect/>
          </a:stretch>
        </p:blipFill>
        <p:spPr>
          <a:xfrm>
            <a:off x="5518474" y="2178974"/>
            <a:ext cx="3917376" cy="1738432"/>
          </a:xfrm>
          <a:prstGeom prst="rect">
            <a:avLst/>
          </a:prstGeom>
        </p:spPr>
      </p:pic>
      <p:sp>
        <p:nvSpPr>
          <p:cNvPr id="5" name="Rectangle 4"/>
          <p:cNvSpPr/>
          <p:nvPr/>
        </p:nvSpPr>
        <p:spPr>
          <a:xfrm>
            <a:off x="6521076" y="4065457"/>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NGHIÊN CỨU</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KẾ HOẠCH NGHIÊN 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Kế</a:t>
            </a:r>
            <a:r>
              <a:rPr lang="en-US" sz="2400" dirty="0" smtClean="0">
                <a:solidFill>
                  <a:schemeClr val="tx1"/>
                </a:solidFill>
              </a:rPr>
              <a:t> </a:t>
            </a:r>
            <a:r>
              <a:rPr lang="en-US" sz="2400" dirty="0" err="1" smtClean="0">
                <a:solidFill>
                  <a:schemeClr val="tx1"/>
                </a:solidFill>
              </a:rPr>
              <a:t>hoạch</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436900" y="1304935"/>
            <a:ext cx="4480551" cy="2612915"/>
          </a:xfrm>
          <a:prstGeom prst="rect">
            <a:avLst/>
          </a:prstGeom>
        </p:spPr>
      </p:pic>
      <p:pic>
        <p:nvPicPr>
          <p:cNvPr id="6" name="Picture 5"/>
          <p:cNvPicPr>
            <a:picLocks noChangeAspect="1"/>
          </p:cNvPicPr>
          <p:nvPr/>
        </p:nvPicPr>
        <p:blipFill>
          <a:blip r:embed="rId4"/>
          <a:stretch>
            <a:fillRect/>
          </a:stretch>
        </p:blipFill>
        <p:spPr>
          <a:xfrm>
            <a:off x="4789799" y="1304934"/>
            <a:ext cx="4011545" cy="2612915"/>
          </a:xfrm>
          <a:prstGeom prst="rect">
            <a:avLst/>
          </a:prstGeom>
        </p:spPr>
      </p:pic>
    </p:spTree>
    <p:extLst>
      <p:ext uri="{BB962C8B-B14F-4D97-AF65-F5344CB8AC3E}">
        <p14:creationId xmlns:p14="http://schemas.microsoft.com/office/powerpoint/2010/main" val="2029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TotalTime>
  <Words>3229</Words>
  <Application>Microsoft Office PowerPoint</Application>
  <PresentationFormat>On-screen Show (16:9)</PresentationFormat>
  <Paragraphs>164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NGHIÊN CỨU TÍCH HỢP TRI THỨC NGỮ NGHĨA VÀ THÔNG TIN CỘNG TÁC TRONG HỆ THỐNG TƯ VẤN SỬ DỤNG MÔ HÌNH NGÔN NGỮ LỚN</vt:lpstr>
      <vt:lpstr>Nội dung</vt:lpstr>
      <vt:lpstr>PowerPoint Presentation</vt:lpstr>
      <vt:lpstr>GIỚI THIỆU TỔNG QUAN</vt:lpstr>
      <vt:lpstr>GIỚI THIỆU TỔNG QUAN</vt:lpstr>
      <vt:lpstr>PowerPoint Presentation</vt:lpstr>
      <vt:lpstr>Quá trình huấn luyện</vt:lpstr>
      <vt:lpstr>Quá trình huấn luyện</vt:lpstr>
      <vt:lpstr>Quá trình huấn luyện</vt:lpstr>
      <vt:lpstr>Quá trình huấn luyện</vt:lpstr>
      <vt:lpstr>Quá trình huấn luyện</vt:lpstr>
      <vt:lpstr>PowerPoint Presentation</vt:lpstr>
      <vt:lpstr>YÊU CẦU HUẤN LUYỆN</vt:lpstr>
      <vt:lpstr>PowerPoint Presentation</vt:lpstr>
      <vt:lpstr>KẾ HOẠCH NGHIÊN CỨU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29</cp:revision>
  <dcterms:modified xsi:type="dcterms:W3CDTF">2025-09-10T12:35:13Z</dcterms:modified>
</cp:coreProperties>
</file>