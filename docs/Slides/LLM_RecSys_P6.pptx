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24"/>
  </p:notesMasterIdLst>
  <p:sldIdLst>
    <p:sldId id="256" r:id="rId2"/>
    <p:sldId id="257" r:id="rId3"/>
    <p:sldId id="288" r:id="rId4"/>
    <p:sldId id="282" r:id="rId5"/>
    <p:sldId id="269" r:id="rId6"/>
    <p:sldId id="273" r:id="rId7"/>
    <p:sldId id="292" r:id="rId8"/>
    <p:sldId id="291" r:id="rId9"/>
    <p:sldId id="289" r:id="rId10"/>
    <p:sldId id="274" r:id="rId11"/>
    <p:sldId id="275" r:id="rId12"/>
    <p:sldId id="276" r:id="rId13"/>
    <p:sldId id="290" r:id="rId14"/>
    <p:sldId id="293" r:id="rId15"/>
    <p:sldId id="296" r:id="rId16"/>
    <p:sldId id="294" r:id="rId17"/>
    <p:sldId id="295" r:id="rId18"/>
    <p:sldId id="278" r:id="rId19"/>
    <p:sldId id="287" r:id="rId20"/>
    <p:sldId id="297" r:id="rId21"/>
    <p:sldId id="298" r:id="rId22"/>
    <p:sldId id="299" r:id="rId23"/>
  </p:sldIdLst>
  <p:sldSz cx="9144000" cy="5143500" type="screen16x9"/>
  <p:notesSz cx="9144000" cy="51435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p:restoredLeft sz="4471" autoAdjust="0"/>
    <p:restoredTop sz="86388" autoAdjust="0"/>
  </p:normalViewPr>
  <p:slideViewPr>
    <p:cSldViewPr snapToGrid="0">
      <p:cViewPr varScale="1">
        <p:scale>
          <a:sx n="191" d="100"/>
          <a:sy n="191" d="100"/>
        </p:scale>
        <p:origin x="1268" y="92"/>
      </p:cViewPr>
      <p:guideLst>
        <p:guide orient="horz" pos="2880"/>
        <p:guide pos="2160"/>
      </p:guideLst>
    </p:cSldViewPr>
  </p:slideViewPr>
  <p:outlineViewPr>
    <p:cViewPr>
      <p:scale>
        <a:sx n="33" d="100"/>
        <a:sy n="33" d="100"/>
      </p:scale>
      <p:origin x="0" y="-2752"/>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2571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2571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2474913"/>
            <a:ext cx="7315200" cy="20256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4886325"/>
            <a:ext cx="3962400" cy="2571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4886325"/>
            <a:ext cx="3962400" cy="2571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1: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1: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3893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9738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739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5803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0985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2841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2701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5411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12533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9743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77247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5474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70993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29336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37391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91758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85655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95690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93854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8306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40"/>
        <p:cNvGrpSpPr/>
        <p:nvPr/>
      </p:nvGrpSpPr>
      <p:grpSpPr>
        <a:xfrm>
          <a:off x="0" y="0"/>
          <a:ext cx="0" cy="0"/>
          <a:chOff x="0" y="0"/>
          <a:chExt cx="0" cy="0"/>
        </a:xfrm>
      </p:grpSpPr>
      <p:sp>
        <p:nvSpPr>
          <p:cNvPr id="41" name="Google Shape;41;p6"/>
          <p:cNvSpPr/>
          <p:nvPr/>
        </p:nvSpPr>
        <p:spPr>
          <a:xfrm>
            <a:off x="530543" y="635698"/>
            <a:ext cx="3465195" cy="3465195"/>
          </a:xfrm>
          <a:custGeom>
            <a:avLst/>
            <a:gdLst/>
            <a:ahLst/>
            <a:cxnLst/>
            <a:rect l="l" t="t" r="r" b="b"/>
            <a:pathLst>
              <a:path w="3465195" h="3465195" extrusionOk="0">
                <a:moveTo>
                  <a:pt x="1732481" y="0"/>
                </a:moveTo>
                <a:lnTo>
                  <a:pt x="1683988" y="665"/>
                </a:lnTo>
                <a:lnTo>
                  <a:pt x="1635824" y="2650"/>
                </a:lnTo>
                <a:lnTo>
                  <a:pt x="1588008" y="5938"/>
                </a:lnTo>
                <a:lnTo>
                  <a:pt x="1540555" y="10510"/>
                </a:lnTo>
                <a:lnTo>
                  <a:pt x="1493485" y="16350"/>
                </a:lnTo>
                <a:lnTo>
                  <a:pt x="1446813" y="23439"/>
                </a:lnTo>
                <a:lnTo>
                  <a:pt x="1400558" y="31762"/>
                </a:lnTo>
                <a:lnTo>
                  <a:pt x="1354737" y="41300"/>
                </a:lnTo>
                <a:lnTo>
                  <a:pt x="1309368" y="52036"/>
                </a:lnTo>
                <a:lnTo>
                  <a:pt x="1264466" y="63952"/>
                </a:lnTo>
                <a:lnTo>
                  <a:pt x="1220051" y="77032"/>
                </a:lnTo>
                <a:lnTo>
                  <a:pt x="1176139" y="91258"/>
                </a:lnTo>
                <a:lnTo>
                  <a:pt x="1132748" y="106612"/>
                </a:lnTo>
                <a:lnTo>
                  <a:pt x="1089895" y="123078"/>
                </a:lnTo>
                <a:lnTo>
                  <a:pt x="1047597" y="140637"/>
                </a:lnTo>
                <a:lnTo>
                  <a:pt x="1005872" y="159273"/>
                </a:lnTo>
                <a:lnTo>
                  <a:pt x="964737" y="178968"/>
                </a:lnTo>
                <a:lnTo>
                  <a:pt x="924210" y="199704"/>
                </a:lnTo>
                <a:lnTo>
                  <a:pt x="884307" y="221465"/>
                </a:lnTo>
                <a:lnTo>
                  <a:pt x="845047" y="244233"/>
                </a:lnTo>
                <a:lnTo>
                  <a:pt x="806447" y="267990"/>
                </a:lnTo>
                <a:lnTo>
                  <a:pt x="768523" y="292720"/>
                </a:lnTo>
                <a:lnTo>
                  <a:pt x="731294" y="318405"/>
                </a:lnTo>
                <a:lnTo>
                  <a:pt x="694776" y="345027"/>
                </a:lnTo>
                <a:lnTo>
                  <a:pt x="658988" y="372569"/>
                </a:lnTo>
                <a:lnTo>
                  <a:pt x="623946" y="401014"/>
                </a:lnTo>
                <a:lnTo>
                  <a:pt x="589668" y="430344"/>
                </a:lnTo>
                <a:lnTo>
                  <a:pt x="556171" y="460542"/>
                </a:lnTo>
                <a:lnTo>
                  <a:pt x="523473" y="491591"/>
                </a:lnTo>
                <a:lnTo>
                  <a:pt x="491591" y="523474"/>
                </a:lnTo>
                <a:lnTo>
                  <a:pt x="460542" y="556172"/>
                </a:lnTo>
                <a:lnTo>
                  <a:pt x="430343" y="589669"/>
                </a:lnTo>
                <a:lnTo>
                  <a:pt x="401013" y="623947"/>
                </a:lnTo>
                <a:lnTo>
                  <a:pt x="372568" y="658989"/>
                </a:lnTo>
                <a:lnTo>
                  <a:pt x="345026" y="694777"/>
                </a:lnTo>
                <a:lnTo>
                  <a:pt x="318404" y="731295"/>
                </a:lnTo>
                <a:lnTo>
                  <a:pt x="292720" y="768524"/>
                </a:lnTo>
                <a:lnTo>
                  <a:pt x="267990" y="806447"/>
                </a:lnTo>
                <a:lnTo>
                  <a:pt x="244233" y="845048"/>
                </a:lnTo>
                <a:lnTo>
                  <a:pt x="221465" y="884308"/>
                </a:lnTo>
                <a:lnTo>
                  <a:pt x="199704" y="924211"/>
                </a:lnTo>
                <a:lnTo>
                  <a:pt x="178967" y="964738"/>
                </a:lnTo>
                <a:lnTo>
                  <a:pt x="159273" y="1005873"/>
                </a:lnTo>
                <a:lnTo>
                  <a:pt x="140637" y="1047598"/>
                </a:lnTo>
                <a:lnTo>
                  <a:pt x="123078" y="1089896"/>
                </a:lnTo>
                <a:lnTo>
                  <a:pt x="106612" y="1132749"/>
                </a:lnTo>
                <a:lnTo>
                  <a:pt x="91258" y="1176140"/>
                </a:lnTo>
                <a:lnTo>
                  <a:pt x="77032" y="1220052"/>
                </a:lnTo>
                <a:lnTo>
                  <a:pt x="63952" y="1264467"/>
                </a:lnTo>
                <a:lnTo>
                  <a:pt x="52036" y="1309369"/>
                </a:lnTo>
                <a:lnTo>
                  <a:pt x="41300" y="1354739"/>
                </a:lnTo>
                <a:lnTo>
                  <a:pt x="31762" y="1400560"/>
                </a:lnTo>
                <a:lnTo>
                  <a:pt x="23439" y="1446815"/>
                </a:lnTo>
                <a:lnTo>
                  <a:pt x="16350" y="1493486"/>
                </a:lnTo>
                <a:lnTo>
                  <a:pt x="10510" y="1540557"/>
                </a:lnTo>
                <a:lnTo>
                  <a:pt x="5938" y="1588009"/>
                </a:lnTo>
                <a:lnTo>
                  <a:pt x="2650" y="1635826"/>
                </a:lnTo>
                <a:lnTo>
                  <a:pt x="665" y="1683989"/>
                </a:lnTo>
                <a:lnTo>
                  <a:pt x="0" y="1732483"/>
                </a:lnTo>
                <a:lnTo>
                  <a:pt x="665" y="1780975"/>
                </a:lnTo>
                <a:lnTo>
                  <a:pt x="2650" y="1829139"/>
                </a:lnTo>
                <a:lnTo>
                  <a:pt x="5938" y="1876955"/>
                </a:lnTo>
                <a:lnTo>
                  <a:pt x="10510" y="1924406"/>
                </a:lnTo>
                <a:lnTo>
                  <a:pt x="16350" y="1971476"/>
                </a:lnTo>
                <a:lnTo>
                  <a:pt x="23439" y="2018147"/>
                </a:lnTo>
                <a:lnTo>
                  <a:pt x="31762" y="2064402"/>
                </a:lnTo>
                <a:lnTo>
                  <a:pt x="41300" y="2110222"/>
                </a:lnTo>
                <a:lnTo>
                  <a:pt x="52036" y="2155592"/>
                </a:lnTo>
                <a:lnTo>
                  <a:pt x="63952" y="2200493"/>
                </a:lnTo>
                <a:lnTo>
                  <a:pt x="77032" y="2244908"/>
                </a:lnTo>
                <a:lnTo>
                  <a:pt x="91258" y="2288819"/>
                </a:lnTo>
                <a:lnTo>
                  <a:pt x="106612" y="2332210"/>
                </a:lnTo>
                <a:lnTo>
                  <a:pt x="123078" y="2375063"/>
                </a:lnTo>
                <a:lnTo>
                  <a:pt x="140637" y="2417360"/>
                </a:lnTo>
                <a:lnTo>
                  <a:pt x="159273" y="2459085"/>
                </a:lnTo>
                <a:lnTo>
                  <a:pt x="178967" y="2500220"/>
                </a:lnTo>
                <a:lnTo>
                  <a:pt x="199704" y="2540747"/>
                </a:lnTo>
                <a:lnTo>
                  <a:pt x="221465" y="2580649"/>
                </a:lnTo>
                <a:lnTo>
                  <a:pt x="244233" y="2619909"/>
                </a:lnTo>
                <a:lnTo>
                  <a:pt x="267990" y="2658509"/>
                </a:lnTo>
                <a:lnTo>
                  <a:pt x="292720" y="2696432"/>
                </a:lnTo>
                <a:lnTo>
                  <a:pt x="318404" y="2733661"/>
                </a:lnTo>
                <a:lnTo>
                  <a:pt x="345026" y="2770179"/>
                </a:lnTo>
                <a:lnTo>
                  <a:pt x="372568" y="2805967"/>
                </a:lnTo>
                <a:lnTo>
                  <a:pt x="401013" y="2841008"/>
                </a:lnTo>
                <a:lnTo>
                  <a:pt x="430343" y="2875286"/>
                </a:lnTo>
                <a:lnTo>
                  <a:pt x="460542" y="2908783"/>
                </a:lnTo>
                <a:lnTo>
                  <a:pt x="491591" y="2941481"/>
                </a:lnTo>
                <a:lnTo>
                  <a:pt x="523473" y="2973363"/>
                </a:lnTo>
                <a:lnTo>
                  <a:pt x="556171" y="3004412"/>
                </a:lnTo>
                <a:lnTo>
                  <a:pt x="589668" y="3034611"/>
                </a:lnTo>
                <a:lnTo>
                  <a:pt x="623946" y="3063941"/>
                </a:lnTo>
                <a:lnTo>
                  <a:pt x="658988" y="3092386"/>
                </a:lnTo>
                <a:lnTo>
                  <a:pt x="694776" y="3119928"/>
                </a:lnTo>
                <a:lnTo>
                  <a:pt x="731294" y="3146550"/>
                </a:lnTo>
                <a:lnTo>
                  <a:pt x="768523" y="3172234"/>
                </a:lnTo>
                <a:lnTo>
                  <a:pt x="806447" y="3196964"/>
                </a:lnTo>
                <a:lnTo>
                  <a:pt x="845047" y="3220721"/>
                </a:lnTo>
                <a:lnTo>
                  <a:pt x="884307" y="3243489"/>
                </a:lnTo>
                <a:lnTo>
                  <a:pt x="924210" y="3265250"/>
                </a:lnTo>
                <a:lnTo>
                  <a:pt x="964737" y="3285986"/>
                </a:lnTo>
                <a:lnTo>
                  <a:pt x="1005872" y="3305681"/>
                </a:lnTo>
                <a:lnTo>
                  <a:pt x="1047597" y="3324317"/>
                </a:lnTo>
                <a:lnTo>
                  <a:pt x="1089895" y="3341876"/>
                </a:lnTo>
                <a:lnTo>
                  <a:pt x="1132748" y="3358342"/>
                </a:lnTo>
                <a:lnTo>
                  <a:pt x="1176139" y="3373696"/>
                </a:lnTo>
                <a:lnTo>
                  <a:pt x="1220051" y="3387922"/>
                </a:lnTo>
                <a:lnTo>
                  <a:pt x="1264466" y="3401002"/>
                </a:lnTo>
                <a:lnTo>
                  <a:pt x="1309368" y="3412918"/>
                </a:lnTo>
                <a:lnTo>
                  <a:pt x="1354737" y="3423654"/>
                </a:lnTo>
                <a:lnTo>
                  <a:pt x="1400558" y="3433192"/>
                </a:lnTo>
                <a:lnTo>
                  <a:pt x="1446813" y="3441515"/>
                </a:lnTo>
                <a:lnTo>
                  <a:pt x="1493485" y="3448604"/>
                </a:lnTo>
                <a:lnTo>
                  <a:pt x="1540555" y="3454444"/>
                </a:lnTo>
                <a:lnTo>
                  <a:pt x="1588008" y="3459016"/>
                </a:lnTo>
                <a:lnTo>
                  <a:pt x="1635824" y="3462304"/>
                </a:lnTo>
                <a:lnTo>
                  <a:pt x="1683988" y="3464289"/>
                </a:lnTo>
                <a:lnTo>
                  <a:pt x="1732481" y="3464954"/>
                </a:lnTo>
                <a:lnTo>
                  <a:pt x="1780974" y="3464289"/>
                </a:lnTo>
                <a:lnTo>
                  <a:pt x="1829137" y="3462304"/>
                </a:lnTo>
                <a:lnTo>
                  <a:pt x="1876953" y="3459016"/>
                </a:lnTo>
                <a:lnTo>
                  <a:pt x="1924405" y="3454444"/>
                </a:lnTo>
                <a:lnTo>
                  <a:pt x="1971475" y="3448604"/>
                </a:lnTo>
                <a:lnTo>
                  <a:pt x="2018146" y="3441515"/>
                </a:lnTo>
                <a:lnTo>
                  <a:pt x="2064400" y="3433192"/>
                </a:lnTo>
                <a:lnTo>
                  <a:pt x="2110221" y="3423654"/>
                </a:lnTo>
                <a:lnTo>
                  <a:pt x="2155590" y="3412918"/>
                </a:lnTo>
                <a:lnTo>
                  <a:pt x="2200491" y="3401002"/>
                </a:lnTo>
                <a:lnTo>
                  <a:pt x="2244906" y="3387922"/>
                </a:lnTo>
                <a:lnTo>
                  <a:pt x="2288818" y="3373696"/>
                </a:lnTo>
                <a:lnTo>
                  <a:pt x="2332209" y="3358342"/>
                </a:lnTo>
                <a:lnTo>
                  <a:pt x="2375061" y="3341876"/>
                </a:lnTo>
                <a:lnTo>
                  <a:pt x="2417359" y="3324317"/>
                </a:lnTo>
                <a:lnTo>
                  <a:pt x="2459084" y="3305681"/>
                </a:lnTo>
                <a:lnTo>
                  <a:pt x="2500218" y="3285986"/>
                </a:lnTo>
                <a:lnTo>
                  <a:pt x="2540745" y="3265250"/>
                </a:lnTo>
                <a:lnTo>
                  <a:pt x="2580647" y="3243489"/>
                </a:lnTo>
                <a:lnTo>
                  <a:pt x="2619907" y="3220721"/>
                </a:lnTo>
                <a:lnTo>
                  <a:pt x="2658507" y="3196964"/>
                </a:lnTo>
                <a:lnTo>
                  <a:pt x="2696431" y="3172234"/>
                </a:lnTo>
                <a:lnTo>
                  <a:pt x="2733660" y="3146550"/>
                </a:lnTo>
                <a:lnTo>
                  <a:pt x="2770177" y="3119928"/>
                </a:lnTo>
                <a:lnTo>
                  <a:pt x="2805965" y="3092386"/>
                </a:lnTo>
                <a:lnTo>
                  <a:pt x="2841007" y="3063941"/>
                </a:lnTo>
                <a:lnTo>
                  <a:pt x="2875284" y="3034611"/>
                </a:lnTo>
                <a:lnTo>
                  <a:pt x="2908781" y="3004412"/>
                </a:lnTo>
                <a:lnTo>
                  <a:pt x="2941479" y="2973363"/>
                </a:lnTo>
                <a:lnTo>
                  <a:pt x="2973361" y="2941481"/>
                </a:lnTo>
                <a:lnTo>
                  <a:pt x="3004410" y="2908783"/>
                </a:lnTo>
                <a:lnTo>
                  <a:pt x="3034609" y="2875286"/>
                </a:lnTo>
                <a:lnTo>
                  <a:pt x="3063939" y="2841008"/>
                </a:lnTo>
                <a:lnTo>
                  <a:pt x="3092384" y="2805967"/>
                </a:lnTo>
                <a:lnTo>
                  <a:pt x="3119926" y="2770179"/>
                </a:lnTo>
                <a:lnTo>
                  <a:pt x="3146548" y="2733661"/>
                </a:lnTo>
                <a:lnTo>
                  <a:pt x="3172232" y="2696432"/>
                </a:lnTo>
                <a:lnTo>
                  <a:pt x="3196962" y="2658509"/>
                </a:lnTo>
                <a:lnTo>
                  <a:pt x="3220719" y="2619909"/>
                </a:lnTo>
                <a:lnTo>
                  <a:pt x="3243487" y="2580649"/>
                </a:lnTo>
                <a:lnTo>
                  <a:pt x="3265248" y="2540747"/>
                </a:lnTo>
                <a:lnTo>
                  <a:pt x="3285984" y="2500220"/>
                </a:lnTo>
                <a:lnTo>
                  <a:pt x="3305679" y="2459085"/>
                </a:lnTo>
                <a:lnTo>
                  <a:pt x="3324315" y="2417360"/>
                </a:lnTo>
                <a:lnTo>
                  <a:pt x="3341874" y="2375063"/>
                </a:lnTo>
                <a:lnTo>
                  <a:pt x="3358339" y="2332210"/>
                </a:lnTo>
                <a:lnTo>
                  <a:pt x="3373694" y="2288819"/>
                </a:lnTo>
                <a:lnTo>
                  <a:pt x="3387919" y="2244908"/>
                </a:lnTo>
                <a:lnTo>
                  <a:pt x="3400999" y="2200493"/>
                </a:lnTo>
                <a:lnTo>
                  <a:pt x="3412916" y="2155592"/>
                </a:lnTo>
                <a:lnTo>
                  <a:pt x="3423652" y="2110222"/>
                </a:lnTo>
                <a:lnTo>
                  <a:pt x="3433190" y="2064402"/>
                </a:lnTo>
                <a:lnTo>
                  <a:pt x="3441512" y="2018147"/>
                </a:lnTo>
                <a:lnTo>
                  <a:pt x="3448602" y="1971476"/>
                </a:lnTo>
                <a:lnTo>
                  <a:pt x="3454442" y="1924406"/>
                </a:lnTo>
                <a:lnTo>
                  <a:pt x="3459014" y="1876955"/>
                </a:lnTo>
                <a:lnTo>
                  <a:pt x="3462301" y="1829139"/>
                </a:lnTo>
                <a:lnTo>
                  <a:pt x="3464286" y="1780975"/>
                </a:lnTo>
                <a:lnTo>
                  <a:pt x="3464952" y="1732483"/>
                </a:lnTo>
                <a:lnTo>
                  <a:pt x="3464286" y="1683989"/>
                </a:lnTo>
                <a:lnTo>
                  <a:pt x="3462301" y="1635826"/>
                </a:lnTo>
                <a:lnTo>
                  <a:pt x="3459014" y="1588009"/>
                </a:lnTo>
                <a:lnTo>
                  <a:pt x="3454442" y="1540557"/>
                </a:lnTo>
                <a:lnTo>
                  <a:pt x="3448602" y="1493486"/>
                </a:lnTo>
                <a:lnTo>
                  <a:pt x="3441512" y="1446815"/>
                </a:lnTo>
                <a:lnTo>
                  <a:pt x="3433190" y="1400560"/>
                </a:lnTo>
                <a:lnTo>
                  <a:pt x="3423652" y="1354739"/>
                </a:lnTo>
                <a:lnTo>
                  <a:pt x="3412916" y="1309369"/>
                </a:lnTo>
                <a:lnTo>
                  <a:pt x="3400999" y="1264467"/>
                </a:lnTo>
                <a:lnTo>
                  <a:pt x="3387919" y="1220052"/>
                </a:lnTo>
                <a:lnTo>
                  <a:pt x="3373694" y="1176140"/>
                </a:lnTo>
                <a:lnTo>
                  <a:pt x="3358339" y="1132749"/>
                </a:lnTo>
                <a:lnTo>
                  <a:pt x="3341874" y="1089896"/>
                </a:lnTo>
                <a:lnTo>
                  <a:pt x="3324315" y="1047598"/>
                </a:lnTo>
                <a:lnTo>
                  <a:pt x="3305679" y="1005873"/>
                </a:lnTo>
                <a:lnTo>
                  <a:pt x="3285984" y="964738"/>
                </a:lnTo>
                <a:lnTo>
                  <a:pt x="3265248" y="924211"/>
                </a:lnTo>
                <a:lnTo>
                  <a:pt x="3243487" y="884308"/>
                </a:lnTo>
                <a:lnTo>
                  <a:pt x="3220719" y="845048"/>
                </a:lnTo>
                <a:lnTo>
                  <a:pt x="3196962" y="806447"/>
                </a:lnTo>
                <a:lnTo>
                  <a:pt x="3172232" y="768524"/>
                </a:lnTo>
                <a:lnTo>
                  <a:pt x="3146548" y="731295"/>
                </a:lnTo>
                <a:lnTo>
                  <a:pt x="3119926" y="694777"/>
                </a:lnTo>
                <a:lnTo>
                  <a:pt x="3092384" y="658989"/>
                </a:lnTo>
                <a:lnTo>
                  <a:pt x="3063939" y="623947"/>
                </a:lnTo>
                <a:lnTo>
                  <a:pt x="3034609" y="589669"/>
                </a:lnTo>
                <a:lnTo>
                  <a:pt x="3004410" y="556172"/>
                </a:lnTo>
                <a:lnTo>
                  <a:pt x="2973361" y="523474"/>
                </a:lnTo>
                <a:lnTo>
                  <a:pt x="2941479" y="491591"/>
                </a:lnTo>
                <a:lnTo>
                  <a:pt x="2908781" y="460542"/>
                </a:lnTo>
                <a:lnTo>
                  <a:pt x="2875284" y="430344"/>
                </a:lnTo>
                <a:lnTo>
                  <a:pt x="2841007" y="401014"/>
                </a:lnTo>
                <a:lnTo>
                  <a:pt x="2805965" y="372569"/>
                </a:lnTo>
                <a:lnTo>
                  <a:pt x="2770177" y="345027"/>
                </a:lnTo>
                <a:lnTo>
                  <a:pt x="2733660" y="318405"/>
                </a:lnTo>
                <a:lnTo>
                  <a:pt x="2696431" y="292720"/>
                </a:lnTo>
                <a:lnTo>
                  <a:pt x="2658507" y="267990"/>
                </a:lnTo>
                <a:lnTo>
                  <a:pt x="2619907" y="244233"/>
                </a:lnTo>
                <a:lnTo>
                  <a:pt x="2580647" y="221465"/>
                </a:lnTo>
                <a:lnTo>
                  <a:pt x="2540745" y="199704"/>
                </a:lnTo>
                <a:lnTo>
                  <a:pt x="2500218" y="178968"/>
                </a:lnTo>
                <a:lnTo>
                  <a:pt x="2459084" y="159273"/>
                </a:lnTo>
                <a:lnTo>
                  <a:pt x="2417359" y="140637"/>
                </a:lnTo>
                <a:lnTo>
                  <a:pt x="2375061" y="123078"/>
                </a:lnTo>
                <a:lnTo>
                  <a:pt x="2332209" y="106612"/>
                </a:lnTo>
                <a:lnTo>
                  <a:pt x="2288818" y="91258"/>
                </a:lnTo>
                <a:lnTo>
                  <a:pt x="2244906" y="77032"/>
                </a:lnTo>
                <a:lnTo>
                  <a:pt x="2200491" y="63952"/>
                </a:lnTo>
                <a:lnTo>
                  <a:pt x="2155590" y="52036"/>
                </a:lnTo>
                <a:lnTo>
                  <a:pt x="2110221" y="41300"/>
                </a:lnTo>
                <a:lnTo>
                  <a:pt x="2064400" y="31762"/>
                </a:lnTo>
                <a:lnTo>
                  <a:pt x="2018146" y="23439"/>
                </a:lnTo>
                <a:lnTo>
                  <a:pt x="1971475" y="16350"/>
                </a:lnTo>
                <a:lnTo>
                  <a:pt x="1924405" y="10510"/>
                </a:lnTo>
                <a:lnTo>
                  <a:pt x="1876953" y="5938"/>
                </a:lnTo>
                <a:lnTo>
                  <a:pt x="1829137" y="2650"/>
                </a:lnTo>
                <a:lnTo>
                  <a:pt x="1780974" y="665"/>
                </a:lnTo>
                <a:lnTo>
                  <a:pt x="1732481" y="0"/>
                </a:lnTo>
                <a:close/>
              </a:path>
            </a:pathLst>
          </a:custGeom>
          <a:solidFill>
            <a:srgbClr val="C0504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 name="Google Shape;42;p6"/>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514197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1"/>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2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a:solidFill>
                  <a:srgbClr val="888888"/>
                </a:solidFill>
                <a:latin typeface="Calibri"/>
                <a:ea typeface="Calibri"/>
                <a:cs typeface="Calibri"/>
                <a:sym typeface="Calibri"/>
              </a:defRPr>
            </a:lvl1pPr>
            <a:lvl2pPr marL="0" marR="0" lvl="1" indent="0" algn="r" rtl="0">
              <a:spcBef>
                <a:spcPts val="0"/>
              </a:spcBef>
              <a:buNone/>
              <a:defRPr sz="1800">
                <a:solidFill>
                  <a:srgbClr val="888888"/>
                </a:solidFill>
                <a:latin typeface="Calibri"/>
                <a:ea typeface="Calibri"/>
                <a:cs typeface="Calibri"/>
                <a:sym typeface="Calibri"/>
              </a:defRPr>
            </a:lvl2pPr>
            <a:lvl3pPr marL="0" marR="0" lvl="2" indent="0" algn="r" rtl="0">
              <a:spcBef>
                <a:spcPts val="0"/>
              </a:spcBef>
              <a:buNone/>
              <a:defRPr sz="1800">
                <a:solidFill>
                  <a:srgbClr val="888888"/>
                </a:solidFill>
                <a:latin typeface="Calibri"/>
                <a:ea typeface="Calibri"/>
                <a:cs typeface="Calibri"/>
                <a:sym typeface="Calibri"/>
              </a:defRPr>
            </a:lvl3pPr>
            <a:lvl4pPr marL="0" marR="0" lvl="3" indent="0" algn="r" rtl="0">
              <a:spcBef>
                <a:spcPts val="0"/>
              </a:spcBef>
              <a:buNone/>
              <a:defRPr sz="1800">
                <a:solidFill>
                  <a:srgbClr val="888888"/>
                </a:solidFill>
                <a:latin typeface="Calibri"/>
                <a:ea typeface="Calibri"/>
                <a:cs typeface="Calibri"/>
                <a:sym typeface="Calibri"/>
              </a:defRPr>
            </a:lvl4pPr>
            <a:lvl5pPr marL="0" marR="0" lvl="4" indent="0" algn="r" rtl="0">
              <a:spcBef>
                <a:spcPts val="0"/>
              </a:spcBef>
              <a:buNone/>
              <a:defRPr sz="1800">
                <a:solidFill>
                  <a:srgbClr val="888888"/>
                </a:solidFill>
                <a:latin typeface="Calibri"/>
                <a:ea typeface="Calibri"/>
                <a:cs typeface="Calibri"/>
                <a:sym typeface="Calibri"/>
              </a:defRPr>
            </a:lvl5pPr>
            <a:lvl6pPr marL="0" marR="0" lvl="5" indent="0" algn="r" rtl="0">
              <a:spcBef>
                <a:spcPts val="0"/>
              </a:spcBef>
              <a:buNone/>
              <a:defRPr sz="1800">
                <a:solidFill>
                  <a:srgbClr val="888888"/>
                </a:solidFill>
                <a:latin typeface="Calibri"/>
                <a:ea typeface="Calibri"/>
                <a:cs typeface="Calibri"/>
                <a:sym typeface="Calibri"/>
              </a:defRPr>
            </a:lvl6pPr>
            <a:lvl7pPr marL="0" marR="0" lvl="6" indent="0" algn="r" rtl="0">
              <a:spcBef>
                <a:spcPts val="0"/>
              </a:spcBef>
              <a:buNone/>
              <a:defRPr sz="1800">
                <a:solidFill>
                  <a:srgbClr val="888888"/>
                </a:solidFill>
                <a:latin typeface="Calibri"/>
                <a:ea typeface="Calibri"/>
                <a:cs typeface="Calibri"/>
                <a:sym typeface="Calibri"/>
              </a:defRPr>
            </a:lvl7pPr>
            <a:lvl8pPr marL="0" marR="0" lvl="7" indent="0" algn="r" rtl="0">
              <a:spcBef>
                <a:spcPts val="0"/>
              </a:spcBef>
              <a:buNone/>
              <a:defRPr sz="1800">
                <a:solidFill>
                  <a:srgbClr val="888888"/>
                </a:solidFill>
                <a:latin typeface="Calibri"/>
                <a:ea typeface="Calibri"/>
                <a:cs typeface="Calibri"/>
                <a:sym typeface="Calibri"/>
              </a:defRPr>
            </a:lvl8pPr>
            <a:lvl9pPr marL="0" marR="0" lvl="8" indent="0" algn="r" rtl="0">
              <a:spcBef>
                <a:spcPts val="0"/>
              </a:spcBef>
              <a:buNone/>
              <a:defRPr sz="18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b="0" u="none"/>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7"/>
          <p:cNvSpPr/>
          <p:nvPr/>
        </p:nvSpPr>
        <p:spPr>
          <a:xfrm>
            <a:off x="0" y="-19050"/>
            <a:ext cx="9144000" cy="5142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1" name="Google Shape;51;p7"/>
          <p:cNvSpPr txBox="1">
            <a:spLocks noGrp="1"/>
          </p:cNvSpPr>
          <p:nvPr>
            <p:ph type="title"/>
          </p:nvPr>
        </p:nvSpPr>
        <p:spPr>
          <a:xfrm>
            <a:off x="446421" y="716800"/>
            <a:ext cx="8145000" cy="1227880"/>
          </a:xfrm>
          <a:prstGeom prst="rect">
            <a:avLst/>
          </a:prstGeom>
          <a:noFill/>
          <a:ln>
            <a:noFill/>
          </a:ln>
        </p:spPr>
        <p:txBody>
          <a:bodyPr spcFirstLastPara="1" wrap="square" lIns="0" tIns="55225" rIns="0" bIns="0" anchor="t" anchorCtr="0">
            <a:spAutoFit/>
          </a:bodyPr>
          <a:lstStyle/>
          <a:p>
            <a:pPr marL="12700" marR="5080" lvl="0" indent="2540" algn="ctr">
              <a:lnSpc>
                <a:spcPct val="99700"/>
              </a:lnSpc>
              <a:spcBef>
                <a:spcPts val="540"/>
              </a:spcBef>
            </a:pPr>
            <a:r>
              <a:rPr lang="vi-VN" sz="2400" b="1" dirty="0">
                <a:solidFill>
                  <a:srgbClr val="FFFFFF"/>
                </a:solidFill>
              </a:rPr>
              <a:t>CĂN CHỈNH VÀ TÍCH HỢP THÔNG TIN CỘNG TÁC NHẰM NÂNG CAO HIỆU QUẢ CHO HỆ THỐNG TƯ VẤN DỰA TRÊN MÔ HÌNH NGÔN NGỮ LỚN</a:t>
            </a:r>
            <a:endParaRPr sz="2400" dirty="0">
              <a:latin typeface="Arial"/>
              <a:ea typeface="Arial"/>
              <a:cs typeface="Arial"/>
              <a:sym typeface="Arial"/>
            </a:endParaRPr>
          </a:p>
        </p:txBody>
      </p:sp>
      <p:pic>
        <p:nvPicPr>
          <p:cNvPr id="52" name="Google Shape;52;p7"/>
          <p:cNvPicPr preferRelativeResize="0"/>
          <p:nvPr/>
        </p:nvPicPr>
        <p:blipFill rotWithShape="1">
          <a:blip r:embed="rId4">
            <a:alphaModFix/>
          </a:blip>
          <a:srcRect/>
          <a:stretch/>
        </p:blipFill>
        <p:spPr>
          <a:xfrm>
            <a:off x="23734" y="3782921"/>
            <a:ext cx="1474120" cy="1474120"/>
          </a:xfrm>
          <a:prstGeom prst="rect">
            <a:avLst/>
          </a:prstGeom>
          <a:noFill/>
          <a:ln>
            <a:noFill/>
          </a:ln>
        </p:spPr>
      </p:pic>
      <p:sp>
        <p:nvSpPr>
          <p:cNvPr id="54" name="Google Shape;54;p7"/>
          <p:cNvSpPr txBox="1"/>
          <p:nvPr/>
        </p:nvSpPr>
        <p:spPr>
          <a:xfrm>
            <a:off x="2693617" y="2073227"/>
            <a:ext cx="7049855" cy="855983"/>
          </a:xfrm>
          <a:prstGeom prst="rect">
            <a:avLst/>
          </a:prstGeom>
          <a:noFill/>
          <a:ln>
            <a:noFill/>
          </a:ln>
        </p:spPr>
        <p:txBody>
          <a:bodyPr spcFirstLastPara="1" wrap="square" lIns="0" tIns="55225" rIns="0" bIns="0" anchor="t" anchorCtr="0">
            <a:spAutoFit/>
          </a:bodyPr>
          <a:lstStyle/>
          <a:p>
            <a:pPr marL="109220" lvl="0" algn="just">
              <a:spcBef>
                <a:spcPts val="434"/>
              </a:spcBef>
            </a:pPr>
            <a:r>
              <a:rPr lang="en-US" sz="1400" b="0" i="0" dirty="0" smtClean="0">
                <a:solidFill>
                  <a:schemeClr val="lt1"/>
                </a:solidFill>
                <a:latin typeface="Arial"/>
                <a:ea typeface="Arial"/>
                <a:cs typeface="Arial"/>
                <a:sym typeface="Arial"/>
              </a:rPr>
              <a:t>		</a:t>
            </a:r>
            <a:r>
              <a:rPr lang="vi-VN" sz="1400" b="0" i="0" dirty="0" smtClean="0">
                <a:solidFill>
                  <a:schemeClr val="lt1"/>
                </a:solidFill>
                <a:latin typeface="Arial"/>
                <a:ea typeface="Arial"/>
                <a:cs typeface="Arial"/>
                <a:sym typeface="Arial"/>
              </a:rPr>
              <a:t>Học </a:t>
            </a:r>
            <a:r>
              <a:rPr lang="vi-VN" sz="1400" b="0" i="0" dirty="0">
                <a:solidFill>
                  <a:schemeClr val="lt1"/>
                </a:solidFill>
                <a:latin typeface="Arial"/>
                <a:ea typeface="Arial"/>
                <a:cs typeface="Arial"/>
                <a:sym typeface="Arial"/>
              </a:rPr>
              <a:t>viên thực hiện: 	</a:t>
            </a:r>
            <a:r>
              <a:rPr lang="vi-VN" dirty="0" smtClean="0">
                <a:solidFill>
                  <a:schemeClr val="lt1"/>
                </a:solidFill>
              </a:rPr>
              <a:t>Bùi </a:t>
            </a:r>
            <a:r>
              <a:rPr lang="vi-VN" dirty="0">
                <a:solidFill>
                  <a:schemeClr val="lt1"/>
                </a:solidFill>
              </a:rPr>
              <a:t>Nguyên Quốc </a:t>
            </a:r>
            <a:r>
              <a:rPr lang="vi-VN" dirty="0" smtClean="0">
                <a:solidFill>
                  <a:schemeClr val="lt1"/>
                </a:solidFill>
              </a:rPr>
              <a:t>Bảo</a:t>
            </a:r>
            <a:endParaRPr lang="en-US" dirty="0" smtClean="0">
              <a:solidFill>
                <a:schemeClr val="lt1"/>
              </a:solidFill>
            </a:endParaRPr>
          </a:p>
          <a:p>
            <a:pPr marL="109220" lvl="0" algn="just">
              <a:spcBef>
                <a:spcPts val="434"/>
              </a:spcBef>
            </a:pPr>
            <a:r>
              <a:rPr lang="en-US" dirty="0">
                <a:solidFill>
                  <a:schemeClr val="lt1"/>
                </a:solidFill>
              </a:rPr>
              <a:t>	</a:t>
            </a:r>
            <a:r>
              <a:rPr lang="en-US" dirty="0" smtClean="0">
                <a:solidFill>
                  <a:schemeClr val="lt1"/>
                </a:solidFill>
              </a:rPr>
              <a:t>	MSHV:		24C12002</a:t>
            </a:r>
          </a:p>
          <a:p>
            <a:pPr marL="109220" lvl="0" algn="just">
              <a:spcBef>
                <a:spcPts val="434"/>
              </a:spcBef>
            </a:pPr>
            <a:r>
              <a:rPr lang="en-US" dirty="0">
                <a:solidFill>
                  <a:schemeClr val="lt1"/>
                </a:solidFill>
              </a:rPr>
              <a:t>	</a:t>
            </a:r>
            <a:r>
              <a:rPr lang="en-US" dirty="0" smtClean="0">
                <a:solidFill>
                  <a:schemeClr val="lt1"/>
                </a:solidFill>
              </a:rPr>
              <a:t>	</a:t>
            </a:r>
            <a:r>
              <a:rPr lang="en-US" dirty="0" err="1" smtClean="0">
                <a:solidFill>
                  <a:schemeClr val="lt1"/>
                </a:solidFill>
              </a:rPr>
              <a:t>Ngành</a:t>
            </a:r>
            <a:r>
              <a:rPr lang="en-US" dirty="0" smtClean="0">
                <a:solidFill>
                  <a:schemeClr val="lt1"/>
                </a:solidFill>
              </a:rPr>
              <a:t> </a:t>
            </a:r>
            <a:r>
              <a:rPr lang="en-US" dirty="0" err="1" smtClean="0">
                <a:solidFill>
                  <a:schemeClr val="lt1"/>
                </a:solidFill>
              </a:rPr>
              <a:t>đào</a:t>
            </a:r>
            <a:r>
              <a:rPr lang="en-US" dirty="0" smtClean="0">
                <a:solidFill>
                  <a:schemeClr val="lt1"/>
                </a:solidFill>
              </a:rPr>
              <a:t> </a:t>
            </a:r>
            <a:r>
              <a:rPr lang="en-US" dirty="0" err="1" smtClean="0">
                <a:solidFill>
                  <a:schemeClr val="lt1"/>
                </a:solidFill>
              </a:rPr>
              <a:t>tạo</a:t>
            </a:r>
            <a:r>
              <a:rPr lang="en-US" dirty="0" smtClean="0">
                <a:solidFill>
                  <a:schemeClr val="lt1"/>
                </a:solidFill>
              </a:rPr>
              <a:t>:	</a:t>
            </a:r>
            <a:r>
              <a:rPr lang="en-US" dirty="0" err="1" smtClean="0">
                <a:solidFill>
                  <a:schemeClr val="lt1"/>
                </a:solidFill>
              </a:rPr>
              <a:t>Hệ</a:t>
            </a:r>
            <a:r>
              <a:rPr lang="en-US" dirty="0" smtClean="0">
                <a:solidFill>
                  <a:schemeClr val="lt1"/>
                </a:solidFill>
              </a:rPr>
              <a:t> </a:t>
            </a:r>
            <a:r>
              <a:rPr lang="en-US" dirty="0" err="1">
                <a:solidFill>
                  <a:schemeClr val="lt1"/>
                </a:solidFill>
              </a:rPr>
              <a:t>T</a:t>
            </a:r>
            <a:r>
              <a:rPr lang="en-US" dirty="0" err="1" smtClean="0">
                <a:solidFill>
                  <a:schemeClr val="lt1"/>
                </a:solidFill>
              </a:rPr>
              <a:t>hống</a:t>
            </a:r>
            <a:r>
              <a:rPr lang="en-US" dirty="0" smtClean="0">
                <a:solidFill>
                  <a:schemeClr val="lt1"/>
                </a:solidFill>
              </a:rPr>
              <a:t> </a:t>
            </a:r>
            <a:r>
              <a:rPr lang="en-US" dirty="0" err="1">
                <a:solidFill>
                  <a:schemeClr val="lt1"/>
                </a:solidFill>
              </a:rPr>
              <a:t>T</a:t>
            </a:r>
            <a:r>
              <a:rPr lang="en-US" dirty="0" err="1" smtClean="0">
                <a:solidFill>
                  <a:schemeClr val="lt1"/>
                </a:solidFill>
              </a:rPr>
              <a:t>hông</a:t>
            </a:r>
            <a:r>
              <a:rPr lang="en-US" dirty="0" smtClean="0">
                <a:solidFill>
                  <a:schemeClr val="lt1"/>
                </a:solidFill>
              </a:rPr>
              <a:t> Tin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a:t>Nội dung</a:t>
            </a:r>
            <a:endParaRPr dirty="0"/>
          </a:p>
        </p:txBody>
      </p:sp>
      <p:sp>
        <p:nvSpPr>
          <p:cNvPr id="60" name="Google Shape;60;p8"/>
          <p:cNvSpPr txBox="1"/>
          <p:nvPr/>
        </p:nvSpPr>
        <p:spPr>
          <a:xfrm>
            <a:off x="914400" y="971550"/>
            <a:ext cx="7086600" cy="2195473"/>
          </a:xfrm>
          <a:prstGeom prst="rect">
            <a:avLst/>
          </a:prstGeom>
          <a:noFill/>
          <a:ln>
            <a:noFill/>
          </a:ln>
        </p:spPr>
        <p:txBody>
          <a:bodyPr spcFirstLastPara="1" wrap="square" lIns="0" tIns="152400" rIns="0" bIns="0" anchor="t" anchorCtr="0">
            <a:spAutoFit/>
          </a:bodyPr>
          <a:lstStyle/>
          <a:p>
            <a:pPr marL="360045" lvl="0" indent="-347345">
              <a:spcBef>
                <a:spcPts val="1130"/>
              </a:spcBef>
              <a:buClr>
                <a:srgbClr val="F79646"/>
              </a:buClr>
              <a:buSzPts val="2400"/>
              <a:buFont typeface="Arial"/>
              <a:buChar char="❖"/>
            </a:pPr>
            <a:r>
              <a:rPr lang="en-US" sz="2400" dirty="0" err="1"/>
              <a:t>Tổng</a:t>
            </a:r>
            <a:r>
              <a:rPr lang="en-US" sz="2400" dirty="0"/>
              <a:t> </a:t>
            </a:r>
            <a:r>
              <a:rPr lang="en-US" sz="2400" dirty="0" err="1"/>
              <a:t>quan</a:t>
            </a:r>
            <a:r>
              <a:rPr lang="en-US" sz="2400" dirty="0"/>
              <a:t> </a:t>
            </a:r>
            <a:r>
              <a:rPr lang="en-US" sz="2400" dirty="0" err="1"/>
              <a:t>nghiên</a:t>
            </a:r>
            <a:r>
              <a:rPr lang="en-US" sz="2400" dirty="0"/>
              <a:t> </a:t>
            </a:r>
            <a:r>
              <a:rPr lang="en-US" sz="2400" dirty="0" err="1"/>
              <a:t>cứu</a:t>
            </a:r>
            <a:r>
              <a:rPr lang="en-US" sz="2400" dirty="0"/>
              <a:t> </a:t>
            </a:r>
            <a:r>
              <a:rPr lang="en-US" sz="2400" dirty="0" smtClean="0"/>
              <a:t>trước</a:t>
            </a:r>
          </a:p>
          <a:p>
            <a:pPr marL="360045" lvl="0" indent="-347345">
              <a:spcBef>
                <a:spcPts val="1130"/>
              </a:spcBef>
              <a:buClr>
                <a:srgbClr val="F79646"/>
              </a:buClr>
              <a:buSzPts val="2400"/>
              <a:buFont typeface="Arial"/>
              <a:buChar char="❖"/>
            </a:pPr>
            <a:r>
              <a:rPr lang="vi-VN" sz="2400" dirty="0" smtClean="0"/>
              <a:t>Q-Former (BLIP-2) và </a:t>
            </a:r>
            <a:r>
              <a:rPr lang="en-US" sz="2400" dirty="0" err="1" smtClean="0">
                <a:solidFill>
                  <a:schemeClr val="dk1"/>
                </a:solidFill>
              </a:rPr>
              <a:t>I</a:t>
            </a:r>
            <a:r>
              <a:rPr lang="en-US" sz="2400" dirty="0" err="1" smtClean="0"/>
              <a:t>nstructBLIP</a:t>
            </a:r>
            <a:endParaRPr lang="en-US" sz="2400" dirty="0" smtClean="0"/>
          </a:p>
          <a:p>
            <a:pPr marL="360045" lvl="0" indent="-347345">
              <a:spcBef>
                <a:spcPts val="1130"/>
              </a:spcBef>
              <a:buClr>
                <a:srgbClr val="F79646"/>
              </a:buClr>
              <a:buSzPts val="2400"/>
              <a:buFont typeface="Arial"/>
              <a:buChar char="❖"/>
            </a:pPr>
            <a:r>
              <a:rPr lang="en-US" sz="2400" dirty="0" err="1" smtClean="0">
                <a:solidFill>
                  <a:schemeClr val="dk1"/>
                </a:solidFill>
              </a:rPr>
              <a:t>Đề</a:t>
            </a:r>
            <a:r>
              <a:rPr lang="en-US" sz="2400" dirty="0" smtClean="0">
                <a:solidFill>
                  <a:schemeClr val="dk1"/>
                </a:solidFill>
              </a:rPr>
              <a:t> </a:t>
            </a:r>
            <a:r>
              <a:rPr lang="en-US" sz="2400" dirty="0" err="1" smtClean="0">
                <a:solidFill>
                  <a:schemeClr val="dk1"/>
                </a:solidFill>
              </a:rPr>
              <a:t>xuất</a:t>
            </a:r>
            <a:r>
              <a:rPr lang="en-US" sz="2400" dirty="0" smtClean="0">
                <a:solidFill>
                  <a:schemeClr val="dk1"/>
                </a:solidFill>
              </a:rPr>
              <a:t> và </a:t>
            </a:r>
            <a:r>
              <a:rPr lang="en-US" sz="2400" dirty="0" err="1" smtClean="0">
                <a:solidFill>
                  <a:schemeClr val="dk1"/>
                </a:solidFill>
              </a:rPr>
              <a:t>cải</a:t>
            </a:r>
            <a:r>
              <a:rPr lang="en-US" sz="2400" dirty="0" smtClean="0">
                <a:solidFill>
                  <a:schemeClr val="dk1"/>
                </a:solidFill>
              </a:rPr>
              <a:t> </a:t>
            </a:r>
            <a:r>
              <a:rPr lang="en-US" sz="2400" dirty="0" err="1" smtClean="0">
                <a:solidFill>
                  <a:schemeClr val="dk1"/>
                </a:solidFill>
              </a:rPr>
              <a:t>tiến</a:t>
            </a:r>
            <a:endParaRPr lang="vi-VN" sz="2400" dirty="0" smtClean="0">
              <a:solidFill>
                <a:schemeClr val="dk1"/>
              </a:solidFill>
            </a:endParaRPr>
          </a:p>
          <a:p>
            <a:pPr marL="360045" lvl="0" indent="-347345">
              <a:spcBef>
                <a:spcPts val="1130"/>
              </a:spcBef>
              <a:buClr>
                <a:srgbClr val="F79646"/>
              </a:buClr>
              <a:buSzPts val="2400"/>
              <a:buFont typeface="Arial"/>
              <a:buChar char="❖"/>
            </a:pPr>
            <a:r>
              <a:rPr lang="vi-VN" sz="2400" dirty="0" smtClean="0">
                <a:solidFill>
                  <a:schemeClr val="dk1"/>
                </a:solidFill>
              </a:rPr>
              <a:t>Tiến độ công việc</a:t>
            </a:r>
            <a:endParaRPr lang="en-US" sz="2400" dirty="0" smtClean="0">
              <a:solidFill>
                <a:schemeClr val="dk1"/>
              </a:solidFill>
            </a:endParaRPr>
          </a:p>
        </p:txBody>
      </p:sp>
      <p:sp>
        <p:nvSpPr>
          <p:cNvPr id="61" name="Google Shape;61;p8"/>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Tổng</a:t>
            </a:r>
            <a:r>
              <a:rPr lang="en-US" sz="2800" dirty="0"/>
              <a:t> </a:t>
            </a:r>
            <a:r>
              <a:rPr lang="en-US" sz="2800" dirty="0" err="1"/>
              <a:t>quan</a:t>
            </a:r>
            <a:r>
              <a:rPr lang="en-US" sz="2800" dirty="0"/>
              <a:t> </a:t>
            </a:r>
            <a:r>
              <a:rPr lang="en-US" sz="2800" dirty="0" err="1"/>
              <a:t>nghiên</a:t>
            </a:r>
            <a:r>
              <a:rPr lang="en-US" sz="2800" dirty="0"/>
              <a:t> </a:t>
            </a:r>
            <a:r>
              <a:rPr lang="en-US" sz="2800" dirty="0" err="1"/>
              <a:t>cứu</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CoLLM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a:t>Multimodal Alignment and Fusion: A Survey</a:t>
            </a:r>
            <a:endParaRPr lang="vi-VN" sz="2400" dirty="0">
              <a:solidFill>
                <a:schemeClr val="tx1"/>
              </a:solidFill>
            </a:endParaRPr>
          </a:p>
        </p:txBody>
      </p:sp>
      <p:sp>
        <p:nvSpPr>
          <p:cNvPr id="2" name="TextBox 1"/>
          <p:cNvSpPr txBox="1"/>
          <p:nvPr/>
        </p:nvSpPr>
        <p:spPr>
          <a:xfrm>
            <a:off x="576306" y="1801471"/>
            <a:ext cx="4440862" cy="2677656"/>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smtClean="0"/>
              <a:t>Mô</a:t>
            </a:r>
            <a:r>
              <a:rPr lang="en-US" dirty="0" smtClean="0"/>
              <a:t> hình </a:t>
            </a:r>
            <a:r>
              <a:rPr lang="en-US" b="1" dirty="0"/>
              <a:t>s</a:t>
            </a:r>
            <a:r>
              <a:rPr lang="en-US" b="1" dirty="0" smtClean="0"/>
              <a:t>tate-of-the-art </a:t>
            </a:r>
            <a:r>
              <a:rPr lang="en-US" b="1" dirty="0" err="1" smtClean="0"/>
              <a:t>LLMRec</a:t>
            </a:r>
            <a:endParaRPr lang="en-US" dirty="0" smtClean="0"/>
          </a:p>
          <a:p>
            <a:pPr marL="285750" indent="-285750" algn="just">
              <a:buFont typeface="Arial" panose="020B0604020202020204" pitchFamily="34" charset="0"/>
              <a:buChar char="•"/>
            </a:pPr>
            <a:r>
              <a:rPr lang="en-US" dirty="0" err="1"/>
              <a:t>Trích</a:t>
            </a:r>
            <a:r>
              <a:rPr lang="en-US" dirty="0"/>
              <a:t> </a:t>
            </a:r>
            <a:r>
              <a:rPr lang="en-US" dirty="0" err="1"/>
              <a:t>xuất</a:t>
            </a:r>
            <a:r>
              <a:rPr lang="en-US" dirty="0"/>
              <a:t> </a:t>
            </a:r>
            <a:r>
              <a:rPr lang="en-US" dirty="0" err="1"/>
              <a:t>tín</a:t>
            </a:r>
            <a:r>
              <a:rPr lang="en-US" dirty="0"/>
              <a:t> </a:t>
            </a:r>
            <a:r>
              <a:rPr lang="en-US" dirty="0" err="1"/>
              <a:t>hiệu</a:t>
            </a:r>
            <a:r>
              <a:rPr lang="en-US" dirty="0"/>
              <a:t> </a:t>
            </a:r>
            <a:r>
              <a:rPr lang="en-US" dirty="0" err="1"/>
              <a:t>cộng</a:t>
            </a:r>
            <a:r>
              <a:rPr lang="en-US" dirty="0"/>
              <a:t> </a:t>
            </a:r>
            <a:r>
              <a:rPr lang="en-US" dirty="0" err="1"/>
              <a:t>tác</a:t>
            </a:r>
            <a:r>
              <a:rPr lang="en-US" dirty="0"/>
              <a:t> </a:t>
            </a:r>
            <a:r>
              <a:rPr lang="en-US" dirty="0" err="1"/>
              <a:t>thông</a:t>
            </a:r>
            <a:r>
              <a:rPr lang="en-US" dirty="0"/>
              <a:t> qua </a:t>
            </a:r>
            <a:r>
              <a:rPr lang="en-US" dirty="0" err="1"/>
              <a:t>sử</a:t>
            </a:r>
            <a:r>
              <a:rPr lang="en-US" dirty="0"/>
              <a:t> </a:t>
            </a:r>
            <a:r>
              <a:rPr lang="en-US" dirty="0" err="1"/>
              <a:t>dụng</a:t>
            </a:r>
            <a:r>
              <a:rPr lang="en-US" dirty="0"/>
              <a:t> các </a:t>
            </a:r>
            <a:r>
              <a:rPr lang="en-US" dirty="0" err="1"/>
              <a:t>mô</a:t>
            </a:r>
            <a:r>
              <a:rPr lang="en-US" dirty="0"/>
              <a:t> hình </a:t>
            </a:r>
            <a:r>
              <a:rPr lang="en-US" dirty="0" err="1"/>
              <a:t>truyền</a:t>
            </a:r>
            <a:r>
              <a:rPr lang="en-US" dirty="0"/>
              <a:t> </a:t>
            </a:r>
            <a:r>
              <a:rPr lang="en-US" dirty="0" err="1"/>
              <a:t>thống</a:t>
            </a:r>
            <a:r>
              <a:rPr lang="en-US" dirty="0"/>
              <a:t> như </a:t>
            </a:r>
            <a:r>
              <a:rPr lang="en-US" dirty="0" smtClean="0"/>
              <a:t>MF </a:t>
            </a:r>
            <a:r>
              <a:rPr lang="en-US" dirty="0" err="1" smtClean="0"/>
              <a:t>hoặc</a:t>
            </a:r>
            <a:r>
              <a:rPr lang="en-US" dirty="0" smtClean="0"/>
              <a:t> DIN.</a:t>
            </a:r>
          </a:p>
          <a:p>
            <a:pPr marL="285750" indent="-285750" algn="just">
              <a:buFont typeface="Arial" panose="020B0604020202020204" pitchFamily="34" charset="0"/>
              <a:buChar char="•"/>
            </a:pPr>
            <a:r>
              <a:rPr lang="en-US" dirty="0" err="1" smtClean="0"/>
              <a:t>Tích</a:t>
            </a:r>
            <a:r>
              <a:rPr lang="en-US" dirty="0" smtClean="0"/>
              <a:t> hợp </a:t>
            </a:r>
            <a:r>
              <a:rPr lang="en-US" dirty="0" err="1" smtClean="0"/>
              <a:t>thông</a:t>
            </a:r>
            <a:r>
              <a:rPr lang="en-US" dirty="0" smtClean="0"/>
              <a:t> tin </a:t>
            </a:r>
            <a:r>
              <a:rPr lang="en-US" dirty="0" err="1" smtClean="0"/>
              <a:t>cộng</a:t>
            </a:r>
            <a:r>
              <a:rPr lang="en-US" dirty="0" smtClean="0"/>
              <a:t> </a:t>
            </a:r>
            <a:r>
              <a:rPr lang="en-US" dirty="0" err="1" smtClean="0"/>
              <a:t>tác</a:t>
            </a:r>
            <a:r>
              <a:rPr lang="en-US" dirty="0" smtClean="0"/>
              <a:t> bằng </a:t>
            </a:r>
            <a:r>
              <a:rPr lang="en-US" dirty="0" err="1" smtClean="0"/>
              <a:t>cách</a:t>
            </a:r>
            <a:r>
              <a:rPr lang="en-US" dirty="0" smtClean="0"/>
              <a:t> </a:t>
            </a:r>
            <a:r>
              <a:rPr lang="en-US" dirty="0" err="1" smtClean="0"/>
              <a:t>ánh</a:t>
            </a:r>
            <a:r>
              <a:rPr lang="en-US" dirty="0" smtClean="0"/>
              <a:t> </a:t>
            </a:r>
            <a:r>
              <a:rPr lang="en-US" dirty="0" err="1" smtClean="0"/>
              <a:t>xạ</a:t>
            </a:r>
            <a:r>
              <a:rPr lang="en-US" dirty="0" smtClean="0"/>
              <a:t> vector </a:t>
            </a:r>
            <a:r>
              <a:rPr lang="en-US" dirty="0" err="1" smtClean="0"/>
              <a:t>cộng</a:t>
            </a:r>
            <a:r>
              <a:rPr lang="en-US" dirty="0" smtClean="0"/>
              <a:t> </a:t>
            </a:r>
            <a:r>
              <a:rPr lang="en-US" dirty="0" err="1" smtClean="0"/>
              <a:t>tác</a:t>
            </a:r>
            <a:r>
              <a:rPr lang="en-US" dirty="0" smtClean="0"/>
              <a:t> vào </a:t>
            </a:r>
            <a:r>
              <a:rPr lang="en-US" dirty="0" err="1" smtClean="0"/>
              <a:t>không</a:t>
            </a:r>
            <a:r>
              <a:rPr lang="en-US" dirty="0" smtClean="0"/>
              <a:t> </a:t>
            </a:r>
            <a:r>
              <a:rPr lang="en-US" dirty="0" err="1" smtClean="0"/>
              <a:t>gian</a:t>
            </a:r>
            <a:r>
              <a:rPr lang="en-US" dirty="0" smtClean="0"/>
              <a:t> </a:t>
            </a:r>
            <a:r>
              <a:rPr lang="en-US" dirty="0" err="1" smtClean="0"/>
              <a:t>ngữ</a:t>
            </a:r>
            <a:r>
              <a:rPr lang="en-US" dirty="0" smtClean="0"/>
              <a:t> </a:t>
            </a:r>
            <a:r>
              <a:rPr lang="en-US" dirty="0" err="1" smtClean="0"/>
              <a:t>nghĩa</a:t>
            </a:r>
            <a:r>
              <a:rPr lang="en-US" dirty="0" smtClean="0"/>
              <a:t> của LLM </a:t>
            </a:r>
            <a:r>
              <a:rPr lang="en-US" dirty="0" err="1" smtClean="0"/>
              <a:t>thông</a:t>
            </a:r>
            <a:r>
              <a:rPr lang="en-US" dirty="0" smtClean="0"/>
              <a:t> qua 1 </a:t>
            </a:r>
            <a:r>
              <a:rPr lang="en-US" dirty="0" err="1" smtClean="0"/>
              <a:t>lớp</a:t>
            </a:r>
            <a:r>
              <a:rPr lang="en-US" dirty="0" smtClean="0"/>
              <a:t> Projection </a:t>
            </a:r>
            <a:r>
              <a:rPr lang="en-US" dirty="0" err="1" smtClean="0"/>
              <a:t>đơn</a:t>
            </a:r>
            <a:r>
              <a:rPr lang="en-US" dirty="0" smtClean="0"/>
              <a:t> </a:t>
            </a:r>
            <a:r>
              <a:rPr lang="en-US" dirty="0" err="1" smtClean="0"/>
              <a:t>giản</a:t>
            </a:r>
            <a:r>
              <a:rPr lang="en-US" dirty="0" smtClean="0"/>
              <a:t>.</a:t>
            </a:r>
            <a:endParaRPr lang="en-US" dirty="0"/>
          </a:p>
          <a:p>
            <a:pPr marL="285750" indent="-285750" algn="just">
              <a:buFont typeface="Arial" panose="020B0604020202020204" pitchFamily="34" charset="0"/>
              <a:buChar char="•"/>
            </a:pPr>
            <a:r>
              <a:rPr lang="en-US" dirty="0" err="1" smtClean="0"/>
              <a:t>Sử</a:t>
            </a:r>
            <a:r>
              <a:rPr lang="en-US" dirty="0" smtClean="0"/>
              <a:t> </a:t>
            </a:r>
            <a:r>
              <a:rPr lang="en-US" dirty="0" err="1" smtClean="0"/>
              <a:t>dụng</a:t>
            </a:r>
            <a:r>
              <a:rPr lang="en-US" dirty="0" smtClean="0"/>
              <a:t> </a:t>
            </a:r>
            <a:r>
              <a:rPr lang="en-US" dirty="0" err="1" smtClean="0"/>
              <a:t>LoRA</a:t>
            </a:r>
            <a:r>
              <a:rPr lang="en-US" dirty="0" smtClean="0"/>
              <a:t> </a:t>
            </a:r>
            <a:r>
              <a:rPr lang="en-US" dirty="0" err="1" smtClean="0"/>
              <a:t>để</a:t>
            </a:r>
            <a:r>
              <a:rPr lang="en-US" dirty="0" smtClean="0"/>
              <a:t> </a:t>
            </a:r>
            <a:r>
              <a:rPr lang="en-US" dirty="0" err="1" smtClean="0"/>
              <a:t>finetune</a:t>
            </a:r>
            <a:r>
              <a:rPr lang="en-US" dirty="0" smtClean="0"/>
              <a:t> </a:t>
            </a:r>
            <a:r>
              <a:rPr lang="en-US" dirty="0" err="1" smtClean="0"/>
              <a:t>tác</a:t>
            </a:r>
            <a:r>
              <a:rPr lang="en-US" dirty="0" smtClean="0"/>
              <a:t> vụ tư vấn </a:t>
            </a:r>
            <a:r>
              <a:rPr lang="en-US" dirty="0" err="1" smtClean="0"/>
              <a:t>cho</a:t>
            </a:r>
            <a:r>
              <a:rPr lang="en-US" dirty="0" smtClean="0"/>
              <a:t> </a:t>
            </a:r>
            <a:r>
              <a:rPr lang="en-US" dirty="0" err="1" smtClean="0"/>
              <a:t>mô</a:t>
            </a:r>
            <a:r>
              <a:rPr lang="en-US" dirty="0" smtClean="0"/>
              <a:t> hình LLMs.</a:t>
            </a:r>
          </a:p>
          <a:p>
            <a:pPr marL="285750" indent="-285750" algn="just">
              <a:buFont typeface="Arial" panose="020B0604020202020204" pitchFamily="34" charset="0"/>
              <a:buChar char="•"/>
            </a:pPr>
            <a:r>
              <a:rPr lang="en-US" dirty="0" err="1" smtClean="0"/>
              <a:t>Xây</a:t>
            </a:r>
            <a:r>
              <a:rPr lang="en-US" dirty="0" smtClean="0"/>
              <a:t> </a:t>
            </a:r>
            <a:r>
              <a:rPr lang="en-US" dirty="0" err="1" smtClean="0"/>
              <a:t>dựng</a:t>
            </a:r>
            <a:r>
              <a:rPr lang="en-US" dirty="0" smtClean="0"/>
              <a:t> few-shot prompt.</a:t>
            </a:r>
          </a:p>
          <a:p>
            <a:pPr marL="285750" indent="-285750" algn="just">
              <a:buFont typeface="Arial" panose="020B0604020202020204" pitchFamily="34" charset="0"/>
              <a:buChar char="•"/>
            </a:pPr>
            <a:endParaRPr lang="en-US" dirty="0" smtClean="0"/>
          </a:p>
          <a:p>
            <a:pPr algn="just"/>
            <a:endParaRPr lang="en-US" dirty="0"/>
          </a:p>
          <a:p>
            <a:pPr algn="just"/>
            <a:endParaRPr lang="en-US" dirty="0"/>
          </a:p>
        </p:txBody>
      </p:sp>
      <p:pic>
        <p:nvPicPr>
          <p:cNvPr id="4" name="Picture 3"/>
          <p:cNvPicPr>
            <a:picLocks noChangeAspect="1"/>
          </p:cNvPicPr>
          <p:nvPr/>
        </p:nvPicPr>
        <p:blipFill>
          <a:blip r:embed="rId3"/>
          <a:stretch>
            <a:fillRect/>
          </a:stretch>
        </p:blipFill>
        <p:spPr>
          <a:xfrm>
            <a:off x="5017168" y="1512936"/>
            <a:ext cx="4379293" cy="1943419"/>
          </a:xfrm>
          <a:prstGeom prst="rect">
            <a:avLst/>
          </a:prstGeom>
        </p:spPr>
      </p:pic>
      <p:sp>
        <p:nvSpPr>
          <p:cNvPr id="5" name="Rectangle 4"/>
          <p:cNvSpPr/>
          <p:nvPr/>
        </p:nvSpPr>
        <p:spPr>
          <a:xfrm>
            <a:off x="5831933" y="3523284"/>
            <a:ext cx="2284600" cy="307777"/>
          </a:xfrm>
          <a:prstGeom prst="rect">
            <a:avLst/>
          </a:prstGeom>
        </p:spPr>
        <p:txBody>
          <a:bodyPr wrap="none">
            <a:spAutoFit/>
          </a:bodyPr>
          <a:lstStyle/>
          <a:p>
            <a:r>
              <a:rPr lang="en-US" dirty="0" err="1"/>
              <a:t>Hình:Kiến</a:t>
            </a:r>
            <a:r>
              <a:rPr lang="en-US" dirty="0"/>
              <a:t> </a:t>
            </a:r>
            <a:r>
              <a:rPr lang="en-US" dirty="0" err="1"/>
              <a:t>trúc</a:t>
            </a:r>
            <a:r>
              <a:rPr lang="en-US" dirty="0"/>
              <a:t> của </a:t>
            </a:r>
            <a:r>
              <a:rPr lang="en-US" dirty="0" err="1" smtClean="0"/>
              <a:t>CoLLM</a:t>
            </a:r>
            <a:endParaRPr lang="en-US" dirty="0"/>
          </a:p>
        </p:txBody>
      </p:sp>
    </p:spTree>
    <p:extLst>
      <p:ext uri="{BB962C8B-B14F-4D97-AF65-F5344CB8AC3E}">
        <p14:creationId xmlns:p14="http://schemas.microsoft.com/office/powerpoint/2010/main" val="3164270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Tổng</a:t>
            </a:r>
            <a:r>
              <a:rPr lang="en-US" sz="2800" dirty="0"/>
              <a:t> </a:t>
            </a:r>
            <a:r>
              <a:rPr lang="en-US" sz="2800" dirty="0" err="1"/>
              <a:t>quan</a:t>
            </a:r>
            <a:r>
              <a:rPr lang="en-US" sz="2800" dirty="0"/>
              <a:t> </a:t>
            </a:r>
            <a:r>
              <a:rPr lang="en-US" sz="2800" dirty="0" err="1"/>
              <a:t>nghiên</a:t>
            </a:r>
            <a:r>
              <a:rPr lang="en-US" sz="2800" dirty="0"/>
              <a:t> </a:t>
            </a:r>
            <a:r>
              <a:rPr lang="en-US" sz="2800" dirty="0" err="1"/>
              <a:t>cứu</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986540"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a:solidFill>
                  <a:schemeClr val="tx1">
                    <a:lumMod val="50000"/>
                    <a:lumOff val="50000"/>
                  </a:schemeClr>
                </a:solidFill>
              </a:rPr>
              <a:t>Phương pháp học tương phản (</a:t>
            </a:r>
            <a:r>
              <a:rPr lang="vi-VN" sz="2000" dirty="0" smtClean="0">
                <a:solidFill>
                  <a:schemeClr val="tx1">
                    <a:lumMod val="50000"/>
                    <a:lumOff val="50000"/>
                  </a:schemeClr>
                </a:solidFill>
              </a:rPr>
              <a:t>contrastive learning)</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a:t>Multimodal Alignment and Fusion: A Survey</a:t>
            </a:r>
            <a:endParaRPr lang="vi-VN" sz="2400" dirty="0">
              <a:solidFill>
                <a:schemeClr val="tx1"/>
              </a:solidFill>
            </a:endParaRPr>
          </a:p>
        </p:txBody>
      </p:sp>
      <p:sp>
        <p:nvSpPr>
          <p:cNvPr id="2" name="TextBox 1"/>
          <p:cNvSpPr txBox="1"/>
          <p:nvPr/>
        </p:nvSpPr>
        <p:spPr>
          <a:xfrm>
            <a:off x="576306" y="1622442"/>
            <a:ext cx="4248912" cy="307777"/>
          </a:xfrm>
          <a:prstGeom prst="rect">
            <a:avLst/>
          </a:prstGeom>
          <a:noFill/>
        </p:spPr>
        <p:txBody>
          <a:bodyPr wrap="square" rtlCol="0">
            <a:spAutoFit/>
          </a:bodyPr>
          <a:lstStyle/>
          <a:p>
            <a:endParaRPr lang="vi-VN" dirty="0"/>
          </a:p>
        </p:txBody>
      </p:sp>
      <p:sp>
        <p:nvSpPr>
          <p:cNvPr id="7" name="TextBox 6"/>
          <p:cNvSpPr txBox="1"/>
          <p:nvPr/>
        </p:nvSpPr>
        <p:spPr>
          <a:xfrm>
            <a:off x="6171430" y="4188539"/>
            <a:ext cx="1071127" cy="246221"/>
          </a:xfrm>
          <a:prstGeom prst="rect">
            <a:avLst/>
          </a:prstGeom>
          <a:noFill/>
        </p:spPr>
        <p:txBody>
          <a:bodyPr wrap="none" rtlCol="0">
            <a:spAutoFit/>
          </a:bodyPr>
          <a:lstStyle/>
          <a:p>
            <a:pPr algn="ctr"/>
            <a:r>
              <a:rPr lang="en-US" sz="1000" dirty="0" smtClean="0"/>
              <a:t>Hình: </a:t>
            </a:r>
            <a:r>
              <a:rPr lang="vi-VN" sz="1000" dirty="0" smtClean="0"/>
              <a:t>Sella Rec</a:t>
            </a:r>
            <a:endParaRPr lang="en-US" sz="1000" dirty="0"/>
          </a:p>
        </p:txBody>
      </p:sp>
      <p:sp>
        <p:nvSpPr>
          <p:cNvPr id="10" name="TextBox 9"/>
          <p:cNvSpPr txBox="1"/>
          <p:nvPr/>
        </p:nvSpPr>
        <p:spPr>
          <a:xfrm>
            <a:off x="254644" y="1939942"/>
            <a:ext cx="3759084" cy="2462213"/>
          </a:xfrm>
          <a:prstGeom prst="rect">
            <a:avLst/>
          </a:prstGeom>
          <a:noFill/>
        </p:spPr>
        <p:txBody>
          <a:bodyPr wrap="square" rtlCol="0">
            <a:spAutoFit/>
          </a:bodyPr>
          <a:lstStyle/>
          <a:p>
            <a:r>
              <a:rPr lang="vi-VN" dirty="0"/>
              <a:t>Đây là hướng tiếp cận dựa trên </a:t>
            </a:r>
            <a:r>
              <a:rPr lang="vi-VN" b="1" dirty="0"/>
              <a:t>học so sánh (comparative learning)</a:t>
            </a:r>
            <a:r>
              <a:rPr lang="vi-VN" dirty="0"/>
              <a:t> để kéo gần các cặp dữ liệu liên quan và đẩy xa các cặp không liên quan trong không gian đặc </a:t>
            </a:r>
            <a:r>
              <a:rPr lang="vi-VN" dirty="0" smtClean="0"/>
              <a:t>trưng</a:t>
            </a:r>
          </a:p>
          <a:p>
            <a:endParaRPr lang="vi-VN" dirty="0" smtClean="0"/>
          </a:p>
          <a:p>
            <a:r>
              <a:rPr lang="vi-VN" dirty="0" smtClean="0"/>
              <a:t>Trong </a:t>
            </a:r>
            <a:r>
              <a:rPr lang="vi-VN" dirty="0"/>
              <a:t>những năm gần đây, nhiều biến thể của contrastive loss ra đời để tăng cường khả năng phân </a:t>
            </a:r>
            <a:r>
              <a:rPr lang="vi-VN" dirty="0" smtClean="0"/>
              <a:t>biệt:</a:t>
            </a:r>
            <a:endParaRPr lang="vi-VN" dirty="0"/>
          </a:p>
          <a:p>
            <a:r>
              <a:rPr lang="vi-VN" dirty="0"/>
              <a:t>AMC-Loss: Thêm biên độ góc tăng phân biệt</a:t>
            </a:r>
            <a:r>
              <a:rPr lang="vi-VN" dirty="0" smtClean="0"/>
              <a:t>.</a:t>
            </a:r>
          </a:p>
          <a:p>
            <a:r>
              <a:rPr lang="vi-VN" dirty="0" smtClean="0"/>
              <a:t>Supervised </a:t>
            </a:r>
            <a:r>
              <a:rPr lang="vi-VN" dirty="0"/>
              <a:t>Contrastive Loss: Dùng nhãn lớp ổn định hiệu năng.</a:t>
            </a:r>
            <a:endParaRPr lang="vi-VN" dirty="0" smtClean="0"/>
          </a:p>
        </p:txBody>
      </p:sp>
      <p:pic>
        <p:nvPicPr>
          <p:cNvPr id="11" name="Picture 10"/>
          <p:cNvPicPr>
            <a:picLocks noChangeAspect="1"/>
          </p:cNvPicPr>
          <p:nvPr/>
        </p:nvPicPr>
        <p:blipFill>
          <a:blip r:embed="rId3"/>
          <a:stretch>
            <a:fillRect/>
          </a:stretch>
        </p:blipFill>
        <p:spPr>
          <a:xfrm>
            <a:off x="4208558" y="1781798"/>
            <a:ext cx="4783042" cy="2381430"/>
          </a:xfrm>
          <a:prstGeom prst="rect">
            <a:avLst/>
          </a:prstGeom>
        </p:spPr>
      </p:pic>
    </p:spTree>
    <p:extLst>
      <p:ext uri="{BB962C8B-B14F-4D97-AF65-F5344CB8AC3E}">
        <p14:creationId xmlns:p14="http://schemas.microsoft.com/office/powerpoint/2010/main" val="878757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529264" y="949680"/>
            <a:ext cx="6264519" cy="2862322"/>
          </a:xfrm>
          <a:prstGeom prst="rect">
            <a:avLst/>
          </a:prstGeom>
          <a:noFill/>
        </p:spPr>
        <p:txBody>
          <a:bodyPr wrap="square" rtlCol="0">
            <a:spAutoFit/>
          </a:bodyPr>
          <a:lstStyle/>
          <a:p>
            <a:pPr algn="ctr"/>
            <a:r>
              <a:rPr lang="en-US" sz="6000" b="1" dirty="0" smtClean="0">
                <a:solidFill>
                  <a:srgbClr val="0070C0"/>
                </a:solidFill>
              </a:rPr>
              <a:t>Q-FORMER</a:t>
            </a:r>
            <a:endParaRPr lang="vi-VN" sz="6000" b="1" dirty="0">
              <a:solidFill>
                <a:srgbClr val="0070C0"/>
              </a:solidFill>
            </a:endParaRPr>
          </a:p>
          <a:p>
            <a:pPr algn="ctr"/>
            <a:r>
              <a:rPr lang="vi-VN" sz="6000" b="1" dirty="0" smtClean="0">
                <a:solidFill>
                  <a:srgbClr val="0070C0"/>
                </a:solidFill>
              </a:rPr>
              <a:t>VÀ</a:t>
            </a:r>
          </a:p>
          <a:p>
            <a:pPr algn="ctr"/>
            <a:r>
              <a:rPr lang="vi-VN" sz="6000" b="1" dirty="0" smtClean="0">
                <a:solidFill>
                  <a:srgbClr val="0070C0"/>
                </a:solidFill>
              </a:rPr>
              <a:t>INSTRUCT BLIP</a:t>
            </a:r>
          </a:p>
        </p:txBody>
      </p:sp>
    </p:spTree>
    <p:extLst>
      <p:ext uri="{BB962C8B-B14F-4D97-AF65-F5344CB8AC3E}">
        <p14:creationId xmlns:p14="http://schemas.microsoft.com/office/powerpoint/2010/main" val="118934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Mô</a:t>
            </a:r>
            <a:r>
              <a:rPr lang="en-US" sz="2800" dirty="0" smtClean="0"/>
              <a:t> </a:t>
            </a:r>
            <a:r>
              <a:rPr lang="en-US" sz="2800" dirty="0"/>
              <a:t>hình </a:t>
            </a:r>
            <a:r>
              <a:rPr lang="en-US" sz="2800" dirty="0" smtClean="0"/>
              <a:t>Q-Former trong </a:t>
            </a:r>
            <a:r>
              <a:rPr lang="en-US" sz="2800" dirty="0"/>
              <a:t>ILM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Giới thiệu BLIP-2 và Q-Form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a:solidFill>
                  <a:schemeClr val="tx1"/>
                </a:solidFill>
              </a:rPr>
              <a:t>Về mô </a:t>
            </a:r>
            <a:r>
              <a:rPr lang="vi-VN" sz="2400" dirty="0" smtClean="0">
                <a:solidFill>
                  <a:schemeClr val="tx1"/>
                </a:solidFill>
              </a:rPr>
              <a:t>hình </a:t>
            </a:r>
            <a:r>
              <a:rPr lang="en-US" sz="2400" dirty="0" smtClean="0">
                <a:solidFill>
                  <a:schemeClr val="tx1"/>
                </a:solidFill>
              </a:rPr>
              <a:t>Q-Former</a:t>
            </a:r>
            <a:endParaRPr lang="vi-VN" sz="2400" dirty="0">
              <a:solidFill>
                <a:schemeClr val="tx1"/>
              </a:solidFill>
            </a:endParaRPr>
          </a:p>
        </p:txBody>
      </p:sp>
      <p:sp>
        <p:nvSpPr>
          <p:cNvPr id="2" name="TextBox 1"/>
          <p:cNvSpPr txBox="1"/>
          <p:nvPr/>
        </p:nvSpPr>
        <p:spPr>
          <a:xfrm>
            <a:off x="422164" y="1856169"/>
            <a:ext cx="4646926" cy="1384995"/>
          </a:xfrm>
          <a:prstGeom prst="rect">
            <a:avLst/>
          </a:prstGeom>
          <a:noFill/>
        </p:spPr>
        <p:txBody>
          <a:bodyPr wrap="square" rtlCol="0">
            <a:spAutoFit/>
          </a:bodyPr>
          <a:lstStyle/>
          <a:p>
            <a:pPr marL="285750" indent="-285750" algn="just">
              <a:buFont typeface="Arial" panose="020B0604020202020204" pitchFamily="34" charset="0"/>
              <a:buChar char="•"/>
            </a:pPr>
            <a:r>
              <a:rPr lang="vi-VN" b="1" dirty="0"/>
              <a:t>Tổng quan:</a:t>
            </a:r>
            <a:r>
              <a:rPr lang="vi-VN" dirty="0"/>
              <a:t> BLIP-2 giới thiệu thành phần </a:t>
            </a:r>
            <a:r>
              <a:rPr lang="vi-VN" b="1" dirty="0"/>
              <a:t>Q-Former</a:t>
            </a:r>
            <a:r>
              <a:rPr lang="vi-VN" dirty="0"/>
              <a:t>, một bộ biến đổi truy vấn (Query Transformer) gọn nhẹ đóng vai trò là "cầu nối" hiệu quả để thu hẹp khoảng cách về không gian đặc trưng giữa bộ mã hóa hình ảnh (Image Encoder) cố định và mô hình ngôn ngữ lớn (LLM) cố định</a:t>
            </a:r>
            <a:r>
              <a:rPr lang="vi-VN" dirty="0" smtClean="0"/>
              <a:t>.</a:t>
            </a:r>
          </a:p>
        </p:txBody>
      </p:sp>
      <p:pic>
        <p:nvPicPr>
          <p:cNvPr id="4" name="Picture 3"/>
          <p:cNvPicPr>
            <a:picLocks noChangeAspect="1"/>
          </p:cNvPicPr>
          <p:nvPr/>
        </p:nvPicPr>
        <p:blipFill>
          <a:blip r:embed="rId3"/>
          <a:stretch>
            <a:fillRect/>
          </a:stretch>
        </p:blipFill>
        <p:spPr>
          <a:xfrm>
            <a:off x="5337571" y="1612719"/>
            <a:ext cx="3147399" cy="1592660"/>
          </a:xfrm>
          <a:prstGeom prst="rect">
            <a:avLst/>
          </a:prstGeom>
        </p:spPr>
      </p:pic>
      <p:sp>
        <p:nvSpPr>
          <p:cNvPr id="11" name="TextBox 10"/>
          <p:cNvSpPr txBox="1"/>
          <p:nvPr/>
        </p:nvSpPr>
        <p:spPr>
          <a:xfrm>
            <a:off x="6022442" y="3283303"/>
            <a:ext cx="2122697" cy="246221"/>
          </a:xfrm>
          <a:prstGeom prst="rect">
            <a:avLst/>
          </a:prstGeom>
          <a:noFill/>
        </p:spPr>
        <p:txBody>
          <a:bodyPr wrap="none" rtlCol="0">
            <a:spAutoFit/>
          </a:bodyPr>
          <a:lstStyle/>
          <a:p>
            <a:pPr algn="ctr"/>
            <a:r>
              <a:rPr lang="en-US" sz="1000" dirty="0" smtClean="0"/>
              <a:t>Hình: </a:t>
            </a:r>
            <a:r>
              <a:rPr lang="vi-VN" sz="1000" dirty="0" smtClean="0"/>
              <a:t>Kiến trúc tổng quan BLIP - 2</a:t>
            </a:r>
            <a:endParaRPr lang="en-US" sz="1000" dirty="0"/>
          </a:p>
        </p:txBody>
      </p:sp>
    </p:spTree>
    <p:extLst>
      <p:ext uri="{BB962C8B-B14F-4D97-AF65-F5344CB8AC3E}">
        <p14:creationId xmlns:p14="http://schemas.microsoft.com/office/powerpoint/2010/main" val="214574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Mô</a:t>
            </a:r>
            <a:r>
              <a:rPr lang="en-US" sz="2800" dirty="0" smtClean="0"/>
              <a:t> </a:t>
            </a:r>
            <a:r>
              <a:rPr lang="en-US" sz="2800" dirty="0"/>
              <a:t>hình </a:t>
            </a:r>
            <a:r>
              <a:rPr lang="en-US" sz="2800" dirty="0" smtClean="0"/>
              <a:t>Q-Former trong </a:t>
            </a:r>
            <a:r>
              <a:rPr lang="en-US" sz="2800" dirty="0"/>
              <a:t>ILM</a:t>
            </a:r>
            <a:endParaRPr sz="2800" dirty="0"/>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Giới thiệu BLIP-2 và Q-Form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a:solidFill>
                  <a:schemeClr val="tx1"/>
                </a:solidFill>
              </a:rPr>
              <a:t>Về mô </a:t>
            </a:r>
            <a:r>
              <a:rPr lang="vi-VN" sz="2400" dirty="0" smtClean="0">
                <a:solidFill>
                  <a:schemeClr val="tx1"/>
                </a:solidFill>
              </a:rPr>
              <a:t>hình</a:t>
            </a:r>
            <a:r>
              <a:rPr lang="en-US" sz="2400" dirty="0" smtClean="0">
                <a:solidFill>
                  <a:schemeClr val="tx1"/>
                </a:solidFill>
              </a:rPr>
              <a:t> Q-Former</a:t>
            </a:r>
            <a:endParaRPr lang="vi-VN" sz="2400" dirty="0">
              <a:solidFill>
                <a:schemeClr val="tx1"/>
              </a:solidFill>
            </a:endParaRPr>
          </a:p>
        </p:txBody>
      </p:sp>
      <p:sp>
        <p:nvSpPr>
          <p:cNvPr id="2" name="TextBox 1"/>
          <p:cNvSpPr txBox="1"/>
          <p:nvPr/>
        </p:nvSpPr>
        <p:spPr>
          <a:xfrm>
            <a:off x="128060" y="1611430"/>
            <a:ext cx="3707510" cy="2462213"/>
          </a:xfrm>
          <a:prstGeom prst="rect">
            <a:avLst/>
          </a:prstGeom>
          <a:noFill/>
        </p:spPr>
        <p:txBody>
          <a:bodyPr wrap="square" rtlCol="0">
            <a:spAutoFit/>
          </a:bodyPr>
          <a:lstStyle/>
          <a:p>
            <a:pPr marL="285750" indent="-285750" algn="just">
              <a:buFont typeface="Arial" panose="020B0604020202020204" pitchFamily="34" charset="0"/>
              <a:buChar char="•"/>
            </a:pPr>
            <a:r>
              <a:rPr lang="vi-VN" b="1" dirty="0" smtClean="0"/>
              <a:t>Quá </a:t>
            </a:r>
            <a:r>
              <a:rPr lang="vi-VN" b="1" dirty="0"/>
              <a:t>trình huấn luyện</a:t>
            </a:r>
            <a:r>
              <a:rPr lang="vi-VN" b="1" dirty="0" smtClean="0"/>
              <a:t>:</a:t>
            </a:r>
            <a:r>
              <a:rPr lang="vi-VN" dirty="0" smtClean="0"/>
              <a:t> </a:t>
            </a:r>
          </a:p>
          <a:p>
            <a:pPr lvl="1" algn="just"/>
            <a:r>
              <a:rPr lang="vi-VN" dirty="0"/>
              <a:t>	</a:t>
            </a:r>
            <a:r>
              <a:rPr lang="vi-VN" dirty="0" smtClean="0"/>
              <a:t>- Giai </a:t>
            </a:r>
            <a:r>
              <a:rPr lang="vi-VN" dirty="0"/>
              <a:t>đoạn một thực hiện </a:t>
            </a:r>
            <a:r>
              <a:rPr lang="vi-VN" b="1" dirty="0"/>
              <a:t>học biểu diễn hình ảnh - ngôn ngữ</a:t>
            </a:r>
            <a:r>
              <a:rPr lang="vi-VN" dirty="0"/>
              <a:t> (Vision-Language Representation Learning) để Q-Former học cách trích xuất các đặc trưng hình ảnh phù hợp nhất với văn bản</a:t>
            </a:r>
            <a:r>
              <a:rPr lang="vi-VN" dirty="0" smtClean="0"/>
              <a:t>;</a:t>
            </a:r>
          </a:p>
          <a:p>
            <a:pPr lvl="1" algn="just"/>
            <a:r>
              <a:rPr lang="vi-VN" dirty="0" smtClean="0"/>
              <a:t>	- Giai </a:t>
            </a:r>
            <a:r>
              <a:rPr lang="vi-VN" dirty="0"/>
              <a:t>đoạn hai thực hiện </a:t>
            </a:r>
            <a:r>
              <a:rPr lang="vi-VN" b="1" dirty="0"/>
              <a:t>học tạo lập từ hình ảnh sang ngôn ngữ</a:t>
            </a:r>
            <a:r>
              <a:rPr lang="vi-VN" dirty="0"/>
              <a:t> (Vision-to-Language Generative Learning) bằng cách kết nối đầu ra của Q-Former vào LLM để tạo ra các mô tả văn bản chính xác</a:t>
            </a:r>
            <a:endParaRPr lang="en-US" dirty="0"/>
          </a:p>
        </p:txBody>
      </p:sp>
      <p:pic>
        <p:nvPicPr>
          <p:cNvPr id="6" name="Picture 5"/>
          <p:cNvPicPr>
            <a:picLocks noChangeAspect="1"/>
          </p:cNvPicPr>
          <p:nvPr/>
        </p:nvPicPr>
        <p:blipFill>
          <a:blip r:embed="rId3"/>
          <a:stretch>
            <a:fillRect/>
          </a:stretch>
        </p:blipFill>
        <p:spPr>
          <a:xfrm>
            <a:off x="4193130" y="996334"/>
            <a:ext cx="4651241" cy="1584798"/>
          </a:xfrm>
          <a:prstGeom prst="rect">
            <a:avLst/>
          </a:prstGeom>
        </p:spPr>
      </p:pic>
      <p:pic>
        <p:nvPicPr>
          <p:cNvPr id="7" name="Picture 6"/>
          <p:cNvPicPr>
            <a:picLocks noChangeAspect="1"/>
          </p:cNvPicPr>
          <p:nvPr/>
        </p:nvPicPr>
        <p:blipFill>
          <a:blip r:embed="rId4"/>
          <a:stretch>
            <a:fillRect/>
          </a:stretch>
        </p:blipFill>
        <p:spPr>
          <a:xfrm>
            <a:off x="4193130" y="2880474"/>
            <a:ext cx="4489266" cy="1476733"/>
          </a:xfrm>
          <a:prstGeom prst="rect">
            <a:avLst/>
          </a:prstGeom>
        </p:spPr>
      </p:pic>
      <p:sp>
        <p:nvSpPr>
          <p:cNvPr id="15" name="TextBox 14"/>
          <p:cNvSpPr txBox="1"/>
          <p:nvPr/>
        </p:nvSpPr>
        <p:spPr>
          <a:xfrm>
            <a:off x="5325646" y="4461698"/>
            <a:ext cx="2291013" cy="246221"/>
          </a:xfrm>
          <a:prstGeom prst="rect">
            <a:avLst/>
          </a:prstGeom>
          <a:noFill/>
        </p:spPr>
        <p:txBody>
          <a:bodyPr wrap="none" rtlCol="0">
            <a:spAutoFit/>
          </a:bodyPr>
          <a:lstStyle/>
          <a:p>
            <a:pPr algn="ctr"/>
            <a:r>
              <a:rPr lang="en-US" sz="1000" dirty="0" smtClean="0"/>
              <a:t>Hình:</a:t>
            </a:r>
            <a:r>
              <a:rPr lang="vi-VN" sz="1000" dirty="0" smtClean="0"/>
              <a:t> Quá trình huấn luyện – Stage 2</a:t>
            </a:r>
            <a:endParaRPr lang="en-US" sz="1000" dirty="0"/>
          </a:p>
        </p:txBody>
      </p:sp>
      <p:sp>
        <p:nvSpPr>
          <p:cNvPr id="13" name="TextBox 12"/>
          <p:cNvSpPr txBox="1"/>
          <p:nvPr/>
        </p:nvSpPr>
        <p:spPr>
          <a:xfrm>
            <a:off x="5260186" y="2607492"/>
            <a:ext cx="2291013" cy="246221"/>
          </a:xfrm>
          <a:prstGeom prst="rect">
            <a:avLst/>
          </a:prstGeom>
          <a:noFill/>
        </p:spPr>
        <p:txBody>
          <a:bodyPr wrap="none" rtlCol="0">
            <a:spAutoFit/>
          </a:bodyPr>
          <a:lstStyle/>
          <a:p>
            <a:pPr algn="ctr"/>
            <a:r>
              <a:rPr lang="en-US" sz="1000" dirty="0" smtClean="0"/>
              <a:t>Hình:</a:t>
            </a:r>
            <a:r>
              <a:rPr lang="vi-VN" sz="1000" dirty="0" smtClean="0"/>
              <a:t> Quá trình huấn luyện – Stage 1</a:t>
            </a:r>
            <a:endParaRPr lang="en-US" sz="1000" dirty="0"/>
          </a:p>
        </p:txBody>
      </p:sp>
    </p:spTree>
    <p:extLst>
      <p:ext uri="{BB962C8B-B14F-4D97-AF65-F5344CB8AC3E}">
        <p14:creationId xmlns:p14="http://schemas.microsoft.com/office/powerpoint/2010/main" val="2114692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Mô</a:t>
            </a:r>
            <a:r>
              <a:rPr lang="en-US" sz="2800" dirty="0" smtClean="0"/>
              <a:t> </a:t>
            </a:r>
            <a:r>
              <a:rPr lang="en-US" sz="2800" dirty="0"/>
              <a:t>hình </a:t>
            </a:r>
            <a:r>
              <a:rPr lang="en-US" sz="2800" dirty="0" smtClean="0"/>
              <a:t>Q-Former trong </a:t>
            </a:r>
            <a:r>
              <a:rPr lang="en-US" sz="2800" dirty="0"/>
              <a:t>ILM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Tổng</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quan</a:t>
            </a:r>
            <a:r>
              <a:rPr lang="en-US" sz="2000" dirty="0" smtClean="0">
                <a:solidFill>
                  <a:schemeClr val="tx1">
                    <a:lumMod val="50000"/>
                    <a:lumOff val="50000"/>
                  </a:schemeClr>
                </a:solidFill>
              </a:rPr>
              <a:t> và Kiến </a:t>
            </a:r>
            <a:r>
              <a:rPr lang="en-US" sz="2000" dirty="0" err="1" smtClean="0">
                <a:solidFill>
                  <a:schemeClr val="tx1">
                    <a:lumMod val="50000"/>
                    <a:lumOff val="50000"/>
                  </a:schemeClr>
                </a:solidFill>
              </a:rPr>
              <a:t>trúc</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a:solidFill>
                  <a:schemeClr val="tx1"/>
                </a:solidFill>
              </a:rPr>
              <a:t>Về </a:t>
            </a:r>
            <a:r>
              <a:rPr lang="en-US" sz="2400" dirty="0" smtClean="0">
                <a:solidFill>
                  <a:schemeClr val="tx1"/>
                </a:solidFill>
              </a:rPr>
              <a:t>Q-Former</a:t>
            </a:r>
            <a:r>
              <a:rPr lang="vi-VN" sz="2400" dirty="0" smtClean="0">
                <a:solidFill>
                  <a:schemeClr val="tx1"/>
                </a:solidFill>
              </a:rPr>
              <a:t> trong ILM </a:t>
            </a:r>
            <a:endParaRPr lang="vi-VN" sz="2400" dirty="0">
              <a:solidFill>
                <a:schemeClr val="tx1"/>
              </a:solidFill>
            </a:endParaRPr>
          </a:p>
        </p:txBody>
      </p:sp>
      <p:sp>
        <p:nvSpPr>
          <p:cNvPr id="2" name="TextBox 1"/>
          <p:cNvSpPr txBox="1"/>
          <p:nvPr/>
        </p:nvSpPr>
        <p:spPr>
          <a:xfrm>
            <a:off x="576306" y="1801471"/>
            <a:ext cx="4884694" cy="2462213"/>
          </a:xfrm>
          <a:prstGeom prst="rect">
            <a:avLst/>
          </a:prstGeom>
          <a:noFill/>
        </p:spPr>
        <p:txBody>
          <a:bodyPr wrap="square" rtlCol="0">
            <a:spAutoFit/>
          </a:bodyPr>
          <a:lstStyle/>
          <a:p>
            <a:pPr marL="285750" indent="-285750" algn="just">
              <a:buFont typeface="Arial" panose="020B0604020202020204" pitchFamily="34" charset="0"/>
              <a:buChar char="•"/>
            </a:pPr>
            <a:r>
              <a:rPr lang="vi-VN" dirty="0"/>
              <a:t>Là một Transformer nhẹ (Lightweight Transformer</a:t>
            </a:r>
            <a:r>
              <a:rPr lang="vi-VN" dirty="0" smtClean="0"/>
              <a:t>).</a:t>
            </a:r>
            <a:r>
              <a:rPr lang="en-US" dirty="0" smtClean="0"/>
              <a:t> Chi phí </a:t>
            </a:r>
            <a:r>
              <a:rPr lang="en-US" dirty="0" err="1" smtClean="0"/>
              <a:t>huấn</a:t>
            </a:r>
            <a:r>
              <a:rPr lang="en-US" dirty="0" smtClean="0"/>
              <a:t> </a:t>
            </a:r>
            <a:r>
              <a:rPr lang="en-US" dirty="0" err="1" smtClean="0"/>
              <a:t>luyện</a:t>
            </a:r>
            <a:r>
              <a:rPr lang="en-US" dirty="0" smtClean="0"/>
              <a:t> </a:t>
            </a:r>
            <a:r>
              <a:rPr lang="en-US" dirty="0" err="1" smtClean="0"/>
              <a:t>thấp</a:t>
            </a:r>
            <a:r>
              <a:rPr lang="en-US" dirty="0" smtClean="0"/>
              <a:t>, </a:t>
            </a:r>
            <a:r>
              <a:rPr lang="en-US" b="1" dirty="0" err="1" smtClean="0"/>
              <a:t>không</a:t>
            </a:r>
            <a:r>
              <a:rPr lang="en-US" b="1" dirty="0" smtClean="0"/>
              <a:t> cần </a:t>
            </a:r>
            <a:r>
              <a:rPr lang="en-US" b="1" dirty="0" err="1" smtClean="0"/>
              <a:t>huấn</a:t>
            </a:r>
            <a:r>
              <a:rPr lang="en-US" b="1" dirty="0" smtClean="0"/>
              <a:t> </a:t>
            </a:r>
            <a:r>
              <a:rPr lang="en-US" b="1" dirty="0" err="1" smtClean="0"/>
              <a:t>luyện</a:t>
            </a:r>
            <a:r>
              <a:rPr lang="en-US" b="1" dirty="0" smtClean="0"/>
              <a:t> LLM và cả Item encoder</a:t>
            </a:r>
            <a:r>
              <a:rPr lang="en-US" dirty="0" smtClean="0"/>
              <a:t>. Được </a:t>
            </a:r>
            <a:r>
              <a:rPr lang="en-US" dirty="0" err="1" smtClean="0"/>
              <a:t>chứng</a:t>
            </a:r>
            <a:r>
              <a:rPr lang="en-US" dirty="0" smtClean="0"/>
              <a:t> minh </a:t>
            </a:r>
            <a:r>
              <a:rPr lang="en-US" dirty="0" err="1" smtClean="0"/>
              <a:t>hoạt</a:t>
            </a:r>
            <a:r>
              <a:rPr lang="en-US" dirty="0" smtClean="0"/>
              <a:t> </a:t>
            </a:r>
            <a:r>
              <a:rPr lang="en-US" dirty="0" err="1" smtClean="0"/>
              <a:t>động</a:t>
            </a:r>
            <a:r>
              <a:rPr lang="en-US" dirty="0" smtClean="0"/>
              <a:t> </a:t>
            </a:r>
            <a:r>
              <a:rPr lang="en-US" dirty="0" err="1" smtClean="0"/>
              <a:t>rất</a:t>
            </a:r>
            <a:r>
              <a:rPr lang="en-US" dirty="0" smtClean="0"/>
              <a:t> </a:t>
            </a:r>
            <a:r>
              <a:rPr lang="en-US" dirty="0" err="1" smtClean="0"/>
              <a:t>hiệu</a:t>
            </a:r>
            <a:r>
              <a:rPr lang="en-US" dirty="0" smtClean="0"/>
              <a:t> </a:t>
            </a:r>
            <a:r>
              <a:rPr lang="en-US" dirty="0" err="1" smtClean="0"/>
              <a:t>quả</a:t>
            </a:r>
            <a:r>
              <a:rPr lang="en-US" dirty="0" smtClean="0"/>
              <a:t> trên nhiều modal </a:t>
            </a:r>
            <a:r>
              <a:rPr lang="en-US" dirty="0" err="1" smtClean="0"/>
              <a:t>khác</a:t>
            </a:r>
            <a:r>
              <a:rPr lang="en-US" dirty="0" smtClean="0"/>
              <a:t> </a:t>
            </a:r>
            <a:r>
              <a:rPr lang="en-US" dirty="0" err="1" smtClean="0"/>
              <a:t>nhau</a:t>
            </a:r>
            <a:r>
              <a:rPr lang="en-US" dirty="0" smtClean="0"/>
              <a:t>.</a:t>
            </a:r>
          </a:p>
          <a:p>
            <a:pPr marL="285750" indent="-285750" algn="just">
              <a:buFont typeface="Arial" panose="020B0604020202020204" pitchFamily="34" charset="0"/>
              <a:buChar char="•"/>
            </a:pPr>
            <a:r>
              <a:rPr lang="vi-VN" dirty="0" smtClean="0"/>
              <a:t>Sử </a:t>
            </a:r>
            <a:r>
              <a:rPr lang="vi-VN" dirty="0"/>
              <a:t>dụng tập hợp các Learnable Query Vectors (Vector truy vấn học được) cố định</a:t>
            </a:r>
            <a:r>
              <a:rPr lang="vi-VN" dirty="0" smtClean="0"/>
              <a:t>.</a:t>
            </a:r>
            <a:endParaRPr lang="en-US" dirty="0" smtClean="0"/>
          </a:p>
          <a:p>
            <a:pPr marL="285750" indent="-285750" algn="just">
              <a:buFont typeface="Arial" panose="020B0604020202020204" pitchFamily="34" charset="0"/>
              <a:buChar char="•"/>
            </a:pPr>
            <a:r>
              <a:rPr lang="vi-VN" dirty="0" smtClean="0"/>
              <a:t>Gồm </a:t>
            </a:r>
            <a:r>
              <a:rPr lang="vi-VN" dirty="0"/>
              <a:t>2 mô-đun con chia sẻ trọng </a:t>
            </a:r>
            <a:r>
              <a:rPr lang="en-US" dirty="0" smtClean="0"/>
              <a:t>số</a:t>
            </a:r>
            <a:r>
              <a:rPr lang="en-US" dirty="0"/>
              <a:t> </a:t>
            </a:r>
            <a:r>
              <a:rPr lang="vi-VN" dirty="0" smtClean="0"/>
              <a:t>Self-attention:</a:t>
            </a:r>
            <a:endParaRPr lang="en-US" dirty="0" smtClean="0"/>
          </a:p>
          <a:p>
            <a:pPr algn="just"/>
            <a:r>
              <a:rPr lang="en-US" dirty="0" smtClean="0"/>
              <a:t>	- </a:t>
            </a:r>
            <a:r>
              <a:rPr lang="vi-VN" dirty="0" smtClean="0"/>
              <a:t>Image </a:t>
            </a:r>
            <a:r>
              <a:rPr lang="vi-VN" dirty="0"/>
              <a:t>Transformer: </a:t>
            </a:r>
            <a:r>
              <a:rPr lang="en-US" dirty="0" smtClean="0"/>
              <a:t>Các learned queries </a:t>
            </a:r>
            <a:r>
              <a:rPr lang="en-US" dirty="0"/>
              <a:t>t</a:t>
            </a:r>
            <a:r>
              <a:rPr lang="vi-VN" dirty="0" smtClean="0"/>
              <a:t>ương </a:t>
            </a:r>
            <a:r>
              <a:rPr lang="vi-VN" dirty="0"/>
              <a:t>tác với Image Encoder qua cơ chế Cross-Attention</a:t>
            </a:r>
            <a:r>
              <a:rPr lang="vi-VN" dirty="0" smtClean="0"/>
              <a:t>.</a:t>
            </a:r>
            <a:endParaRPr lang="en-US" dirty="0" smtClean="0"/>
          </a:p>
          <a:p>
            <a:pPr algn="just"/>
            <a:r>
              <a:rPr lang="en-US" dirty="0" smtClean="0"/>
              <a:t>	- </a:t>
            </a:r>
            <a:r>
              <a:rPr lang="vi-VN" dirty="0" smtClean="0"/>
              <a:t>Text </a:t>
            </a:r>
            <a:r>
              <a:rPr lang="vi-VN" dirty="0"/>
              <a:t>Transformer: Xử lý văn bản đầu vào </a:t>
            </a:r>
            <a:r>
              <a:rPr lang="vi-VN" dirty="0" smtClean="0"/>
              <a:t>(</a:t>
            </a:r>
            <a:r>
              <a:rPr lang="en-US" dirty="0" err="1" smtClean="0"/>
              <a:t>mô</a:t>
            </a:r>
            <a:r>
              <a:rPr lang="en-US" dirty="0" smtClean="0"/>
              <a:t> </a:t>
            </a:r>
            <a:r>
              <a:rPr lang="en-US" dirty="0" err="1" smtClean="0"/>
              <a:t>tả</a:t>
            </a:r>
            <a:r>
              <a:rPr lang="en-US" dirty="0" smtClean="0"/>
              <a:t> </a:t>
            </a:r>
            <a:r>
              <a:rPr lang="en-US" dirty="0" err="1" smtClean="0"/>
              <a:t>sản</a:t>
            </a:r>
            <a:r>
              <a:rPr lang="en-US" dirty="0" smtClean="0"/>
              <a:t> </a:t>
            </a:r>
            <a:r>
              <a:rPr lang="en-US" dirty="0" err="1" smtClean="0"/>
              <a:t>phẩm</a:t>
            </a:r>
            <a:r>
              <a:rPr lang="vi-VN" dirty="0" smtClean="0"/>
              <a:t>).</a:t>
            </a:r>
            <a:endParaRPr lang="en-US" dirty="0"/>
          </a:p>
        </p:txBody>
      </p:sp>
      <p:pic>
        <p:nvPicPr>
          <p:cNvPr id="3" name="Picture 2"/>
          <p:cNvPicPr>
            <a:picLocks noChangeAspect="1"/>
          </p:cNvPicPr>
          <p:nvPr/>
        </p:nvPicPr>
        <p:blipFill>
          <a:blip r:embed="rId3"/>
          <a:stretch>
            <a:fillRect/>
          </a:stretch>
        </p:blipFill>
        <p:spPr>
          <a:xfrm>
            <a:off x="5513940" y="1191195"/>
            <a:ext cx="3418373" cy="2463749"/>
          </a:xfrm>
          <a:prstGeom prst="rect">
            <a:avLst/>
          </a:prstGeom>
        </p:spPr>
      </p:pic>
      <p:sp>
        <p:nvSpPr>
          <p:cNvPr id="12" name="TextBox 11"/>
          <p:cNvSpPr txBox="1"/>
          <p:nvPr/>
        </p:nvSpPr>
        <p:spPr>
          <a:xfrm>
            <a:off x="6854275" y="3895825"/>
            <a:ext cx="737702" cy="246221"/>
          </a:xfrm>
          <a:prstGeom prst="rect">
            <a:avLst/>
          </a:prstGeom>
          <a:noFill/>
        </p:spPr>
        <p:txBody>
          <a:bodyPr wrap="none" rtlCol="0">
            <a:spAutoFit/>
          </a:bodyPr>
          <a:lstStyle/>
          <a:p>
            <a:pPr algn="ctr"/>
            <a:r>
              <a:rPr lang="en-US" sz="1000" dirty="0" smtClean="0"/>
              <a:t>Hình: </a:t>
            </a:r>
            <a:r>
              <a:rPr lang="vi-VN" sz="1000" dirty="0" smtClean="0"/>
              <a:t>ILM</a:t>
            </a:r>
            <a:endParaRPr lang="en-US" sz="1000" dirty="0"/>
          </a:p>
        </p:txBody>
      </p:sp>
    </p:spTree>
    <p:extLst>
      <p:ext uri="{BB962C8B-B14F-4D97-AF65-F5344CB8AC3E}">
        <p14:creationId xmlns:p14="http://schemas.microsoft.com/office/powerpoint/2010/main" val="504426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Mô</a:t>
            </a:r>
            <a:r>
              <a:rPr lang="en-US" sz="2800" dirty="0"/>
              <a:t> hình </a:t>
            </a:r>
            <a:r>
              <a:rPr lang="en-US" sz="2800" dirty="0" smtClean="0"/>
              <a:t>Q-Former trong ILM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161705"/>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Cơ </a:t>
            </a:r>
            <a:r>
              <a:rPr lang="en-US" sz="2000" dirty="0" err="1" smtClean="0">
                <a:solidFill>
                  <a:schemeClr val="tx1">
                    <a:lumMod val="50000"/>
                    <a:lumOff val="50000"/>
                  </a:schemeClr>
                </a:solidFill>
              </a:rPr>
              <a:t>chế</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a:solidFill>
                  <a:schemeClr val="tx1"/>
                </a:solidFill>
              </a:rPr>
              <a:t>Về mô hình</a:t>
            </a:r>
            <a:r>
              <a:rPr lang="en-US" sz="2400" dirty="0">
                <a:solidFill>
                  <a:schemeClr val="tx1"/>
                </a:solidFill>
              </a:rPr>
              <a:t> Q-Former</a:t>
            </a:r>
            <a:endParaRPr lang="vi-VN" sz="2400" dirty="0">
              <a:solidFill>
                <a:schemeClr val="tx1"/>
              </a:solidFill>
            </a:endParaRPr>
          </a:p>
        </p:txBody>
      </p:sp>
      <p:sp>
        <p:nvSpPr>
          <p:cNvPr id="2" name="TextBox 1"/>
          <p:cNvSpPr txBox="1"/>
          <p:nvPr/>
        </p:nvSpPr>
        <p:spPr>
          <a:xfrm>
            <a:off x="602776" y="1520973"/>
            <a:ext cx="4884694" cy="3323987"/>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smtClean="0"/>
              <a:t>Huấn</a:t>
            </a:r>
            <a:r>
              <a:rPr lang="en-US" dirty="0" smtClean="0"/>
              <a:t> </a:t>
            </a:r>
            <a:r>
              <a:rPr lang="en-US" dirty="0" err="1" smtClean="0"/>
              <a:t>luyện</a:t>
            </a:r>
            <a:r>
              <a:rPr lang="en-US" dirty="0" smtClean="0"/>
              <a:t> </a:t>
            </a:r>
            <a:r>
              <a:rPr lang="en-US" dirty="0" err="1" smtClean="0"/>
              <a:t>thông</a:t>
            </a:r>
            <a:r>
              <a:rPr lang="en-US" dirty="0" smtClean="0"/>
              <a:t> qua 3 </a:t>
            </a:r>
            <a:r>
              <a:rPr lang="en-US" dirty="0" err="1" smtClean="0"/>
              <a:t>hàm</a:t>
            </a:r>
            <a:r>
              <a:rPr lang="en-US" dirty="0" smtClean="0"/>
              <a:t> </a:t>
            </a:r>
            <a:r>
              <a:rPr lang="en-US" dirty="0" err="1" smtClean="0"/>
              <a:t>mục</a:t>
            </a:r>
            <a:r>
              <a:rPr lang="en-US" dirty="0" smtClean="0"/>
              <a:t> </a:t>
            </a:r>
            <a:r>
              <a:rPr lang="en-US" dirty="0" err="1" smtClean="0"/>
              <a:t>tiêu</a:t>
            </a:r>
            <a:r>
              <a:rPr lang="en-US" dirty="0"/>
              <a:t> </a:t>
            </a:r>
            <a:r>
              <a:rPr lang="en-US" dirty="0" err="1" smtClean="0"/>
              <a:t>khác</a:t>
            </a:r>
            <a:r>
              <a:rPr lang="en-US" dirty="0" smtClean="0"/>
              <a:t> </a:t>
            </a:r>
            <a:r>
              <a:rPr lang="en-US" dirty="0" err="1" smtClean="0"/>
              <a:t>nhau</a:t>
            </a:r>
            <a:r>
              <a:rPr lang="en-US" dirty="0" smtClean="0"/>
              <a:t> (Item-text contrastive, item-text matching, item text generation)</a:t>
            </a:r>
          </a:p>
          <a:p>
            <a:pPr marL="285750" indent="-285750" algn="just">
              <a:buFont typeface="Arial" panose="020B0604020202020204" pitchFamily="34" charset="0"/>
              <a:buChar char="•"/>
            </a:pPr>
            <a:r>
              <a:rPr lang="vi-VN" dirty="0"/>
              <a:t>Hiểu nôm na thì bộ queries này sẽ tương tự như loạt câu hỏi “Ai? Cái gì? Chuyện gì</a:t>
            </a:r>
            <a:r>
              <a:rPr lang="vi-VN" dirty="0" smtClean="0"/>
              <a:t>?”. </a:t>
            </a:r>
            <a:r>
              <a:rPr lang="vi-VN" dirty="0"/>
              <a:t>Qua quá trình huấn luyện thì dần dần bộ queries </a:t>
            </a:r>
            <a:r>
              <a:rPr lang="vi-VN" dirty="0" smtClean="0"/>
              <a:t>sẽ </a:t>
            </a:r>
            <a:r>
              <a:rPr lang="en-US" dirty="0" err="1" smtClean="0"/>
              <a:t>biết</a:t>
            </a:r>
            <a:r>
              <a:rPr lang="en-US" dirty="0" smtClean="0"/>
              <a:t> </a:t>
            </a:r>
            <a:r>
              <a:rPr lang="vi-VN" dirty="0" smtClean="0"/>
              <a:t>những </a:t>
            </a:r>
            <a:r>
              <a:rPr lang="vi-VN" dirty="0"/>
              <a:t>đặc trưng cần thiết và liên quan đến </a:t>
            </a:r>
            <a:r>
              <a:rPr lang="en-US" dirty="0" err="1" smtClean="0"/>
              <a:t>hành</a:t>
            </a:r>
            <a:r>
              <a:rPr lang="en-US" dirty="0" smtClean="0"/>
              <a:t> vi và </a:t>
            </a:r>
            <a:r>
              <a:rPr lang="en-US" dirty="0" err="1" smtClean="0"/>
              <a:t>mô</a:t>
            </a:r>
            <a:r>
              <a:rPr lang="en-US" dirty="0" smtClean="0"/>
              <a:t> </a:t>
            </a:r>
            <a:r>
              <a:rPr lang="en-US" dirty="0" err="1" smtClean="0"/>
              <a:t>tả</a:t>
            </a:r>
            <a:r>
              <a:rPr lang="en-US" dirty="0" smtClean="0"/>
              <a:t> item</a:t>
            </a:r>
            <a:r>
              <a:rPr lang="vi-VN" dirty="0" smtClean="0"/>
              <a:t>.</a:t>
            </a:r>
            <a:r>
              <a:rPr lang="vi-VN" dirty="0"/>
              <a:t> </a:t>
            </a:r>
            <a:endParaRPr lang="en-US" dirty="0" smtClean="0"/>
          </a:p>
          <a:p>
            <a:pPr marL="285750" indent="-285750" algn="just">
              <a:buFont typeface="Arial" panose="020B0604020202020204" pitchFamily="34" charset="0"/>
              <a:buChar char="•"/>
            </a:pPr>
            <a:r>
              <a:rPr lang="vi-VN" dirty="0" smtClean="0"/>
              <a:t>Cơ chế:</a:t>
            </a:r>
            <a:r>
              <a:rPr lang="en-US" dirty="0" smtClean="0"/>
              <a:t> </a:t>
            </a:r>
          </a:p>
          <a:p>
            <a:pPr lvl="1" algn="just"/>
            <a:r>
              <a:rPr lang="en-US" dirty="0"/>
              <a:t>	</a:t>
            </a:r>
            <a:r>
              <a:rPr lang="vi-VN" dirty="0" smtClean="0"/>
              <a:t>Các </a:t>
            </a:r>
            <a:r>
              <a:rPr lang="vi-VN" dirty="0"/>
              <a:t>truy vấn (Queries) trích xuất thông tin </a:t>
            </a:r>
            <a:r>
              <a:rPr lang="en-US" dirty="0" smtClean="0"/>
              <a:t>trong vector </a:t>
            </a:r>
            <a:r>
              <a:rPr lang="en-US" dirty="0" err="1" smtClean="0"/>
              <a:t>cộng</a:t>
            </a:r>
            <a:r>
              <a:rPr lang="en-US" dirty="0" smtClean="0"/>
              <a:t> </a:t>
            </a:r>
            <a:r>
              <a:rPr lang="en-US" dirty="0" err="1" smtClean="0"/>
              <a:t>tác</a:t>
            </a:r>
            <a:r>
              <a:rPr lang="en-US" dirty="0" smtClean="0"/>
              <a:t> (</a:t>
            </a:r>
            <a:r>
              <a:rPr lang="en-US" dirty="0" err="1" smtClean="0"/>
              <a:t>mang</a:t>
            </a:r>
            <a:r>
              <a:rPr lang="en-US" dirty="0" smtClean="0"/>
              <a:t> </a:t>
            </a:r>
            <a:r>
              <a:rPr lang="en-US" dirty="0" err="1" smtClean="0"/>
              <a:t>thông</a:t>
            </a:r>
            <a:r>
              <a:rPr lang="en-US" dirty="0" smtClean="0"/>
              <a:t> tin </a:t>
            </a:r>
            <a:r>
              <a:rPr lang="en-US" dirty="0" err="1" smtClean="0"/>
              <a:t>hành</a:t>
            </a:r>
            <a:r>
              <a:rPr lang="en-US" dirty="0" smtClean="0"/>
              <a:t> vi </a:t>
            </a:r>
            <a:r>
              <a:rPr lang="en-US" dirty="0" err="1" smtClean="0"/>
              <a:t>sản</a:t>
            </a:r>
            <a:r>
              <a:rPr lang="en-US" dirty="0" smtClean="0"/>
              <a:t> </a:t>
            </a:r>
            <a:r>
              <a:rPr lang="en-US" dirty="0" err="1" smtClean="0"/>
              <a:t>phẩm</a:t>
            </a:r>
            <a:r>
              <a:rPr lang="en-US" dirty="0" smtClean="0"/>
              <a:t>/ người </a:t>
            </a:r>
            <a:r>
              <a:rPr lang="en-US" dirty="0" err="1" smtClean="0"/>
              <a:t>dùng</a:t>
            </a:r>
            <a:r>
              <a:rPr lang="en-US" dirty="0" smtClean="0"/>
              <a:t>) </a:t>
            </a:r>
            <a:r>
              <a:rPr lang="vi-VN" dirty="0" smtClean="0"/>
              <a:t>quan </a:t>
            </a:r>
            <a:r>
              <a:rPr lang="vi-VN" dirty="0"/>
              <a:t>trọng nhất liên quan đến văn bản</a:t>
            </a:r>
            <a:r>
              <a:rPr lang="vi-VN" dirty="0" smtClean="0"/>
              <a:t>.</a:t>
            </a:r>
            <a:endParaRPr lang="en-US" dirty="0" smtClean="0"/>
          </a:p>
          <a:p>
            <a:pPr lvl="1" algn="just"/>
            <a:r>
              <a:rPr lang="en-US" dirty="0"/>
              <a:t>	</a:t>
            </a:r>
            <a:r>
              <a:rPr lang="en-US" dirty="0" smtClean="0"/>
              <a:t/>
            </a:r>
            <a:br>
              <a:rPr lang="en-US" dirty="0" smtClean="0"/>
            </a:br>
            <a:r>
              <a:rPr lang="en-US" dirty="0" smtClean="0"/>
              <a:t>	</a:t>
            </a:r>
            <a:r>
              <a:rPr lang="vi-VN" dirty="0" smtClean="0"/>
              <a:t>Đầu </a:t>
            </a:r>
            <a:r>
              <a:rPr lang="vi-VN" dirty="0"/>
              <a:t>ra là các đặc </a:t>
            </a:r>
            <a:r>
              <a:rPr lang="vi-VN" dirty="0" smtClean="0"/>
              <a:t>trưng</a:t>
            </a:r>
            <a:r>
              <a:rPr lang="en-US" dirty="0" smtClean="0"/>
              <a:t> (N = 32)</a:t>
            </a:r>
            <a:r>
              <a:rPr lang="vi-VN" dirty="0" smtClean="0"/>
              <a:t> </a:t>
            </a:r>
            <a:r>
              <a:rPr lang="en-US" dirty="0" err="1" smtClean="0"/>
              <a:t>hành</a:t>
            </a:r>
            <a:r>
              <a:rPr lang="en-US" dirty="0" smtClean="0"/>
              <a:t> vi </a:t>
            </a:r>
            <a:r>
              <a:rPr lang="vi-VN" dirty="0" smtClean="0"/>
              <a:t>đã được</a:t>
            </a:r>
            <a:r>
              <a:rPr lang="en-US" dirty="0" smtClean="0"/>
              <a:t> </a:t>
            </a:r>
            <a:r>
              <a:rPr lang="en-US" dirty="0" err="1" smtClean="0"/>
              <a:t>căn</a:t>
            </a:r>
            <a:r>
              <a:rPr lang="en-US" dirty="0" smtClean="0"/>
              <a:t> </a:t>
            </a:r>
            <a:r>
              <a:rPr lang="en-US" dirty="0" err="1" smtClean="0"/>
              <a:t>chỉnh</a:t>
            </a:r>
            <a:r>
              <a:rPr lang="en-US" dirty="0" smtClean="0"/>
              <a:t> </a:t>
            </a:r>
            <a:r>
              <a:rPr lang="en-US" dirty="0" err="1" smtClean="0"/>
              <a:t>mang</a:t>
            </a:r>
            <a:r>
              <a:rPr lang="en-US" dirty="0" smtClean="0"/>
              <a:t> cả </a:t>
            </a:r>
            <a:r>
              <a:rPr lang="en-US" dirty="0" err="1" smtClean="0"/>
              <a:t>ngữ</a:t>
            </a:r>
            <a:r>
              <a:rPr lang="en-US" dirty="0" smtClean="0"/>
              <a:t> </a:t>
            </a:r>
            <a:r>
              <a:rPr lang="en-US" dirty="0" err="1" smtClean="0"/>
              <a:t>nghĩa</a:t>
            </a:r>
            <a:r>
              <a:rPr lang="en-US" dirty="0" smtClean="0"/>
              <a:t> về </a:t>
            </a:r>
            <a:r>
              <a:rPr lang="en-US" dirty="0" err="1" smtClean="0"/>
              <a:t>hành</a:t>
            </a:r>
            <a:r>
              <a:rPr lang="en-US" dirty="0" smtClean="0"/>
              <a:t> vi </a:t>
            </a:r>
            <a:r>
              <a:rPr lang="en-US" dirty="0" err="1" smtClean="0"/>
              <a:t>lẫn</a:t>
            </a:r>
            <a:r>
              <a:rPr lang="en-US" dirty="0" smtClean="0"/>
              <a:t> </a:t>
            </a:r>
            <a:r>
              <a:rPr lang="en-US" dirty="0" err="1" smtClean="0"/>
              <a:t>mô</a:t>
            </a:r>
            <a:r>
              <a:rPr lang="en-US" dirty="0" smtClean="0"/>
              <a:t> </a:t>
            </a:r>
            <a:r>
              <a:rPr lang="en-US" dirty="0" err="1" smtClean="0"/>
              <a:t>tả</a:t>
            </a:r>
            <a:r>
              <a:rPr lang="en-US" dirty="0" smtClean="0"/>
              <a:t> </a:t>
            </a:r>
            <a:r>
              <a:rPr lang="en-US" dirty="0" err="1" smtClean="0"/>
              <a:t>sản</a:t>
            </a:r>
            <a:r>
              <a:rPr lang="en-US" dirty="0" smtClean="0"/>
              <a:t> </a:t>
            </a:r>
            <a:r>
              <a:rPr lang="en-US" dirty="0" err="1" smtClean="0"/>
              <a:t>phẩm</a:t>
            </a:r>
            <a:r>
              <a:rPr lang="vi-VN" dirty="0" smtClean="0"/>
              <a:t>.</a:t>
            </a:r>
            <a:endParaRPr lang="en-US" dirty="0"/>
          </a:p>
        </p:txBody>
      </p:sp>
      <p:pic>
        <p:nvPicPr>
          <p:cNvPr id="3" name="Picture 2"/>
          <p:cNvPicPr>
            <a:picLocks noChangeAspect="1"/>
          </p:cNvPicPr>
          <p:nvPr/>
        </p:nvPicPr>
        <p:blipFill>
          <a:blip r:embed="rId3"/>
          <a:stretch>
            <a:fillRect/>
          </a:stretch>
        </p:blipFill>
        <p:spPr>
          <a:xfrm>
            <a:off x="5513940" y="1191195"/>
            <a:ext cx="3418373" cy="2463749"/>
          </a:xfrm>
          <a:prstGeom prst="rect">
            <a:avLst/>
          </a:prstGeom>
        </p:spPr>
      </p:pic>
      <p:sp>
        <p:nvSpPr>
          <p:cNvPr id="12" name="TextBox 11"/>
          <p:cNvSpPr txBox="1"/>
          <p:nvPr/>
        </p:nvSpPr>
        <p:spPr>
          <a:xfrm>
            <a:off x="6584972" y="3895825"/>
            <a:ext cx="1276311" cy="246221"/>
          </a:xfrm>
          <a:prstGeom prst="rect">
            <a:avLst/>
          </a:prstGeom>
          <a:noFill/>
        </p:spPr>
        <p:txBody>
          <a:bodyPr wrap="none" rtlCol="0">
            <a:spAutoFit/>
          </a:bodyPr>
          <a:lstStyle/>
          <a:p>
            <a:pPr algn="ctr"/>
            <a:r>
              <a:rPr lang="en-US" sz="1000" dirty="0" smtClean="0"/>
              <a:t>Hình: Kiến </a:t>
            </a:r>
            <a:r>
              <a:rPr lang="en-US" sz="1000" dirty="0" err="1" smtClean="0"/>
              <a:t>trúc</a:t>
            </a:r>
            <a:r>
              <a:rPr lang="en-US" sz="1000" dirty="0" smtClean="0"/>
              <a:t> </a:t>
            </a:r>
            <a:r>
              <a:rPr lang="vi-VN" sz="1000" dirty="0" smtClean="0"/>
              <a:t>ILM</a:t>
            </a:r>
            <a:endParaRPr lang="en-US" sz="1000" dirty="0"/>
          </a:p>
        </p:txBody>
      </p:sp>
    </p:spTree>
    <p:extLst>
      <p:ext uri="{BB962C8B-B14F-4D97-AF65-F5344CB8AC3E}">
        <p14:creationId xmlns:p14="http://schemas.microsoft.com/office/powerpoint/2010/main" val="2607149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Mô</a:t>
            </a:r>
            <a:r>
              <a:rPr lang="en-US" sz="2800" dirty="0"/>
              <a:t> hình Q-Former trong ILM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So </a:t>
            </a:r>
            <a:r>
              <a:rPr lang="en-US" sz="2000" dirty="0" err="1" smtClean="0">
                <a:solidFill>
                  <a:schemeClr val="tx1">
                    <a:lumMod val="50000"/>
                    <a:lumOff val="50000"/>
                  </a:schemeClr>
                </a:solidFill>
              </a:rPr>
              <a:t>sánh</a:t>
            </a:r>
            <a:r>
              <a:rPr lang="en-US" sz="2000" dirty="0" smtClean="0">
                <a:solidFill>
                  <a:schemeClr val="tx1">
                    <a:lumMod val="50000"/>
                    <a:lumOff val="50000"/>
                  </a:schemeClr>
                </a:solidFill>
              </a:rPr>
              <a:t> 2 </a:t>
            </a:r>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a:solidFill>
                  <a:schemeClr val="tx1"/>
                </a:solidFill>
              </a:rPr>
              <a:t>Về mô hình</a:t>
            </a:r>
            <a:r>
              <a:rPr lang="en-US" sz="2400" dirty="0">
                <a:solidFill>
                  <a:schemeClr val="tx1"/>
                </a:solidFill>
              </a:rPr>
              <a:t> Q-Former</a:t>
            </a:r>
            <a:endParaRPr lang="vi-VN" sz="2400" dirty="0">
              <a:solidFill>
                <a:schemeClr val="tx1"/>
              </a:solidFill>
            </a:endParaRPr>
          </a:p>
        </p:txBody>
      </p:sp>
      <p:sp>
        <p:nvSpPr>
          <p:cNvPr id="7" name="TextBox 6"/>
          <p:cNvSpPr txBox="1"/>
          <p:nvPr/>
        </p:nvSpPr>
        <p:spPr>
          <a:xfrm>
            <a:off x="6197255" y="4139470"/>
            <a:ext cx="1276311" cy="246221"/>
          </a:xfrm>
          <a:prstGeom prst="rect">
            <a:avLst/>
          </a:prstGeom>
          <a:noFill/>
        </p:spPr>
        <p:txBody>
          <a:bodyPr wrap="none" rtlCol="0">
            <a:spAutoFit/>
          </a:bodyPr>
          <a:lstStyle/>
          <a:p>
            <a:pPr algn="ctr"/>
            <a:r>
              <a:rPr lang="en-US" sz="1000" dirty="0" smtClean="0"/>
              <a:t>Hình: Kiến </a:t>
            </a:r>
            <a:r>
              <a:rPr lang="en-US" sz="1000" dirty="0" err="1" smtClean="0"/>
              <a:t>trúc</a:t>
            </a:r>
            <a:r>
              <a:rPr lang="en-US" sz="1000" dirty="0" smtClean="0"/>
              <a:t> ILM</a:t>
            </a:r>
            <a:endParaRPr lang="en-US" sz="1000" dirty="0"/>
          </a:p>
        </p:txBody>
      </p:sp>
      <p:pic>
        <p:nvPicPr>
          <p:cNvPr id="10" name="Picture 9"/>
          <p:cNvPicPr>
            <a:picLocks noChangeAspect="1"/>
          </p:cNvPicPr>
          <p:nvPr/>
        </p:nvPicPr>
        <p:blipFill>
          <a:blip r:embed="rId3"/>
          <a:stretch>
            <a:fillRect/>
          </a:stretch>
        </p:blipFill>
        <p:spPr>
          <a:xfrm>
            <a:off x="5252050" y="1954474"/>
            <a:ext cx="2928423" cy="2110624"/>
          </a:xfrm>
          <a:prstGeom prst="rect">
            <a:avLst/>
          </a:prstGeom>
        </p:spPr>
      </p:pic>
      <p:pic>
        <p:nvPicPr>
          <p:cNvPr id="11" name="Picture 10"/>
          <p:cNvPicPr>
            <a:picLocks noChangeAspect="1"/>
          </p:cNvPicPr>
          <p:nvPr/>
        </p:nvPicPr>
        <p:blipFill>
          <a:blip r:embed="rId4"/>
          <a:stretch>
            <a:fillRect/>
          </a:stretch>
        </p:blipFill>
        <p:spPr>
          <a:xfrm>
            <a:off x="785528" y="2038076"/>
            <a:ext cx="4379293" cy="1943419"/>
          </a:xfrm>
          <a:prstGeom prst="rect">
            <a:avLst/>
          </a:prstGeom>
        </p:spPr>
      </p:pic>
      <p:sp>
        <p:nvSpPr>
          <p:cNvPr id="12" name="TextBox 11"/>
          <p:cNvSpPr txBox="1"/>
          <p:nvPr/>
        </p:nvSpPr>
        <p:spPr>
          <a:xfrm>
            <a:off x="1957296" y="4160631"/>
            <a:ext cx="1475084" cy="246221"/>
          </a:xfrm>
          <a:prstGeom prst="rect">
            <a:avLst/>
          </a:prstGeom>
          <a:noFill/>
        </p:spPr>
        <p:txBody>
          <a:bodyPr wrap="none" rtlCol="0">
            <a:spAutoFit/>
          </a:bodyPr>
          <a:lstStyle/>
          <a:p>
            <a:pPr algn="ctr"/>
            <a:r>
              <a:rPr lang="en-US" sz="1000" dirty="0" smtClean="0"/>
              <a:t>Hình: Kiến </a:t>
            </a:r>
            <a:r>
              <a:rPr lang="en-US" sz="1000" dirty="0" err="1" smtClean="0"/>
              <a:t>trúc</a:t>
            </a:r>
            <a:r>
              <a:rPr lang="vi-VN" sz="1000" dirty="0" smtClean="0"/>
              <a:t> CoLLM</a:t>
            </a:r>
            <a:endParaRPr lang="en-US" sz="1000" dirty="0"/>
          </a:p>
        </p:txBody>
      </p:sp>
    </p:spTree>
    <p:extLst>
      <p:ext uri="{BB962C8B-B14F-4D97-AF65-F5344CB8AC3E}">
        <p14:creationId xmlns:p14="http://schemas.microsoft.com/office/powerpoint/2010/main" val="1688002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2017284" y="1741947"/>
            <a:ext cx="5156200" cy="1015663"/>
          </a:xfrm>
          <a:prstGeom prst="rect">
            <a:avLst/>
          </a:prstGeom>
          <a:noFill/>
        </p:spPr>
        <p:txBody>
          <a:bodyPr wrap="square" rtlCol="0">
            <a:spAutoFit/>
          </a:bodyPr>
          <a:lstStyle/>
          <a:p>
            <a:pPr algn="ctr"/>
            <a:r>
              <a:rPr lang="en-US" sz="6000" b="1" dirty="0" smtClean="0">
                <a:solidFill>
                  <a:srgbClr val="0070C0"/>
                </a:solidFill>
              </a:rPr>
              <a:t>Instruct BLIP</a:t>
            </a:r>
            <a:endParaRPr lang="en-US" sz="6000" dirty="0">
              <a:solidFill>
                <a:srgbClr val="0070C0"/>
              </a:solidFill>
            </a:endParaRPr>
          </a:p>
        </p:txBody>
      </p:sp>
    </p:spTree>
    <p:extLst>
      <p:ext uri="{BB962C8B-B14F-4D97-AF65-F5344CB8AC3E}">
        <p14:creationId xmlns:p14="http://schemas.microsoft.com/office/powerpoint/2010/main" val="19187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INSTRUCT BLIP</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Vấn </a:t>
            </a:r>
            <a:r>
              <a:rPr lang="en-US" sz="2000" dirty="0" err="1" smtClean="0">
                <a:solidFill>
                  <a:schemeClr val="tx1">
                    <a:lumMod val="50000"/>
                    <a:lumOff val="50000"/>
                  </a:schemeClr>
                </a:solidFill>
              </a:rPr>
              <a:t>đề</a:t>
            </a:r>
            <a:r>
              <a:rPr lang="en-US" sz="2000" dirty="0" smtClean="0">
                <a:solidFill>
                  <a:schemeClr val="tx1">
                    <a:lumMod val="50000"/>
                    <a:lumOff val="50000"/>
                  </a:schemeClr>
                </a:solidFill>
              </a:rPr>
              <a:t> của Q-Former</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713134"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Đề</a:t>
            </a:r>
            <a:r>
              <a:rPr lang="en-US" sz="2400" dirty="0" smtClean="0">
                <a:solidFill>
                  <a:schemeClr val="tx1"/>
                </a:solidFill>
              </a:rPr>
              <a:t> </a:t>
            </a:r>
            <a:r>
              <a:rPr lang="en-US" sz="2400" dirty="0" err="1" smtClean="0">
                <a:solidFill>
                  <a:schemeClr val="tx1"/>
                </a:solidFill>
              </a:rPr>
              <a:t>xuất</a:t>
            </a:r>
            <a:r>
              <a:rPr lang="en-US" sz="2400" dirty="0" smtClean="0">
                <a:solidFill>
                  <a:schemeClr val="tx1"/>
                </a:solidFill>
              </a:rPr>
              <a:t> của Instruct BLIP</a:t>
            </a:r>
            <a:endParaRPr lang="vi-VN" sz="2400" dirty="0">
              <a:solidFill>
                <a:schemeClr val="tx1"/>
              </a:solidFill>
            </a:endParaRPr>
          </a:p>
        </p:txBody>
      </p:sp>
      <p:sp>
        <p:nvSpPr>
          <p:cNvPr id="2" name="TextBox 1"/>
          <p:cNvSpPr txBox="1"/>
          <p:nvPr/>
        </p:nvSpPr>
        <p:spPr>
          <a:xfrm>
            <a:off x="248816" y="1804334"/>
            <a:ext cx="4258961" cy="2893100"/>
          </a:xfrm>
          <a:prstGeom prst="rect">
            <a:avLst/>
          </a:prstGeom>
          <a:noFill/>
        </p:spPr>
        <p:txBody>
          <a:bodyPr wrap="square" rtlCol="0">
            <a:spAutoFit/>
          </a:bodyPr>
          <a:lstStyle/>
          <a:p>
            <a:pPr marL="285750" indent="-285750" algn="just">
              <a:buFont typeface="Arial" panose="020B0604020202020204" pitchFamily="34" charset="0"/>
              <a:buChar char="•"/>
            </a:pPr>
            <a:r>
              <a:rPr lang="en-US" dirty="0" smtClean="0"/>
              <a:t>M</a:t>
            </a:r>
            <a:r>
              <a:rPr lang="vi-VN" dirty="0" smtClean="0"/>
              <a:t>ột đặc điểm mà BLIP-2 vẫn cải thiện được nằm ở khả năng trích xuất đặc trưng ảnh của Q-Former.</a:t>
            </a:r>
            <a:endParaRPr lang="en-US" dirty="0" smtClean="0"/>
          </a:p>
          <a:p>
            <a:pPr marL="285750" indent="-285750" algn="just">
              <a:buFont typeface="Arial" panose="020B0604020202020204" pitchFamily="34" charset="0"/>
              <a:buChar char="•"/>
            </a:pPr>
            <a:r>
              <a:rPr lang="vi-VN" dirty="0" smtClean="0"/>
              <a:t>Việc chỉ huấn luyện Q-Former với cặp ảnh</a:t>
            </a:r>
            <a:r>
              <a:rPr lang="en-US" dirty="0" smtClean="0"/>
              <a:t> (vector </a:t>
            </a:r>
            <a:r>
              <a:rPr lang="en-US" dirty="0" err="1" smtClean="0"/>
              <a:t>hành</a:t>
            </a:r>
            <a:r>
              <a:rPr lang="en-US" dirty="0" smtClean="0"/>
              <a:t> vi)</a:t>
            </a:r>
            <a:r>
              <a:rPr lang="vi-VN" dirty="0" smtClean="0"/>
              <a:t> và văn bản miêu tả khiến cho nhiều thông tin trích xuất không liên quan đến prompt (hay còn gọi là instruction</a:t>
            </a:r>
            <a:r>
              <a:rPr lang="en-US" dirty="0" smtClean="0"/>
              <a:t>, </a:t>
            </a:r>
            <a:r>
              <a:rPr lang="en-US" dirty="0" err="1" smtClean="0"/>
              <a:t>ví</a:t>
            </a:r>
            <a:r>
              <a:rPr lang="en-US" dirty="0" smtClean="0"/>
              <a:t> dụ: </a:t>
            </a:r>
            <a:r>
              <a:rPr lang="en-US" dirty="0" err="1" smtClean="0"/>
              <a:t>yêu</a:t>
            </a:r>
            <a:r>
              <a:rPr lang="en-US" dirty="0" smtClean="0"/>
              <a:t> cầu </a:t>
            </a:r>
            <a:r>
              <a:rPr lang="en-US" dirty="0" err="1" smtClean="0"/>
              <a:t>trích</a:t>
            </a:r>
            <a:r>
              <a:rPr lang="en-US" dirty="0" smtClean="0"/>
              <a:t> </a:t>
            </a:r>
            <a:r>
              <a:rPr lang="en-US" dirty="0" err="1" smtClean="0"/>
              <a:t>xuất</a:t>
            </a:r>
            <a:r>
              <a:rPr lang="en-US" dirty="0" smtClean="0"/>
              <a:t> </a:t>
            </a:r>
            <a:r>
              <a:rPr lang="en-US" dirty="0" err="1" smtClean="0"/>
              <a:t>thông</a:t>
            </a:r>
            <a:r>
              <a:rPr lang="en-US" dirty="0" smtClean="0"/>
              <a:t> tin </a:t>
            </a:r>
            <a:r>
              <a:rPr lang="en-US" dirty="0" err="1" smtClean="0"/>
              <a:t>hành</a:t>
            </a:r>
            <a:r>
              <a:rPr lang="en-US" dirty="0" smtClean="0"/>
              <a:t> vi (</a:t>
            </a:r>
            <a:r>
              <a:rPr lang="en-US" dirty="0" err="1" smtClean="0"/>
              <a:t>nhóm</a:t>
            </a:r>
            <a:r>
              <a:rPr lang="en-US" dirty="0" smtClean="0"/>
              <a:t> </a:t>
            </a:r>
            <a:r>
              <a:rPr lang="en-US" dirty="0" err="1" smtClean="0"/>
              <a:t>mặt</a:t>
            </a:r>
            <a:r>
              <a:rPr lang="en-US" dirty="0" smtClean="0"/>
              <a:t> hàng nào,….)</a:t>
            </a:r>
            <a:r>
              <a:rPr lang="vi-VN" dirty="0" smtClean="0"/>
              <a:t>, dẫn đến việc câu trả lời có thể không đúng trọng tâm. </a:t>
            </a:r>
            <a:endParaRPr lang="en-US" dirty="0" smtClean="0"/>
          </a:p>
          <a:p>
            <a:pPr marL="285750" indent="-285750" algn="just">
              <a:buFont typeface="Arial" panose="020B0604020202020204" pitchFamily="34" charset="0"/>
              <a:buChar char="•"/>
            </a:pPr>
            <a:r>
              <a:rPr lang="vi-VN" dirty="0" smtClean="0"/>
              <a:t>Bởi vậy, InstructBLIP đã ra đời với mục tiêu cải tiến BLIP-2 bằng phương pháp instruction tuning.</a:t>
            </a:r>
            <a:endParaRPr lang="en-US" dirty="0"/>
          </a:p>
        </p:txBody>
      </p:sp>
      <p:sp>
        <p:nvSpPr>
          <p:cNvPr id="5" name="Rectangle 4"/>
          <p:cNvSpPr/>
          <p:nvPr/>
        </p:nvSpPr>
        <p:spPr>
          <a:xfrm>
            <a:off x="5856530" y="4193415"/>
            <a:ext cx="2444900" cy="307777"/>
          </a:xfrm>
          <a:prstGeom prst="rect">
            <a:avLst/>
          </a:prstGeom>
        </p:spPr>
        <p:txBody>
          <a:bodyPr wrap="none">
            <a:spAutoFit/>
          </a:bodyPr>
          <a:lstStyle/>
          <a:p>
            <a:r>
              <a:rPr lang="en-US" dirty="0" smtClean="0"/>
              <a:t>Hình: Kiến </a:t>
            </a:r>
            <a:r>
              <a:rPr lang="en-US" dirty="0" err="1" smtClean="0"/>
              <a:t>trúc</a:t>
            </a:r>
            <a:r>
              <a:rPr lang="en-US" dirty="0" smtClean="0"/>
              <a:t> Instruct BLIP</a:t>
            </a:r>
            <a:endParaRPr lang="en-US" dirty="0"/>
          </a:p>
        </p:txBody>
      </p:sp>
      <p:pic>
        <p:nvPicPr>
          <p:cNvPr id="4" name="Picture 3"/>
          <p:cNvPicPr>
            <a:picLocks noChangeAspect="1"/>
          </p:cNvPicPr>
          <p:nvPr/>
        </p:nvPicPr>
        <p:blipFill>
          <a:blip r:embed="rId3"/>
          <a:stretch>
            <a:fillRect/>
          </a:stretch>
        </p:blipFill>
        <p:spPr>
          <a:xfrm>
            <a:off x="4890732" y="1464484"/>
            <a:ext cx="4100868" cy="2441432"/>
          </a:xfrm>
          <a:prstGeom prst="rect">
            <a:avLst/>
          </a:prstGeom>
        </p:spPr>
      </p:pic>
    </p:spTree>
    <p:extLst>
      <p:ext uri="{BB962C8B-B14F-4D97-AF65-F5344CB8AC3E}">
        <p14:creationId xmlns:p14="http://schemas.microsoft.com/office/powerpoint/2010/main" val="425647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INSTRUCT BLIP</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Cải tiến đơn giản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713134"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Đề</a:t>
            </a:r>
            <a:r>
              <a:rPr lang="en-US" sz="2400" dirty="0" smtClean="0">
                <a:solidFill>
                  <a:schemeClr val="tx1"/>
                </a:solidFill>
              </a:rPr>
              <a:t> </a:t>
            </a:r>
            <a:r>
              <a:rPr lang="en-US" sz="2400" dirty="0" err="1" smtClean="0">
                <a:solidFill>
                  <a:schemeClr val="tx1"/>
                </a:solidFill>
              </a:rPr>
              <a:t>xuất</a:t>
            </a:r>
            <a:r>
              <a:rPr lang="en-US" sz="2400" dirty="0" smtClean="0">
                <a:solidFill>
                  <a:schemeClr val="tx1"/>
                </a:solidFill>
              </a:rPr>
              <a:t> của Instruct BLIP</a:t>
            </a:r>
            <a:endParaRPr lang="vi-VN" sz="2400" dirty="0">
              <a:solidFill>
                <a:schemeClr val="tx1"/>
              </a:solidFill>
            </a:endParaRPr>
          </a:p>
        </p:txBody>
      </p:sp>
      <p:sp>
        <p:nvSpPr>
          <p:cNvPr id="2" name="TextBox 1"/>
          <p:cNvSpPr txBox="1"/>
          <p:nvPr/>
        </p:nvSpPr>
        <p:spPr>
          <a:xfrm>
            <a:off x="248816" y="1804334"/>
            <a:ext cx="4258961" cy="2462213"/>
          </a:xfrm>
          <a:prstGeom prst="rect">
            <a:avLst/>
          </a:prstGeom>
          <a:noFill/>
        </p:spPr>
        <p:txBody>
          <a:bodyPr wrap="square" rtlCol="0">
            <a:spAutoFit/>
          </a:bodyPr>
          <a:lstStyle/>
          <a:p>
            <a:pPr marL="285750" indent="-285750" algn="just">
              <a:buFont typeface="Arial" panose="020B0604020202020204" pitchFamily="34" charset="0"/>
              <a:buChar char="•"/>
            </a:pPr>
            <a:r>
              <a:rPr lang="vi-VN" dirty="0" smtClean="0"/>
              <a:t>Để </a:t>
            </a:r>
            <a:r>
              <a:rPr lang="vi-VN" dirty="0"/>
              <a:t>giải quyết vấn đề thì InstructBLIP cho phép prompt cũng được đưa vào Q-Former để trích xuất thông tin ảnh. Điều này giúp cho thông tin LLM nhận được “chất lượng” hơn, qua đó khiến cho câu trả lời nhắm đúng vào nhu cầu của người dùng.</a:t>
            </a:r>
            <a:endParaRPr lang="en-US" dirty="0"/>
          </a:p>
          <a:p>
            <a:pPr marL="285750" indent="-285750" algn="just">
              <a:buFont typeface="Arial" panose="020B0604020202020204" pitchFamily="34" charset="0"/>
              <a:buChar char="•"/>
            </a:pPr>
            <a:r>
              <a:rPr lang="en-US" dirty="0" err="1" smtClean="0"/>
              <a:t>Ví</a:t>
            </a:r>
            <a:r>
              <a:rPr lang="en-US" dirty="0" smtClean="0"/>
              <a:t> dụ </a:t>
            </a:r>
            <a:r>
              <a:rPr lang="en-US" dirty="0" err="1" smtClean="0"/>
              <a:t>câu</a:t>
            </a:r>
            <a:r>
              <a:rPr lang="en-US" dirty="0" smtClean="0"/>
              <a:t> instruction giúp việc </a:t>
            </a:r>
            <a:r>
              <a:rPr lang="en-US" dirty="0" err="1" smtClean="0"/>
              <a:t>trích</a:t>
            </a:r>
            <a:r>
              <a:rPr lang="en-US" dirty="0" smtClean="0"/>
              <a:t> </a:t>
            </a:r>
            <a:r>
              <a:rPr lang="en-US" dirty="0" err="1" smtClean="0"/>
              <a:t>xuất</a:t>
            </a:r>
            <a:r>
              <a:rPr lang="en-US" dirty="0" smtClean="0"/>
              <a:t> vector embedding </a:t>
            </a:r>
            <a:r>
              <a:rPr lang="en-US" dirty="0" err="1" smtClean="0"/>
              <a:t>tốt</a:t>
            </a:r>
            <a:r>
              <a:rPr lang="en-US" dirty="0" smtClean="0"/>
              <a:t> </a:t>
            </a:r>
            <a:r>
              <a:rPr lang="en-US" dirty="0" err="1" smtClean="0"/>
              <a:t>hơn</a:t>
            </a:r>
            <a:r>
              <a:rPr lang="en-US" dirty="0" smtClean="0"/>
              <a:t>:</a:t>
            </a:r>
          </a:p>
          <a:p>
            <a:pPr lvl="1" algn="just"/>
            <a:r>
              <a:rPr lang="en-US" dirty="0" smtClean="0"/>
              <a:t>	- “</a:t>
            </a:r>
            <a:r>
              <a:rPr lang="vi-VN" dirty="0" smtClean="0"/>
              <a:t>Trích </a:t>
            </a:r>
            <a:r>
              <a:rPr lang="vi-VN" dirty="0"/>
              <a:t>xuất các thuộc tính ngữ nghĩa và sở thích người dùng được ngụ ý bởi biểu diễn hành vi của sản phẩm </a:t>
            </a:r>
            <a:r>
              <a:rPr lang="vi-VN" dirty="0" smtClean="0"/>
              <a:t>này</a:t>
            </a:r>
            <a:r>
              <a:rPr lang="en-US" dirty="0" smtClean="0"/>
              <a:t> </a:t>
            </a:r>
            <a:r>
              <a:rPr lang="en-US" dirty="0" err="1" smtClean="0"/>
              <a:t>cho</a:t>
            </a:r>
            <a:r>
              <a:rPr lang="en-US" dirty="0" smtClean="0"/>
              <a:t> </a:t>
            </a:r>
            <a:r>
              <a:rPr lang="en-US" dirty="0" err="1" smtClean="0"/>
              <a:t>tác</a:t>
            </a:r>
            <a:r>
              <a:rPr lang="en-US" dirty="0" smtClean="0"/>
              <a:t> vụ </a:t>
            </a:r>
            <a:r>
              <a:rPr lang="en-US" dirty="0" err="1" smtClean="0"/>
              <a:t>gợi</a:t>
            </a:r>
            <a:r>
              <a:rPr lang="en-US" dirty="0" smtClean="0"/>
              <a:t> ý”</a:t>
            </a:r>
            <a:endParaRPr lang="en-US" dirty="0"/>
          </a:p>
        </p:txBody>
      </p:sp>
      <p:sp>
        <p:nvSpPr>
          <p:cNvPr id="5" name="Rectangle 4"/>
          <p:cNvSpPr/>
          <p:nvPr/>
        </p:nvSpPr>
        <p:spPr>
          <a:xfrm>
            <a:off x="5856530" y="4193415"/>
            <a:ext cx="2055371" cy="307777"/>
          </a:xfrm>
          <a:prstGeom prst="rect">
            <a:avLst/>
          </a:prstGeom>
        </p:spPr>
        <p:txBody>
          <a:bodyPr wrap="none">
            <a:spAutoFit/>
          </a:bodyPr>
          <a:lstStyle/>
          <a:p>
            <a:r>
              <a:rPr lang="en-US" dirty="0" smtClean="0"/>
              <a:t>Hình:</a:t>
            </a:r>
            <a:r>
              <a:rPr lang="vi-VN" dirty="0" smtClean="0"/>
              <a:t>Codebase hiện tại</a:t>
            </a:r>
            <a:endParaRPr lang="en-US" dirty="0"/>
          </a:p>
        </p:txBody>
      </p:sp>
      <p:pic>
        <p:nvPicPr>
          <p:cNvPr id="3" name="Picture 2"/>
          <p:cNvPicPr>
            <a:picLocks noChangeAspect="1"/>
          </p:cNvPicPr>
          <p:nvPr/>
        </p:nvPicPr>
        <p:blipFill>
          <a:blip r:embed="rId3"/>
          <a:stretch>
            <a:fillRect/>
          </a:stretch>
        </p:blipFill>
        <p:spPr>
          <a:xfrm>
            <a:off x="4783666" y="1856170"/>
            <a:ext cx="4272110" cy="1982105"/>
          </a:xfrm>
          <a:prstGeom prst="rect">
            <a:avLst/>
          </a:prstGeom>
        </p:spPr>
      </p:pic>
    </p:spTree>
    <p:extLst>
      <p:ext uri="{BB962C8B-B14F-4D97-AF65-F5344CB8AC3E}">
        <p14:creationId xmlns:p14="http://schemas.microsoft.com/office/powerpoint/2010/main" val="1165537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INSTRUCT BLIP</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Instruction Templates</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713134"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Đề</a:t>
            </a:r>
            <a:r>
              <a:rPr lang="en-US" sz="2400" dirty="0" smtClean="0">
                <a:solidFill>
                  <a:schemeClr val="tx1"/>
                </a:solidFill>
              </a:rPr>
              <a:t> </a:t>
            </a:r>
            <a:r>
              <a:rPr lang="en-US" sz="2400" dirty="0" err="1" smtClean="0">
                <a:solidFill>
                  <a:schemeClr val="tx1"/>
                </a:solidFill>
              </a:rPr>
              <a:t>xuất</a:t>
            </a:r>
            <a:r>
              <a:rPr lang="en-US" sz="2400" dirty="0" smtClean="0">
                <a:solidFill>
                  <a:schemeClr val="tx1"/>
                </a:solidFill>
              </a:rPr>
              <a:t> của Instruct BLIP</a:t>
            </a:r>
            <a:endParaRPr lang="vi-VN" sz="2400" dirty="0">
              <a:solidFill>
                <a:schemeClr val="tx1"/>
              </a:solidFill>
            </a:endParaRPr>
          </a:p>
        </p:txBody>
      </p:sp>
      <p:sp>
        <p:nvSpPr>
          <p:cNvPr id="5" name="Rectangle 4"/>
          <p:cNvSpPr/>
          <p:nvPr/>
        </p:nvSpPr>
        <p:spPr>
          <a:xfrm>
            <a:off x="1714109" y="4102915"/>
            <a:ext cx="6261881" cy="523220"/>
          </a:xfrm>
          <a:prstGeom prst="rect">
            <a:avLst/>
          </a:prstGeom>
        </p:spPr>
        <p:txBody>
          <a:bodyPr wrap="square">
            <a:spAutoFit/>
          </a:bodyPr>
          <a:lstStyle/>
          <a:p>
            <a:pPr algn="ctr"/>
            <a:r>
              <a:rPr lang="en-US" dirty="0" smtClean="0"/>
              <a:t>Hình:</a:t>
            </a:r>
            <a:r>
              <a:rPr lang="vi-VN" dirty="0" smtClean="0"/>
              <a:t> Instruction cho nhiều tác vụ khác nhau, giúp learnable queries học được những câu hỏi tập trung vào tác vụ cần giải quyết.</a:t>
            </a:r>
            <a:endParaRPr lang="en-US" dirty="0"/>
          </a:p>
        </p:txBody>
      </p:sp>
      <p:pic>
        <p:nvPicPr>
          <p:cNvPr id="7" name="Picture 6"/>
          <p:cNvPicPr>
            <a:picLocks noChangeAspect="1"/>
          </p:cNvPicPr>
          <p:nvPr/>
        </p:nvPicPr>
        <p:blipFill>
          <a:blip r:embed="rId3"/>
          <a:stretch>
            <a:fillRect/>
          </a:stretch>
        </p:blipFill>
        <p:spPr>
          <a:xfrm>
            <a:off x="3747979" y="1359085"/>
            <a:ext cx="3230671" cy="2661871"/>
          </a:xfrm>
          <a:prstGeom prst="rect">
            <a:avLst/>
          </a:prstGeom>
        </p:spPr>
      </p:pic>
    </p:spTree>
    <p:extLst>
      <p:ext uri="{BB962C8B-B14F-4D97-AF65-F5344CB8AC3E}">
        <p14:creationId xmlns:p14="http://schemas.microsoft.com/office/powerpoint/2010/main" val="2718546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INSTRUCT BLIP</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Instruction Templates</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713134"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Đề</a:t>
            </a:r>
            <a:r>
              <a:rPr lang="en-US" sz="2400" dirty="0" smtClean="0">
                <a:solidFill>
                  <a:schemeClr val="tx1"/>
                </a:solidFill>
              </a:rPr>
              <a:t> </a:t>
            </a:r>
            <a:r>
              <a:rPr lang="en-US" sz="2400" dirty="0" err="1" smtClean="0">
                <a:solidFill>
                  <a:schemeClr val="tx1"/>
                </a:solidFill>
              </a:rPr>
              <a:t>xuất</a:t>
            </a:r>
            <a:r>
              <a:rPr lang="en-US" sz="2400" dirty="0" smtClean="0">
                <a:solidFill>
                  <a:schemeClr val="tx1"/>
                </a:solidFill>
              </a:rPr>
              <a:t> của Instruct BLIP</a:t>
            </a:r>
            <a:endParaRPr lang="vi-VN" sz="2400" dirty="0">
              <a:solidFill>
                <a:schemeClr val="tx1"/>
              </a:solidFill>
            </a:endParaRPr>
          </a:p>
        </p:txBody>
      </p:sp>
      <p:sp>
        <p:nvSpPr>
          <p:cNvPr id="5" name="Rectangle 4"/>
          <p:cNvSpPr/>
          <p:nvPr/>
        </p:nvSpPr>
        <p:spPr>
          <a:xfrm>
            <a:off x="1714109" y="4102915"/>
            <a:ext cx="6261881" cy="523220"/>
          </a:xfrm>
          <a:prstGeom prst="rect">
            <a:avLst/>
          </a:prstGeom>
        </p:spPr>
        <p:txBody>
          <a:bodyPr wrap="square">
            <a:spAutoFit/>
          </a:bodyPr>
          <a:lstStyle/>
          <a:p>
            <a:pPr algn="ctr"/>
            <a:r>
              <a:rPr lang="en-US" dirty="0" smtClean="0"/>
              <a:t>Hình:</a:t>
            </a:r>
            <a:r>
              <a:rPr lang="vi-VN" dirty="0" smtClean="0"/>
              <a:t> Instruction cho nhiều tác vụ khác nhau, giúp learnable queries học được những câu hỏi tập trung vào tác vụ cần giải quyết.</a:t>
            </a:r>
            <a:endParaRPr lang="en-US" dirty="0"/>
          </a:p>
        </p:txBody>
      </p:sp>
      <p:pic>
        <p:nvPicPr>
          <p:cNvPr id="7" name="Picture 6"/>
          <p:cNvPicPr>
            <a:picLocks noChangeAspect="1"/>
          </p:cNvPicPr>
          <p:nvPr/>
        </p:nvPicPr>
        <p:blipFill>
          <a:blip r:embed="rId3"/>
          <a:stretch>
            <a:fillRect/>
          </a:stretch>
        </p:blipFill>
        <p:spPr>
          <a:xfrm>
            <a:off x="3747979" y="1359085"/>
            <a:ext cx="3230671" cy="2661871"/>
          </a:xfrm>
          <a:prstGeom prst="rect">
            <a:avLst/>
          </a:prstGeom>
        </p:spPr>
      </p:pic>
    </p:spTree>
    <p:extLst>
      <p:ext uri="{BB962C8B-B14F-4D97-AF65-F5344CB8AC3E}">
        <p14:creationId xmlns:p14="http://schemas.microsoft.com/office/powerpoint/2010/main" val="3670589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INSTRUCT BLIP</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Instruction template cho task tư vấn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713134"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Đề</a:t>
            </a:r>
            <a:r>
              <a:rPr lang="en-US" sz="2400" dirty="0" smtClean="0">
                <a:solidFill>
                  <a:schemeClr val="tx1"/>
                </a:solidFill>
              </a:rPr>
              <a:t> </a:t>
            </a:r>
            <a:r>
              <a:rPr lang="en-US" sz="2400" dirty="0" err="1" smtClean="0">
                <a:solidFill>
                  <a:schemeClr val="tx1"/>
                </a:solidFill>
              </a:rPr>
              <a:t>xuất</a:t>
            </a:r>
            <a:r>
              <a:rPr lang="en-US" sz="2400" dirty="0" smtClean="0">
                <a:solidFill>
                  <a:schemeClr val="tx1"/>
                </a:solidFill>
              </a:rPr>
              <a:t> của Instruct BLIP</a:t>
            </a:r>
            <a:endParaRPr lang="vi-VN" sz="2400" dirty="0">
              <a:solidFill>
                <a:schemeClr val="tx1"/>
              </a:solidFill>
            </a:endParaRPr>
          </a:p>
        </p:txBody>
      </p:sp>
      <p:sp>
        <p:nvSpPr>
          <p:cNvPr id="10" name="TextBox 9"/>
          <p:cNvSpPr txBox="1"/>
          <p:nvPr/>
        </p:nvSpPr>
        <p:spPr>
          <a:xfrm>
            <a:off x="803858" y="2291319"/>
            <a:ext cx="7536284" cy="1169551"/>
          </a:xfrm>
          <a:prstGeom prst="rect">
            <a:avLst/>
          </a:prstGeom>
          <a:noFill/>
        </p:spPr>
        <p:txBody>
          <a:bodyPr wrap="square" rtlCol="0">
            <a:spAutoFit/>
          </a:bodyPr>
          <a:lstStyle/>
          <a:p>
            <a:pPr marL="285750" indent="-285750" algn="just">
              <a:buFont typeface="Arial" panose="020B0604020202020204" pitchFamily="34" charset="0"/>
              <a:buChar char="•"/>
            </a:pPr>
            <a:r>
              <a:rPr lang="en-US" dirty="0"/>
              <a:t>Predict if the user will like the candidate movie based on history. Output 0/1</a:t>
            </a:r>
            <a:r>
              <a:rPr lang="en-US" dirty="0" smtClean="0"/>
              <a:t>.</a:t>
            </a:r>
            <a:endParaRPr lang="vi-VN" dirty="0" smtClean="0"/>
          </a:p>
          <a:p>
            <a:pPr marL="285750" indent="-285750" algn="just">
              <a:buFont typeface="Arial" panose="020B0604020202020204" pitchFamily="34" charset="0"/>
              <a:buChar char="•"/>
            </a:pPr>
            <a:r>
              <a:rPr lang="en-US" dirty="0"/>
              <a:t>Will the user enjoy the candidate movie given past interactions? Output </a:t>
            </a:r>
            <a:r>
              <a:rPr lang="en-US" dirty="0" smtClean="0"/>
              <a:t>0/1</a:t>
            </a:r>
            <a:endParaRPr lang="vi-VN" dirty="0" smtClean="0"/>
          </a:p>
          <a:p>
            <a:pPr marL="285750" indent="-285750" algn="just">
              <a:buFont typeface="Arial" panose="020B0604020202020204" pitchFamily="34" charset="0"/>
              <a:buChar char="•"/>
            </a:pPr>
            <a:r>
              <a:rPr lang="vi-VN" dirty="0" smtClean="0"/>
              <a:t>B</a:t>
            </a:r>
            <a:r>
              <a:rPr lang="en-US" dirty="0" err="1" smtClean="0"/>
              <a:t>inary</a:t>
            </a:r>
            <a:r>
              <a:rPr lang="en-US" dirty="0" smtClean="0"/>
              <a:t> </a:t>
            </a:r>
            <a:r>
              <a:rPr lang="en-US" dirty="0"/>
              <a:t>preference prediction from watch/rating history: like=1, dislike=0</a:t>
            </a:r>
            <a:r>
              <a:rPr lang="en-US" dirty="0" smtClean="0"/>
              <a:t>.</a:t>
            </a:r>
            <a:endParaRPr lang="vi-VN" dirty="0" smtClean="0"/>
          </a:p>
          <a:p>
            <a:pPr marL="285750" indent="-285750" algn="just">
              <a:buFont typeface="Arial" panose="020B0604020202020204" pitchFamily="34" charset="0"/>
              <a:buChar char="•"/>
            </a:pPr>
            <a:r>
              <a:rPr lang="en-US" dirty="0"/>
              <a:t>Given the user's recent behavior, decide whether they like this item. Return 0 or 1.</a:t>
            </a:r>
            <a:endParaRPr lang="vi-VN" dirty="0" smtClean="0"/>
          </a:p>
          <a:p>
            <a:pPr marL="285750" indent="-285750" algn="just">
              <a:buFont typeface="Arial" panose="020B0604020202020204" pitchFamily="34" charset="0"/>
              <a:buChar char="•"/>
            </a:pPr>
            <a:endParaRPr lang="en-US" dirty="0"/>
          </a:p>
        </p:txBody>
      </p:sp>
    </p:spTree>
    <p:extLst>
      <p:ext uri="{BB962C8B-B14F-4D97-AF65-F5344CB8AC3E}">
        <p14:creationId xmlns:p14="http://schemas.microsoft.com/office/powerpoint/2010/main" val="3329090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INSTRUCT BLIP</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Quy trình huấn luyện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713134"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Đề</a:t>
            </a:r>
            <a:r>
              <a:rPr lang="en-US" sz="2400" dirty="0" smtClean="0">
                <a:solidFill>
                  <a:schemeClr val="tx1"/>
                </a:solidFill>
              </a:rPr>
              <a:t> </a:t>
            </a:r>
            <a:r>
              <a:rPr lang="en-US" sz="2400" dirty="0" err="1" smtClean="0">
                <a:solidFill>
                  <a:schemeClr val="tx1"/>
                </a:solidFill>
              </a:rPr>
              <a:t>xuất</a:t>
            </a:r>
            <a:r>
              <a:rPr lang="en-US" sz="2400" dirty="0" smtClean="0">
                <a:solidFill>
                  <a:schemeClr val="tx1"/>
                </a:solidFill>
              </a:rPr>
              <a:t> của Instruct BLIP</a:t>
            </a:r>
            <a:endParaRPr lang="vi-VN" sz="2400" dirty="0">
              <a:solidFill>
                <a:schemeClr val="tx1"/>
              </a:solidFill>
            </a:endParaRPr>
          </a:p>
        </p:txBody>
      </p:sp>
      <p:sp>
        <p:nvSpPr>
          <p:cNvPr id="10" name="TextBox 9"/>
          <p:cNvSpPr txBox="1"/>
          <p:nvPr/>
        </p:nvSpPr>
        <p:spPr>
          <a:xfrm>
            <a:off x="248816" y="1731202"/>
            <a:ext cx="4258961" cy="2462213"/>
          </a:xfrm>
          <a:prstGeom prst="rect">
            <a:avLst/>
          </a:prstGeom>
          <a:noFill/>
        </p:spPr>
        <p:txBody>
          <a:bodyPr wrap="square" rtlCol="0">
            <a:spAutoFit/>
          </a:bodyPr>
          <a:lstStyle/>
          <a:p>
            <a:pPr lvl="0" eaLnBrk="0" fontAlgn="base" hangingPunct="0">
              <a:spcBef>
                <a:spcPct val="0"/>
              </a:spcBef>
              <a:spcAft>
                <a:spcPct val="0"/>
              </a:spcAft>
              <a:buClrTx/>
              <a:buFontTx/>
              <a:buChar char="•"/>
            </a:pPr>
            <a:r>
              <a:rPr lang="vi-VN" altLang="en-US" dirty="0" smtClean="0">
                <a:solidFill>
                  <a:schemeClr val="tx1"/>
                </a:solidFill>
                <a:latin typeface="Arial" panose="020B0604020202020204" pitchFamily="34" charset="0"/>
              </a:rPr>
              <a:t> </a:t>
            </a:r>
            <a:r>
              <a:rPr lang="vi-VN" altLang="en-US" dirty="0">
                <a:solidFill>
                  <a:schemeClr val="tx1"/>
                </a:solidFill>
                <a:latin typeface="Arial" panose="020B0604020202020204" pitchFamily="34" charset="0"/>
              </a:rPr>
              <a:t>H</a:t>
            </a:r>
            <a:r>
              <a:rPr lang="en-US" altLang="en-US" dirty="0" err="1" smtClean="0">
                <a:solidFill>
                  <a:schemeClr val="tx1"/>
                </a:solidFill>
                <a:latin typeface="Arial" panose="020B0604020202020204" pitchFamily="34" charset="0"/>
              </a:rPr>
              <a:t>uấn</a:t>
            </a:r>
            <a:r>
              <a:rPr lang="en-US" altLang="en-US" dirty="0" smtClean="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luyện</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tương</a:t>
            </a:r>
            <a:r>
              <a:rPr lang="en-US" altLang="en-US" dirty="0">
                <a:solidFill>
                  <a:schemeClr val="tx1"/>
                </a:solidFill>
                <a:latin typeface="Arial" panose="020B0604020202020204" pitchFamily="34" charset="0"/>
              </a:rPr>
              <a:t> tự BLIP-2: </a:t>
            </a:r>
            <a:r>
              <a:rPr lang="en-US" altLang="en-US" dirty="0" smtClean="0">
                <a:solidFill>
                  <a:schemeClr val="tx1"/>
                </a:solidFill>
                <a:latin typeface="Arial" panose="020B0604020202020204" pitchFamily="34" charset="0"/>
              </a:rPr>
              <a:t>Q-Former </a:t>
            </a:r>
            <a:r>
              <a:rPr lang="en-US" altLang="en-US" dirty="0">
                <a:solidFill>
                  <a:schemeClr val="tx1"/>
                </a:solidFill>
                <a:latin typeface="Arial" panose="020B0604020202020204" pitchFamily="34" charset="0"/>
              </a:rPr>
              <a:t>được </a:t>
            </a:r>
            <a:r>
              <a:rPr lang="en-US" altLang="en-US" dirty="0" err="1">
                <a:solidFill>
                  <a:schemeClr val="tx1"/>
                </a:solidFill>
                <a:latin typeface="Arial" panose="020B0604020202020204" pitchFamily="34" charset="0"/>
              </a:rPr>
              <a:t>pretrain</a:t>
            </a:r>
            <a:r>
              <a:rPr lang="en-US" altLang="en-US" dirty="0">
                <a:solidFill>
                  <a:schemeClr val="tx1"/>
                </a:solidFill>
                <a:latin typeface="Arial" panose="020B0604020202020204" pitchFamily="34" charset="0"/>
              </a:rPr>
              <a:t> 2 stage trên </a:t>
            </a:r>
            <a:r>
              <a:rPr lang="en-US" altLang="en-US" dirty="0" err="1">
                <a:solidFill>
                  <a:schemeClr val="tx1"/>
                </a:solidFill>
                <a:latin typeface="Arial" panose="020B0604020202020204" pitchFamily="34" charset="0"/>
              </a:rPr>
              <a:t>dữ</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liệu</a:t>
            </a:r>
            <a:r>
              <a:rPr lang="en-US" altLang="en-US" dirty="0">
                <a:solidFill>
                  <a:schemeClr val="tx1"/>
                </a:solidFill>
                <a:latin typeface="Arial" panose="020B0604020202020204" pitchFamily="34" charset="0"/>
              </a:rPr>
              <a:t> image–caption: (</a:t>
            </a:r>
            <a:r>
              <a:rPr lang="en-US" altLang="en-US" dirty="0" err="1">
                <a:solidFill>
                  <a:schemeClr val="tx1"/>
                </a:solidFill>
                <a:latin typeface="Arial" panose="020B0604020202020204" pitchFamily="34" charset="0"/>
              </a:rPr>
              <a:t>i</a:t>
            </a:r>
            <a:r>
              <a:rPr lang="en-US" altLang="en-US" dirty="0">
                <a:solidFill>
                  <a:schemeClr val="tx1"/>
                </a:solidFill>
                <a:latin typeface="Arial" panose="020B0604020202020204" pitchFamily="34" charset="0"/>
              </a:rPr>
              <a:t>) học </a:t>
            </a:r>
            <a:r>
              <a:rPr lang="en-US" altLang="en-US" dirty="0" err="1">
                <a:solidFill>
                  <a:schemeClr val="tx1"/>
                </a:solidFill>
                <a:latin typeface="Arial" panose="020B0604020202020204" pitchFamily="34" charset="0"/>
              </a:rPr>
              <a:t>biểu</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diễn</a:t>
            </a:r>
            <a:r>
              <a:rPr lang="en-US" altLang="en-US" dirty="0">
                <a:solidFill>
                  <a:schemeClr val="tx1"/>
                </a:solidFill>
                <a:latin typeface="Arial" panose="020B0604020202020204" pitchFamily="34" charset="0"/>
              </a:rPr>
              <a:t> vision–language, (ii) thích </a:t>
            </a:r>
            <a:r>
              <a:rPr lang="en-US" altLang="en-US" dirty="0" err="1">
                <a:solidFill>
                  <a:schemeClr val="tx1"/>
                </a:solidFill>
                <a:latin typeface="Arial" panose="020B0604020202020204" pitchFamily="34" charset="0"/>
              </a:rPr>
              <a:t>nghi</a:t>
            </a:r>
            <a:r>
              <a:rPr lang="en-US" altLang="en-US" dirty="0">
                <a:solidFill>
                  <a:schemeClr val="tx1"/>
                </a:solidFill>
                <a:latin typeface="Arial" panose="020B0604020202020204" pitchFamily="34" charset="0"/>
              </a:rPr>
              <a:t> output Q-Former </a:t>
            </a:r>
            <a:r>
              <a:rPr lang="en-US" altLang="en-US" dirty="0" err="1">
                <a:solidFill>
                  <a:schemeClr val="tx1"/>
                </a:solidFill>
                <a:latin typeface="Arial" panose="020B0604020202020204" pitchFamily="34" charset="0"/>
              </a:rPr>
              <a:t>thành</a:t>
            </a:r>
            <a:r>
              <a:rPr lang="en-US" altLang="en-US" dirty="0">
                <a:solidFill>
                  <a:schemeClr val="tx1"/>
                </a:solidFill>
                <a:latin typeface="Arial" panose="020B0604020202020204" pitchFamily="34" charset="0"/>
              </a:rPr>
              <a:t> soft visual prompts </a:t>
            </a:r>
            <a:r>
              <a:rPr lang="en-US" altLang="en-US" dirty="0" err="1">
                <a:solidFill>
                  <a:schemeClr val="tx1"/>
                </a:solidFill>
                <a:latin typeface="Arial" panose="020B0604020202020204" pitchFamily="34" charset="0"/>
              </a:rPr>
              <a:t>cho</a:t>
            </a:r>
            <a:r>
              <a:rPr lang="en-US" altLang="en-US" dirty="0">
                <a:solidFill>
                  <a:schemeClr val="tx1"/>
                </a:solidFill>
                <a:latin typeface="Arial" panose="020B0604020202020204" pitchFamily="34" charset="0"/>
              </a:rPr>
              <a:t> LLM </a:t>
            </a:r>
            <a:r>
              <a:rPr lang="en-US" altLang="en-US" dirty="0" err="1">
                <a:solidFill>
                  <a:schemeClr val="tx1"/>
                </a:solidFill>
                <a:latin typeface="Arial" panose="020B0604020202020204" pitchFamily="34" charset="0"/>
              </a:rPr>
              <a:t>sinh</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văn</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bản</a:t>
            </a:r>
            <a:r>
              <a:rPr lang="en-US" altLang="en-US" dirty="0">
                <a:solidFill>
                  <a:schemeClr val="tx1"/>
                </a:solidFill>
                <a:latin typeface="Arial" panose="020B0604020202020204" pitchFamily="34" charset="0"/>
              </a:rPr>
              <a:t>.</a:t>
            </a:r>
          </a:p>
          <a:p>
            <a:pPr lvl="0" eaLnBrk="0" fontAlgn="base" hangingPunct="0">
              <a:spcBef>
                <a:spcPct val="0"/>
              </a:spcBef>
              <a:spcAft>
                <a:spcPct val="0"/>
              </a:spcAft>
              <a:buClrTx/>
              <a:buFontTx/>
              <a:buChar char="•"/>
            </a:pPr>
            <a:r>
              <a:rPr lang="vi-VN" altLang="en-US" dirty="0" smtClean="0">
                <a:solidFill>
                  <a:schemeClr val="tx1"/>
                </a:solidFill>
                <a:latin typeface="Arial" panose="020B0604020202020204" pitchFamily="34" charset="0"/>
              </a:rPr>
              <a:t>  </a:t>
            </a:r>
            <a:r>
              <a:rPr lang="en-US" altLang="en-US" dirty="0" err="1" smtClean="0">
                <a:solidFill>
                  <a:schemeClr val="tx1"/>
                </a:solidFill>
                <a:latin typeface="Arial" panose="020B0604020202020204" pitchFamily="34" charset="0"/>
              </a:rPr>
              <a:t>Sau</a:t>
            </a:r>
            <a:r>
              <a:rPr lang="en-US" altLang="en-US" dirty="0" smtClean="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pretrain</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InstructBLIP</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finetune</a:t>
            </a:r>
            <a:r>
              <a:rPr lang="en-US" altLang="en-US" dirty="0">
                <a:solidFill>
                  <a:schemeClr val="tx1"/>
                </a:solidFill>
                <a:latin typeface="Arial" panose="020B0604020202020204" pitchFamily="34" charset="0"/>
              </a:rPr>
              <a:t> bằng instruction tuning: </a:t>
            </a:r>
            <a:r>
              <a:rPr lang="en-US" altLang="en-US" dirty="0" err="1">
                <a:solidFill>
                  <a:schemeClr val="tx1"/>
                </a:solidFill>
                <a:latin typeface="Arial" panose="020B0604020202020204" pitchFamily="34" charset="0"/>
              </a:rPr>
              <a:t>đưa</a:t>
            </a:r>
            <a:r>
              <a:rPr lang="en-US" altLang="en-US" dirty="0">
                <a:solidFill>
                  <a:schemeClr val="tx1"/>
                </a:solidFill>
                <a:latin typeface="Arial" panose="020B0604020202020204" pitchFamily="34" charset="0"/>
              </a:rPr>
              <a:t> task instruction vào LLM (và vào Q-Former </a:t>
            </a:r>
            <a:r>
              <a:rPr lang="en-US" altLang="en-US" dirty="0" err="1">
                <a:solidFill>
                  <a:schemeClr val="tx1"/>
                </a:solidFill>
                <a:latin typeface="Arial" panose="020B0604020202020204" pitchFamily="34" charset="0"/>
              </a:rPr>
              <a:t>nếu</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dùng</a:t>
            </a:r>
            <a:r>
              <a:rPr lang="en-US" altLang="en-US" dirty="0">
                <a:solidFill>
                  <a:schemeClr val="tx1"/>
                </a:solidFill>
                <a:latin typeface="Arial" panose="020B0604020202020204" pitchFamily="34" charset="0"/>
              </a:rPr>
              <a:t> instruction-aware) </a:t>
            </a:r>
            <a:r>
              <a:rPr lang="en-US" altLang="en-US" dirty="0" err="1" smtClean="0">
                <a:solidFill>
                  <a:schemeClr val="tx1"/>
                </a:solidFill>
                <a:latin typeface="Arial" panose="020B0604020202020204" pitchFamily="34" charset="0"/>
              </a:rPr>
              <a:t>để</a:t>
            </a:r>
            <a:r>
              <a:rPr lang="vi-VN" altLang="en-US" dirty="0" smtClean="0">
                <a:solidFill>
                  <a:schemeClr val="tx1"/>
                </a:solidFill>
                <a:latin typeface="Arial" panose="020B0604020202020204" pitchFamily="34" charset="0"/>
              </a:rPr>
              <a:t> cập nhập learnable queries có khả năng </a:t>
            </a:r>
            <a:r>
              <a:rPr lang="en-US" altLang="en-US" dirty="0" err="1" smtClean="0">
                <a:solidFill>
                  <a:schemeClr val="tx1"/>
                </a:solidFill>
                <a:latin typeface="Arial" panose="020B0604020202020204" pitchFamily="34" charset="0"/>
              </a:rPr>
              <a:t>trích</a:t>
            </a:r>
            <a:r>
              <a:rPr lang="en-US" altLang="en-US" dirty="0" smtClean="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xuất</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đặc</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trưng</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phù</a:t>
            </a:r>
            <a:r>
              <a:rPr lang="en-US" altLang="en-US" dirty="0">
                <a:solidFill>
                  <a:schemeClr val="tx1"/>
                </a:solidFill>
                <a:latin typeface="Arial" panose="020B0604020202020204" pitchFamily="34" charset="0"/>
              </a:rPr>
              <a:t> hợp </a:t>
            </a:r>
            <a:r>
              <a:rPr lang="en-US" altLang="en-US" dirty="0" err="1">
                <a:solidFill>
                  <a:schemeClr val="tx1"/>
                </a:solidFill>
                <a:latin typeface="Arial" panose="020B0604020202020204" pitchFamily="34" charset="0"/>
              </a:rPr>
              <a:t>nhiệm</a:t>
            </a:r>
            <a:r>
              <a:rPr lang="en-US" altLang="en-US" dirty="0">
                <a:solidFill>
                  <a:schemeClr val="tx1"/>
                </a:solidFill>
                <a:latin typeface="Arial" panose="020B0604020202020204" pitchFamily="34" charset="0"/>
              </a:rPr>
              <a:t> vụ và </a:t>
            </a:r>
            <a:r>
              <a:rPr lang="en-US" altLang="en-US" dirty="0" err="1">
                <a:solidFill>
                  <a:schemeClr val="tx1"/>
                </a:solidFill>
                <a:latin typeface="Arial" panose="020B0604020202020204" pitchFamily="34" charset="0"/>
              </a:rPr>
              <a:t>cải</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thiện</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khả</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năng</a:t>
            </a:r>
            <a:r>
              <a:rPr lang="en-US" altLang="en-US" dirty="0">
                <a:solidFill>
                  <a:schemeClr val="tx1"/>
                </a:solidFill>
                <a:latin typeface="Arial" panose="020B0604020202020204" pitchFamily="34" charset="0"/>
              </a:rPr>
              <a:t> làm </a:t>
            </a:r>
            <a:r>
              <a:rPr lang="en-US" altLang="en-US" dirty="0" err="1">
                <a:solidFill>
                  <a:schemeClr val="tx1"/>
                </a:solidFill>
                <a:latin typeface="Arial" panose="020B0604020202020204" pitchFamily="34" charset="0"/>
              </a:rPr>
              <a:t>theo</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lệnh</a:t>
            </a:r>
            <a:r>
              <a:rPr lang="en-US" altLang="en-US" dirty="0">
                <a:solidFill>
                  <a:schemeClr val="tx1"/>
                </a:solidFill>
                <a:latin typeface="Arial" panose="020B0604020202020204" pitchFamily="34" charset="0"/>
              </a:rPr>
              <a:t>.</a:t>
            </a:r>
          </a:p>
        </p:txBody>
      </p:sp>
    </p:spTree>
    <p:extLst>
      <p:ext uri="{BB962C8B-B14F-4D97-AF65-F5344CB8AC3E}">
        <p14:creationId xmlns:p14="http://schemas.microsoft.com/office/powerpoint/2010/main" val="1857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502815" y="1485494"/>
            <a:ext cx="6485383" cy="1938992"/>
          </a:xfrm>
          <a:prstGeom prst="rect">
            <a:avLst/>
          </a:prstGeom>
          <a:noFill/>
        </p:spPr>
        <p:txBody>
          <a:bodyPr wrap="square" rtlCol="0">
            <a:spAutoFit/>
          </a:bodyPr>
          <a:lstStyle/>
          <a:p>
            <a:pPr algn="ctr"/>
            <a:r>
              <a:rPr lang="en-US" sz="6000" b="1" dirty="0" smtClean="0">
                <a:solidFill>
                  <a:srgbClr val="0070C0"/>
                </a:solidFill>
              </a:rPr>
              <a:t>KẾ HOẠCH </a:t>
            </a:r>
            <a:endParaRPr lang="vi-VN" sz="6000" b="1" dirty="0">
              <a:solidFill>
                <a:srgbClr val="0070C0"/>
              </a:solidFill>
            </a:endParaRPr>
          </a:p>
          <a:p>
            <a:pPr algn="ctr"/>
            <a:r>
              <a:rPr lang="vi-VN" sz="6000" b="1" dirty="0" smtClean="0">
                <a:solidFill>
                  <a:srgbClr val="0070C0"/>
                </a:solidFill>
              </a:rPr>
              <a:t>TIẾP THEO</a:t>
            </a:r>
            <a:endParaRPr lang="en-US" sz="6000" dirty="0">
              <a:solidFill>
                <a:srgbClr val="0070C0"/>
              </a:solidFill>
            </a:endParaRPr>
          </a:p>
        </p:txBody>
      </p:sp>
    </p:spTree>
    <p:extLst>
      <p:ext uri="{BB962C8B-B14F-4D97-AF65-F5344CB8AC3E}">
        <p14:creationId xmlns:p14="http://schemas.microsoft.com/office/powerpoint/2010/main" val="308092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smtClean="0"/>
              <a:t>Công việc đã hoàn thành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7479674"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Bộ dữ liệu và Tiền xử lí dữ liệu</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713134"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smtClean="0">
                <a:solidFill>
                  <a:schemeClr val="tx1"/>
                </a:solidFill>
              </a:rPr>
              <a:t>Dữ liệu và tiền xử lí dữ liệu</a:t>
            </a:r>
            <a:endParaRPr lang="vi-VN" sz="2400" dirty="0">
              <a:solidFill>
                <a:schemeClr val="tx1"/>
              </a:solidFill>
            </a:endParaRPr>
          </a:p>
        </p:txBody>
      </p:sp>
      <p:sp>
        <p:nvSpPr>
          <p:cNvPr id="7" name="TextBox 6"/>
          <p:cNvSpPr txBox="1"/>
          <p:nvPr/>
        </p:nvSpPr>
        <p:spPr>
          <a:xfrm>
            <a:off x="1117210" y="1837078"/>
            <a:ext cx="4615247" cy="2031325"/>
          </a:xfrm>
          <a:prstGeom prst="rect">
            <a:avLst/>
          </a:prstGeom>
          <a:noFill/>
        </p:spPr>
        <p:txBody>
          <a:bodyPr wrap="square" rtlCol="0">
            <a:spAutoFit/>
          </a:bodyPr>
          <a:lstStyle/>
          <a:p>
            <a:r>
              <a:rPr lang="vi-VN" dirty="0"/>
              <a:t>Tên bộ dữ liệu: MovieLens 1M (ml-1m)</a:t>
            </a:r>
          </a:p>
          <a:p>
            <a:r>
              <a:rPr lang="vi-VN" dirty="0"/>
              <a:t>Quy mô: 1,000,209 ratings (ẩn danh)</a:t>
            </a:r>
          </a:p>
          <a:p>
            <a:r>
              <a:rPr lang="vi-VN" dirty="0"/>
              <a:t>Số người dùng: 6,040</a:t>
            </a:r>
          </a:p>
          <a:p>
            <a:r>
              <a:rPr lang="vi-VN" dirty="0"/>
              <a:t>Số phim: khoảng 3,900 (MovieID từ 1 đến 3952; có một số ID bị trùng/test nên không map được movie)</a:t>
            </a:r>
          </a:p>
          <a:p>
            <a:r>
              <a:rPr lang="vi-VN" dirty="0"/>
              <a:t>Thang điểm: 1–5 sao, chỉ số nguyên (whole-star)</a:t>
            </a:r>
          </a:p>
          <a:p>
            <a:r>
              <a:rPr lang="vi-VN" dirty="0"/>
              <a:t>Thời gian: có timestamp (giây từ epoch) cho mỗi </a:t>
            </a:r>
            <a:r>
              <a:rPr lang="vi-VN" dirty="0" smtClean="0"/>
              <a:t>rating</a:t>
            </a:r>
          </a:p>
          <a:p>
            <a:r>
              <a:rPr lang="vi-VN" dirty="0" smtClean="0"/>
              <a:t>Tuy nhiên bộ dữ liệu ML-1M này không có description cho từng movie =&gt; chuyển sang ML-20M hoặc Amazon </a:t>
            </a:r>
            <a:endParaRPr lang="vi-VN" dirty="0"/>
          </a:p>
        </p:txBody>
      </p:sp>
      <p:pic>
        <p:nvPicPr>
          <p:cNvPr id="2" name="Picture 1"/>
          <p:cNvPicPr>
            <a:picLocks noChangeAspect="1"/>
          </p:cNvPicPr>
          <p:nvPr/>
        </p:nvPicPr>
        <p:blipFill>
          <a:blip r:embed="rId3"/>
          <a:stretch>
            <a:fillRect/>
          </a:stretch>
        </p:blipFill>
        <p:spPr>
          <a:xfrm>
            <a:off x="6410645" y="634953"/>
            <a:ext cx="2040758" cy="4004687"/>
          </a:xfrm>
          <a:prstGeom prst="rect">
            <a:avLst/>
          </a:prstGeom>
        </p:spPr>
      </p:pic>
    </p:spTree>
    <p:extLst>
      <p:ext uri="{BB962C8B-B14F-4D97-AF65-F5344CB8AC3E}">
        <p14:creationId xmlns:p14="http://schemas.microsoft.com/office/powerpoint/2010/main" val="1207780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smtClean="0"/>
              <a:t>Công việc đã hoàn thành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7479674"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Mô hình tư vấn Matrix Factorization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713134"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smtClean="0">
                <a:solidFill>
                  <a:schemeClr val="tx1"/>
                </a:solidFill>
              </a:rPr>
              <a:t>Pipeline huất luyện mô hình tư vấn</a:t>
            </a:r>
            <a:endParaRPr lang="vi-VN" sz="2400" dirty="0">
              <a:solidFill>
                <a:schemeClr val="tx1"/>
              </a:solidFill>
            </a:endParaRPr>
          </a:p>
        </p:txBody>
      </p:sp>
      <p:sp>
        <p:nvSpPr>
          <p:cNvPr id="12" name="TextBox 11"/>
          <p:cNvSpPr txBox="1"/>
          <p:nvPr/>
        </p:nvSpPr>
        <p:spPr>
          <a:xfrm>
            <a:off x="490116" y="1856170"/>
            <a:ext cx="4258961" cy="1600438"/>
          </a:xfrm>
          <a:prstGeom prst="rect">
            <a:avLst/>
          </a:prstGeom>
          <a:noFill/>
        </p:spPr>
        <p:txBody>
          <a:bodyPr wrap="square" rtlCol="0">
            <a:spAutoFit/>
          </a:bodyPr>
          <a:lstStyle/>
          <a:p>
            <a:pPr lvl="0" eaLnBrk="0" fontAlgn="base" hangingPunct="0">
              <a:spcBef>
                <a:spcPct val="0"/>
              </a:spcBef>
              <a:spcAft>
                <a:spcPct val="0"/>
              </a:spcAft>
              <a:buClrTx/>
              <a:buFontTx/>
              <a:buChar char="•"/>
            </a:pPr>
            <a:r>
              <a:rPr lang="vi-VN" altLang="en-US" dirty="0">
                <a:solidFill>
                  <a:schemeClr val="tx1"/>
                </a:solidFill>
                <a:latin typeface="Arial" panose="020B0604020202020204" pitchFamily="34" charset="0"/>
              </a:rPr>
              <a:t> </a:t>
            </a:r>
            <a:r>
              <a:rPr lang="vi-VN" altLang="en-US" dirty="0" smtClean="0">
                <a:solidFill>
                  <a:schemeClr val="tx1"/>
                </a:solidFill>
                <a:latin typeface="Arial" panose="020B0604020202020204" pitchFamily="34" charset="0"/>
              </a:rPr>
              <a:t>Đã xây dựng xong pipeline huấn luyện cho mô hình tư vấn sử dụng phân rã ma trận Matrix Factorization</a:t>
            </a:r>
          </a:p>
          <a:p>
            <a:pPr lvl="0" eaLnBrk="0" fontAlgn="base" hangingPunct="0">
              <a:spcBef>
                <a:spcPct val="0"/>
              </a:spcBef>
              <a:spcAft>
                <a:spcPct val="0"/>
              </a:spcAft>
              <a:buClrTx/>
              <a:buFontTx/>
              <a:buChar char="•"/>
            </a:pPr>
            <a:endParaRPr lang="vi-VN"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vi-VN" altLang="en-US" dirty="0">
                <a:solidFill>
                  <a:schemeClr val="tx1"/>
                </a:solidFill>
                <a:latin typeface="Arial" panose="020B0604020202020204" pitchFamily="34" charset="0"/>
              </a:rPr>
              <a:t> </a:t>
            </a:r>
            <a:r>
              <a:rPr lang="vi-VN" altLang="en-US" dirty="0" smtClean="0">
                <a:solidFill>
                  <a:schemeClr val="tx1"/>
                </a:solidFill>
                <a:latin typeface="Arial" panose="020B0604020202020204" pitchFamily="34" charset="0"/>
              </a:rPr>
              <a:t>Tiếp tục xây dựng thêm các mô hình mới như LightGCN hay SASRec để phục vụ cho mục tiêu đánh giá trong tương lai</a:t>
            </a:r>
            <a:endParaRPr lang="en-US" altLang="en-US" dirty="0">
              <a:solidFill>
                <a:schemeClr val="tx1"/>
              </a:solidFill>
              <a:latin typeface="Arial" panose="020B0604020202020204" pitchFamily="34" charset="0"/>
            </a:endParaRPr>
          </a:p>
        </p:txBody>
      </p:sp>
      <p:pic>
        <p:nvPicPr>
          <p:cNvPr id="3" name="Picture 2"/>
          <p:cNvPicPr>
            <a:picLocks noChangeAspect="1"/>
          </p:cNvPicPr>
          <p:nvPr/>
        </p:nvPicPr>
        <p:blipFill>
          <a:blip r:embed="rId3"/>
          <a:stretch>
            <a:fillRect/>
          </a:stretch>
        </p:blipFill>
        <p:spPr>
          <a:xfrm>
            <a:off x="4863406" y="1897770"/>
            <a:ext cx="3935236" cy="2241700"/>
          </a:xfrm>
          <a:prstGeom prst="rect">
            <a:avLst/>
          </a:prstGeom>
        </p:spPr>
      </p:pic>
    </p:spTree>
    <p:extLst>
      <p:ext uri="{BB962C8B-B14F-4D97-AF65-F5344CB8AC3E}">
        <p14:creationId xmlns:p14="http://schemas.microsoft.com/office/powerpoint/2010/main" val="177001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smtClean="0"/>
              <a:t>Công việc đã hoàn thành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7479674"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Pipeline huấn luyện toàn bộ mô hình</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86096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smtClean="0">
                <a:solidFill>
                  <a:schemeClr val="tx1"/>
                </a:solidFill>
              </a:rPr>
              <a:t>Pipeline huấn luyện mô hình LLM + InstructBLIP + MF</a:t>
            </a:r>
            <a:endParaRPr lang="vi-VN" sz="2400" dirty="0">
              <a:solidFill>
                <a:schemeClr val="tx1"/>
              </a:solidFill>
            </a:endParaRPr>
          </a:p>
        </p:txBody>
      </p:sp>
      <p:sp>
        <p:nvSpPr>
          <p:cNvPr id="12" name="TextBox 11"/>
          <p:cNvSpPr txBox="1"/>
          <p:nvPr/>
        </p:nvSpPr>
        <p:spPr>
          <a:xfrm>
            <a:off x="490116" y="1856170"/>
            <a:ext cx="4258961" cy="954107"/>
          </a:xfrm>
          <a:prstGeom prst="rect">
            <a:avLst/>
          </a:prstGeom>
          <a:noFill/>
        </p:spPr>
        <p:txBody>
          <a:bodyPr wrap="square" rtlCol="0">
            <a:spAutoFit/>
          </a:bodyPr>
          <a:lstStyle/>
          <a:p>
            <a:pPr lvl="0" eaLnBrk="0" fontAlgn="base" hangingPunct="0">
              <a:spcBef>
                <a:spcPct val="0"/>
              </a:spcBef>
              <a:spcAft>
                <a:spcPct val="0"/>
              </a:spcAft>
              <a:buClrTx/>
              <a:buFontTx/>
              <a:buChar char="•"/>
            </a:pPr>
            <a:r>
              <a:rPr lang="vi-VN" altLang="en-US" dirty="0">
                <a:solidFill>
                  <a:schemeClr val="tx1"/>
                </a:solidFill>
                <a:latin typeface="Arial" panose="020B0604020202020204" pitchFamily="34" charset="0"/>
              </a:rPr>
              <a:t> </a:t>
            </a:r>
            <a:r>
              <a:rPr lang="vi-VN" altLang="en-US" dirty="0" smtClean="0">
                <a:solidFill>
                  <a:schemeClr val="tx1"/>
                </a:solidFill>
                <a:latin typeface="Arial" panose="020B0604020202020204" pitchFamily="34" charset="0"/>
              </a:rPr>
              <a:t>Đã xây dựng xong khung huấn luyện</a:t>
            </a:r>
          </a:p>
          <a:p>
            <a:pPr lvl="0" eaLnBrk="0" fontAlgn="base" hangingPunct="0">
              <a:spcBef>
                <a:spcPct val="0"/>
              </a:spcBef>
              <a:spcAft>
                <a:spcPct val="0"/>
              </a:spcAft>
              <a:buClrTx/>
              <a:buFontTx/>
              <a:buChar char="•"/>
            </a:pPr>
            <a:endParaRPr lang="vi-VN"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vi-VN" altLang="en-US" dirty="0" smtClean="0">
                <a:solidFill>
                  <a:schemeClr val="tx1"/>
                </a:solidFill>
                <a:latin typeface="Arial" panose="020B0604020202020204" pitchFamily="34" charset="0"/>
              </a:rPr>
              <a:t>Đang xây dựng và tích hợp mô hình LLM với MF, và Q-Former</a:t>
            </a:r>
            <a:endParaRPr lang="en-US" altLang="en-US" dirty="0">
              <a:solidFill>
                <a:schemeClr val="tx1"/>
              </a:solidFill>
              <a:latin typeface="Arial" panose="020B0604020202020204" pitchFamily="34" charset="0"/>
            </a:endParaRPr>
          </a:p>
        </p:txBody>
      </p:sp>
      <p:pic>
        <p:nvPicPr>
          <p:cNvPr id="3" name="Picture 2"/>
          <p:cNvPicPr>
            <a:picLocks noChangeAspect="1"/>
          </p:cNvPicPr>
          <p:nvPr/>
        </p:nvPicPr>
        <p:blipFill>
          <a:blip r:embed="rId3"/>
          <a:stretch>
            <a:fillRect/>
          </a:stretch>
        </p:blipFill>
        <p:spPr>
          <a:xfrm>
            <a:off x="4863406" y="1897770"/>
            <a:ext cx="3935236" cy="2241700"/>
          </a:xfrm>
          <a:prstGeom prst="rect">
            <a:avLst/>
          </a:prstGeom>
        </p:spPr>
      </p:pic>
    </p:spTree>
    <p:extLst>
      <p:ext uri="{BB962C8B-B14F-4D97-AF65-F5344CB8AC3E}">
        <p14:creationId xmlns:p14="http://schemas.microsoft.com/office/powerpoint/2010/main" val="1913855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smtClean="0"/>
              <a:t>Công việc đã hoàn thành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7479674"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000" dirty="0" smtClean="0">
                <a:solidFill>
                  <a:schemeClr val="tx1">
                    <a:lumMod val="50000"/>
                    <a:lumOff val="50000"/>
                  </a:schemeClr>
                </a:solidFill>
              </a:rPr>
              <a:t>Sử dụng chỉ số đánh giá AUC</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86096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vi-VN" sz="2400" dirty="0" smtClean="0">
                <a:solidFill>
                  <a:schemeClr val="tx1"/>
                </a:solidFill>
              </a:rPr>
              <a:t>Chỉ số đánh giá</a:t>
            </a:r>
            <a:endParaRPr lang="vi-VN" sz="2400" dirty="0">
              <a:solidFill>
                <a:schemeClr val="tx1"/>
              </a:solidFill>
            </a:endParaRPr>
          </a:p>
        </p:txBody>
      </p:sp>
      <p:sp>
        <p:nvSpPr>
          <p:cNvPr id="12" name="TextBox 11"/>
          <p:cNvSpPr txBox="1"/>
          <p:nvPr/>
        </p:nvSpPr>
        <p:spPr>
          <a:xfrm>
            <a:off x="490116" y="1856170"/>
            <a:ext cx="4258961" cy="2031325"/>
          </a:xfrm>
          <a:prstGeom prst="rect">
            <a:avLst/>
          </a:prstGeom>
          <a:noFill/>
        </p:spPr>
        <p:txBody>
          <a:bodyPr wrap="square" rtlCol="0">
            <a:spAutoFit/>
          </a:bodyPr>
          <a:lstStyle/>
          <a:p>
            <a:pPr lvl="0" eaLnBrk="0" fontAlgn="base" hangingPunct="0">
              <a:spcBef>
                <a:spcPct val="0"/>
              </a:spcBef>
              <a:spcAft>
                <a:spcPct val="0"/>
              </a:spcAft>
              <a:buClrTx/>
              <a:buFontTx/>
              <a:buChar char="•"/>
            </a:pPr>
            <a:r>
              <a:rPr lang="vi-VN" altLang="en-US" dirty="0">
                <a:solidFill>
                  <a:schemeClr val="tx1"/>
                </a:solidFill>
                <a:latin typeface="Arial" panose="020B0604020202020204" pitchFamily="34" charset="0"/>
              </a:rPr>
              <a:t>D</a:t>
            </a:r>
            <a:r>
              <a:rPr lang="en-US" altLang="en-US" dirty="0" err="1" smtClean="0">
                <a:solidFill>
                  <a:schemeClr val="tx1"/>
                </a:solidFill>
                <a:latin typeface="Arial" panose="020B0604020202020204" pitchFamily="34" charset="0"/>
              </a:rPr>
              <a:t>ùng</a:t>
            </a:r>
            <a:r>
              <a:rPr lang="en-US" altLang="en-US" dirty="0" smtClean="0">
                <a:solidFill>
                  <a:schemeClr val="tx1"/>
                </a:solidFill>
                <a:latin typeface="Arial" panose="020B0604020202020204" pitchFamily="34" charset="0"/>
              </a:rPr>
              <a:t> </a:t>
            </a:r>
            <a:r>
              <a:rPr lang="en-US" altLang="en-US" b="1" dirty="0">
                <a:solidFill>
                  <a:schemeClr val="tx1"/>
                </a:solidFill>
                <a:latin typeface="Arial" panose="020B0604020202020204" pitchFamily="34" charset="0"/>
              </a:rPr>
              <a:t>AUC</a:t>
            </a:r>
            <a:r>
              <a:rPr lang="en-US" altLang="en-US" dirty="0">
                <a:solidFill>
                  <a:schemeClr val="tx1"/>
                </a:solidFill>
                <a:latin typeface="Arial" panose="020B0604020202020204" pitchFamily="34" charset="0"/>
              </a:rPr>
              <a:t> và </a:t>
            </a:r>
            <a:r>
              <a:rPr lang="en-US" altLang="en-US" b="1" dirty="0" err="1">
                <a:solidFill>
                  <a:schemeClr val="tx1"/>
                </a:solidFill>
                <a:latin typeface="Arial" panose="020B0604020202020204" pitchFamily="34" charset="0"/>
              </a:rPr>
              <a:t>uAUC</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để</a:t>
            </a:r>
            <a:r>
              <a:rPr lang="en-US" altLang="en-US" dirty="0">
                <a:solidFill>
                  <a:schemeClr val="tx1"/>
                </a:solidFill>
                <a:latin typeface="Arial" panose="020B0604020202020204" pitchFamily="34" charset="0"/>
              </a:rPr>
              <a:t> đánh giá bài </a:t>
            </a:r>
            <a:r>
              <a:rPr lang="en-US" altLang="en-US" dirty="0" err="1">
                <a:solidFill>
                  <a:schemeClr val="tx1"/>
                </a:solidFill>
                <a:latin typeface="Arial" panose="020B0604020202020204" pitchFamily="34" charset="0"/>
              </a:rPr>
              <a:t>toán</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dự</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đoán</a:t>
            </a:r>
            <a:r>
              <a:rPr lang="en-US" altLang="en-US" dirty="0">
                <a:solidFill>
                  <a:schemeClr val="tx1"/>
                </a:solidFill>
                <a:latin typeface="Arial" panose="020B0604020202020204" pitchFamily="34" charset="0"/>
              </a:rPr>
              <a:t> </a:t>
            </a:r>
            <a:r>
              <a:rPr lang="en-US" altLang="en-US" b="1" dirty="0">
                <a:solidFill>
                  <a:schemeClr val="tx1"/>
                </a:solidFill>
                <a:latin typeface="Arial" panose="020B0604020202020204" pitchFamily="34" charset="0"/>
              </a:rPr>
              <a:t>thích/</a:t>
            </a:r>
            <a:r>
              <a:rPr lang="en-US" altLang="en-US" b="1" dirty="0" err="1">
                <a:solidFill>
                  <a:schemeClr val="tx1"/>
                </a:solidFill>
                <a:latin typeface="Arial" panose="020B0604020202020204" pitchFamily="34" charset="0"/>
              </a:rPr>
              <a:t>không</a:t>
            </a:r>
            <a:r>
              <a:rPr lang="en-US" altLang="en-US" b="1" dirty="0">
                <a:solidFill>
                  <a:schemeClr val="tx1"/>
                </a:solidFill>
                <a:latin typeface="Arial" panose="020B0604020202020204" pitchFamily="34" charset="0"/>
              </a:rPr>
              <a:t> thích (0/1)</a:t>
            </a:r>
            <a:r>
              <a:rPr lang="en-US" altLang="en-US" dirty="0">
                <a:solidFill>
                  <a:schemeClr val="tx1"/>
                </a:solidFill>
                <a:latin typeface="Arial" panose="020B0604020202020204" pitchFamily="34" charset="0"/>
              </a:rPr>
              <a:t>.</a:t>
            </a:r>
          </a:p>
          <a:p>
            <a:pPr lvl="0" eaLnBrk="0" fontAlgn="base" hangingPunct="0">
              <a:spcBef>
                <a:spcPct val="0"/>
              </a:spcBef>
              <a:spcAft>
                <a:spcPct val="0"/>
              </a:spcAft>
              <a:buClrTx/>
              <a:buFontTx/>
              <a:buChar char="•"/>
            </a:pPr>
            <a:r>
              <a:rPr lang="en-US" altLang="en-US" dirty="0" err="1">
                <a:solidFill>
                  <a:schemeClr val="tx1"/>
                </a:solidFill>
                <a:latin typeface="Arial" panose="020B0604020202020204" pitchFamily="34" charset="0"/>
              </a:rPr>
              <a:t>Vì</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nhãn</a:t>
            </a:r>
            <a:r>
              <a:rPr lang="en-US" altLang="en-US" dirty="0">
                <a:solidFill>
                  <a:schemeClr val="tx1"/>
                </a:solidFill>
                <a:latin typeface="Arial" panose="020B0604020202020204" pitchFamily="34" charset="0"/>
              </a:rPr>
              <a:t> 0/1 </a:t>
            </a:r>
            <a:r>
              <a:rPr lang="en-US" altLang="en-US" dirty="0" err="1">
                <a:solidFill>
                  <a:schemeClr val="tx1"/>
                </a:solidFill>
                <a:latin typeface="Arial" panose="020B0604020202020204" pitchFamily="34" charset="0"/>
              </a:rPr>
              <a:t>phụ</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thuộc</a:t>
            </a:r>
            <a:r>
              <a:rPr lang="en-US" altLang="en-US" dirty="0">
                <a:solidFill>
                  <a:schemeClr val="tx1"/>
                </a:solidFill>
                <a:latin typeface="Arial" panose="020B0604020202020204" pitchFamily="34" charset="0"/>
              </a:rPr>
              <a:t> </a:t>
            </a:r>
            <a:r>
              <a:rPr lang="en-US" altLang="en-US" b="1" dirty="0" err="1">
                <a:solidFill>
                  <a:schemeClr val="tx1"/>
                </a:solidFill>
                <a:latin typeface="Arial" panose="020B0604020202020204" pitchFamily="34" charset="0"/>
              </a:rPr>
              <a:t>ngưỡng</a:t>
            </a:r>
            <a:r>
              <a:rPr lang="en-US" altLang="en-US" b="1" dirty="0">
                <a:solidFill>
                  <a:schemeClr val="tx1"/>
                </a:solidFill>
                <a:latin typeface="Arial" panose="020B0604020202020204" pitchFamily="34" charset="0"/>
              </a:rPr>
              <a:t> (threshold)</a:t>
            </a:r>
            <a:r>
              <a:rPr lang="en-US" altLang="en-US" dirty="0">
                <a:solidFill>
                  <a:schemeClr val="tx1"/>
                </a:solidFill>
                <a:latin typeface="Arial" panose="020B0604020202020204" pitchFamily="34" charset="0"/>
              </a:rPr>
              <a:t>, </a:t>
            </a:r>
            <a:r>
              <a:rPr lang="en-US" altLang="en-US" b="1" dirty="0">
                <a:solidFill>
                  <a:schemeClr val="tx1"/>
                </a:solidFill>
                <a:latin typeface="Arial" panose="020B0604020202020204" pitchFamily="34" charset="0"/>
              </a:rPr>
              <a:t>AUC</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đo</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khả</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năng</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phân</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biệt</a:t>
            </a:r>
            <a:r>
              <a:rPr lang="en-US" altLang="en-US" dirty="0">
                <a:solidFill>
                  <a:schemeClr val="tx1"/>
                </a:solidFill>
                <a:latin typeface="Arial" panose="020B0604020202020204" pitchFamily="34" charset="0"/>
              </a:rPr>
              <a:t> </a:t>
            </a:r>
            <a:r>
              <a:rPr lang="en-US" altLang="en-US" b="1" dirty="0">
                <a:solidFill>
                  <a:schemeClr val="tx1"/>
                </a:solidFill>
                <a:latin typeface="Arial" panose="020B0604020202020204" pitchFamily="34" charset="0"/>
              </a:rPr>
              <a:t>trên toàn </a:t>
            </a:r>
            <a:r>
              <a:rPr lang="en-US" altLang="en-US" b="1" dirty="0" err="1">
                <a:solidFill>
                  <a:schemeClr val="tx1"/>
                </a:solidFill>
                <a:latin typeface="Arial" panose="020B0604020202020204" pitchFamily="34" charset="0"/>
              </a:rPr>
              <a:t>bộ</a:t>
            </a:r>
            <a:r>
              <a:rPr lang="en-US" altLang="en-US" b="1" dirty="0">
                <a:solidFill>
                  <a:schemeClr val="tx1"/>
                </a:solidFill>
                <a:latin typeface="Arial" panose="020B0604020202020204" pitchFamily="34" charset="0"/>
              </a:rPr>
              <a:t> các </a:t>
            </a:r>
            <a:r>
              <a:rPr lang="en-US" altLang="en-US" b="1" dirty="0" err="1">
                <a:solidFill>
                  <a:schemeClr val="tx1"/>
                </a:solidFill>
                <a:latin typeface="Arial" panose="020B0604020202020204" pitchFamily="34" charset="0"/>
              </a:rPr>
              <a:t>ngưỡng</a:t>
            </a:r>
            <a:r>
              <a:rPr lang="en-US" altLang="en-US" dirty="0">
                <a:solidFill>
                  <a:schemeClr val="tx1"/>
                </a:solidFill>
                <a:latin typeface="Arial" panose="020B0604020202020204" pitchFamily="34" charset="0"/>
              </a:rPr>
              <a:t>, nên </a:t>
            </a:r>
            <a:r>
              <a:rPr lang="en-US" altLang="en-US" dirty="0" err="1">
                <a:solidFill>
                  <a:schemeClr val="tx1"/>
                </a:solidFill>
                <a:latin typeface="Arial" panose="020B0604020202020204" pitchFamily="34" charset="0"/>
              </a:rPr>
              <a:t>phản</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ánh</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chất</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lượng</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mô</a:t>
            </a:r>
            <a:r>
              <a:rPr lang="en-US" altLang="en-US" dirty="0">
                <a:solidFill>
                  <a:schemeClr val="tx1"/>
                </a:solidFill>
                <a:latin typeface="Arial" panose="020B0604020202020204" pitchFamily="34" charset="0"/>
              </a:rPr>
              <a:t> hình toàn </a:t>
            </a:r>
            <a:r>
              <a:rPr lang="en-US" altLang="en-US" dirty="0" err="1">
                <a:solidFill>
                  <a:schemeClr val="tx1"/>
                </a:solidFill>
                <a:latin typeface="Arial" panose="020B0604020202020204" pitchFamily="34" charset="0"/>
              </a:rPr>
              <a:t>diện</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hơn</a:t>
            </a:r>
            <a:r>
              <a:rPr lang="en-US" altLang="en-US" dirty="0">
                <a:solidFill>
                  <a:schemeClr val="tx1"/>
                </a:solidFill>
                <a:latin typeface="Arial" panose="020B0604020202020204" pitchFamily="34" charset="0"/>
              </a:rPr>
              <a:t> so với metric </a:t>
            </a:r>
            <a:r>
              <a:rPr lang="en-US" altLang="en-US" dirty="0" err="1">
                <a:solidFill>
                  <a:schemeClr val="tx1"/>
                </a:solidFill>
                <a:latin typeface="Arial" panose="020B0604020202020204" pitchFamily="34" charset="0"/>
              </a:rPr>
              <a:t>gắn</a:t>
            </a:r>
            <a:r>
              <a:rPr lang="en-US" altLang="en-US" dirty="0">
                <a:solidFill>
                  <a:schemeClr val="tx1"/>
                </a:solidFill>
                <a:latin typeface="Arial" panose="020B0604020202020204" pitchFamily="34" charset="0"/>
              </a:rPr>
              <a:t> với </a:t>
            </a:r>
            <a:r>
              <a:rPr lang="en-US" altLang="en-US" dirty="0" err="1">
                <a:solidFill>
                  <a:schemeClr val="tx1"/>
                </a:solidFill>
                <a:latin typeface="Arial" panose="020B0604020202020204" pitchFamily="34" charset="0"/>
              </a:rPr>
              <a:t>một</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ngưỡng</a:t>
            </a:r>
            <a:r>
              <a:rPr lang="en-US" altLang="en-US" dirty="0">
                <a:solidFill>
                  <a:schemeClr val="tx1"/>
                </a:solidFill>
                <a:latin typeface="Arial" panose="020B0604020202020204" pitchFamily="34" charset="0"/>
              </a:rPr>
              <a:t> cố </a:t>
            </a:r>
            <a:r>
              <a:rPr lang="en-US" altLang="en-US" dirty="0" err="1">
                <a:solidFill>
                  <a:schemeClr val="tx1"/>
                </a:solidFill>
                <a:latin typeface="Arial" panose="020B0604020202020204" pitchFamily="34" charset="0"/>
              </a:rPr>
              <a:t>định</a:t>
            </a:r>
            <a:r>
              <a:rPr lang="en-US" altLang="en-US" dirty="0">
                <a:solidFill>
                  <a:schemeClr val="tx1"/>
                </a:solidFill>
                <a:latin typeface="Arial" panose="020B0604020202020204" pitchFamily="34" charset="0"/>
              </a:rPr>
              <a:t>.</a:t>
            </a:r>
          </a:p>
          <a:p>
            <a:pPr lvl="0" eaLnBrk="0" fontAlgn="base" hangingPunct="0">
              <a:spcBef>
                <a:spcPct val="0"/>
              </a:spcBef>
              <a:spcAft>
                <a:spcPct val="0"/>
              </a:spcAft>
              <a:buClrTx/>
              <a:buFontTx/>
              <a:buChar char="•"/>
            </a:pPr>
            <a:r>
              <a:rPr lang="en-US" altLang="en-US" b="1" dirty="0" err="1">
                <a:solidFill>
                  <a:schemeClr val="tx1"/>
                </a:solidFill>
                <a:latin typeface="Arial" panose="020B0604020202020204" pitchFamily="34" charset="0"/>
              </a:rPr>
              <a:t>uAUC</a:t>
            </a:r>
            <a:r>
              <a:rPr lang="en-US" altLang="en-US" b="1" dirty="0">
                <a:solidFill>
                  <a:schemeClr val="tx1"/>
                </a:solidFill>
                <a:latin typeface="Arial" panose="020B0604020202020204" pitchFamily="34" charset="0"/>
              </a:rPr>
              <a:t> (user-AUC)</a:t>
            </a:r>
            <a:r>
              <a:rPr lang="en-US" altLang="en-US" dirty="0">
                <a:solidFill>
                  <a:schemeClr val="tx1"/>
                </a:solidFill>
                <a:latin typeface="Arial" panose="020B0604020202020204" pitchFamily="34" charset="0"/>
              </a:rPr>
              <a:t> tính AUC </a:t>
            </a:r>
            <a:r>
              <a:rPr lang="en-US" altLang="en-US" b="1" dirty="0" err="1">
                <a:solidFill>
                  <a:schemeClr val="tx1"/>
                </a:solidFill>
                <a:latin typeface="Arial" panose="020B0604020202020204" pitchFamily="34" charset="0"/>
              </a:rPr>
              <a:t>theo</a:t>
            </a:r>
            <a:r>
              <a:rPr lang="en-US" altLang="en-US" b="1" dirty="0">
                <a:solidFill>
                  <a:schemeClr val="tx1"/>
                </a:solidFill>
                <a:latin typeface="Arial" panose="020B0604020202020204" pitchFamily="34" charset="0"/>
              </a:rPr>
              <a:t> </a:t>
            </a:r>
            <a:r>
              <a:rPr lang="en-US" altLang="en-US" b="1" dirty="0" err="1">
                <a:solidFill>
                  <a:schemeClr val="tx1"/>
                </a:solidFill>
                <a:latin typeface="Arial" panose="020B0604020202020204" pitchFamily="34" charset="0"/>
              </a:rPr>
              <a:t>từng</a:t>
            </a:r>
            <a:r>
              <a:rPr lang="en-US" altLang="en-US" b="1" dirty="0">
                <a:solidFill>
                  <a:schemeClr val="tx1"/>
                </a:solidFill>
                <a:latin typeface="Arial" panose="020B0604020202020204" pitchFamily="34" charset="0"/>
              </a:rPr>
              <a:t> user rồi lấy </a:t>
            </a:r>
            <a:r>
              <a:rPr lang="en-US" altLang="en-US" b="1" dirty="0" err="1">
                <a:solidFill>
                  <a:schemeClr val="tx1"/>
                </a:solidFill>
                <a:latin typeface="Arial" panose="020B0604020202020204" pitchFamily="34" charset="0"/>
              </a:rPr>
              <a:t>trung</a:t>
            </a:r>
            <a:r>
              <a:rPr lang="en-US" altLang="en-US" b="1" dirty="0">
                <a:solidFill>
                  <a:schemeClr val="tx1"/>
                </a:solidFill>
                <a:latin typeface="Arial" panose="020B0604020202020204" pitchFamily="34" charset="0"/>
              </a:rPr>
              <a:t> bình</a:t>
            </a:r>
            <a:r>
              <a:rPr lang="en-US" altLang="en-US" dirty="0">
                <a:solidFill>
                  <a:schemeClr val="tx1"/>
                </a:solidFill>
                <a:latin typeface="Arial" panose="020B0604020202020204" pitchFamily="34" charset="0"/>
              </a:rPr>
              <a:t>, giúp đánh giá </a:t>
            </a:r>
            <a:r>
              <a:rPr lang="en-US" altLang="en-US" dirty="0" err="1">
                <a:solidFill>
                  <a:schemeClr val="tx1"/>
                </a:solidFill>
                <a:latin typeface="Arial" panose="020B0604020202020204" pitchFamily="34" charset="0"/>
              </a:rPr>
              <a:t>hiệu</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năng</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cá</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nhân</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hoá</a:t>
            </a:r>
            <a:r>
              <a:rPr lang="en-US" altLang="en-US" dirty="0">
                <a:solidFill>
                  <a:schemeClr val="tx1"/>
                </a:solidFill>
                <a:latin typeface="Arial" panose="020B0604020202020204" pitchFamily="34" charset="0"/>
              </a:rPr>
              <a:t> thay </a:t>
            </a:r>
            <a:r>
              <a:rPr lang="en-US" altLang="en-US" dirty="0" err="1">
                <a:solidFill>
                  <a:schemeClr val="tx1"/>
                </a:solidFill>
                <a:latin typeface="Arial" panose="020B0604020202020204" pitchFamily="34" charset="0"/>
              </a:rPr>
              <a:t>vì</a:t>
            </a:r>
            <a:r>
              <a:rPr lang="en-US" altLang="en-US" dirty="0">
                <a:solidFill>
                  <a:schemeClr val="tx1"/>
                </a:solidFill>
                <a:latin typeface="Arial" panose="020B0604020202020204" pitchFamily="34" charset="0"/>
              </a:rPr>
              <a:t> chỉ nhìn </a:t>
            </a:r>
            <a:r>
              <a:rPr lang="en-US" altLang="en-US" dirty="0" err="1">
                <a:solidFill>
                  <a:schemeClr val="tx1"/>
                </a:solidFill>
                <a:latin typeface="Arial" panose="020B0604020202020204" pitchFamily="34" charset="0"/>
              </a:rPr>
              <a:t>hiệu</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năng</a:t>
            </a:r>
            <a:r>
              <a:rPr lang="en-US" altLang="en-US" dirty="0">
                <a:solidFill>
                  <a:schemeClr val="tx1"/>
                </a:solidFill>
                <a:latin typeface="Arial" panose="020B0604020202020204" pitchFamily="34" charset="0"/>
              </a:rPr>
              <a:t> trên toàn </a:t>
            </a:r>
            <a:r>
              <a:rPr lang="en-US" altLang="en-US" dirty="0" err="1">
                <a:solidFill>
                  <a:schemeClr val="tx1"/>
                </a:solidFill>
                <a:latin typeface="Arial" panose="020B0604020202020204" pitchFamily="34" charset="0"/>
              </a:rPr>
              <a:t>bộ</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dữ</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liệu</a:t>
            </a:r>
            <a:endParaRPr lang="en-US" altLang="en-US" dirty="0">
              <a:solidFill>
                <a:schemeClr val="tx1"/>
              </a:solidFill>
              <a:latin typeface="Arial" panose="020B0604020202020204" pitchFamily="34" charset="0"/>
            </a:endParaRPr>
          </a:p>
        </p:txBody>
      </p:sp>
    </p:spTree>
    <p:extLst>
      <p:ext uri="{BB962C8B-B14F-4D97-AF65-F5344CB8AC3E}">
        <p14:creationId xmlns:p14="http://schemas.microsoft.com/office/powerpoint/2010/main" val="1867531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1292</TotalTime>
  <Words>5677</Words>
  <Application>Microsoft Office PowerPoint</Application>
  <PresentationFormat>On-screen Show (16:9)</PresentationFormat>
  <Paragraphs>290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CĂN CHỈNH VÀ TÍCH HỢP THÔNG TIN CỘNG TÁC NHẰM NÂNG CAO HIỆU QUẢ CHO HỆ THỐNG TƯ VẤN DỰA TRÊN MÔ HÌNH NGÔN NGỮ LỚN</vt:lpstr>
      <vt:lpstr>Nội dung</vt:lpstr>
      <vt:lpstr>Tổng quan nghiên cứu</vt:lpstr>
      <vt:lpstr>Tổng quan nghiên cứu</vt:lpstr>
      <vt:lpstr>PowerPoint Presentation</vt:lpstr>
      <vt:lpstr>Mô hình Q-Former trong ILM</vt:lpstr>
      <vt:lpstr>Mô hình Q-Former trong ILM</vt:lpstr>
      <vt:lpstr>Mô hình Q-Former trong ILM</vt:lpstr>
      <vt:lpstr>Mô hình Q-Former trong ILM</vt:lpstr>
      <vt:lpstr>Mô hình Q-Former trong ILM</vt:lpstr>
      <vt:lpstr>PowerPoint Presentation</vt:lpstr>
      <vt:lpstr>INSTRUCT BLIP</vt:lpstr>
      <vt:lpstr>INSTRUCT BLIP</vt:lpstr>
      <vt:lpstr>INSTRUCT BLIP</vt:lpstr>
      <vt:lpstr>INSTRUCT BLIP</vt:lpstr>
      <vt:lpstr>INSTRUCT BLIP</vt:lpstr>
      <vt:lpstr>INSTRUCT BLIP</vt:lpstr>
      <vt:lpstr>PowerPoint Presentation</vt:lpstr>
      <vt:lpstr>Công việc đã hoàn thành</vt:lpstr>
      <vt:lpstr>Công việc đã hoàn thành</vt:lpstr>
      <vt:lpstr>Công việc đã hoàn thành</vt:lpstr>
      <vt:lpstr>Công việc đã hoàn thành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Ý TƯỞNG CHẤM ĐIỂM BÀI THI LẬP TRÌNH</dc:title>
  <cp:lastModifiedBy>Dell</cp:lastModifiedBy>
  <cp:revision>68</cp:revision>
  <dcterms:modified xsi:type="dcterms:W3CDTF">2026-01-27T15:36:20Z</dcterms:modified>
</cp:coreProperties>
</file>