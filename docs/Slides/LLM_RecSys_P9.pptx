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2" r:id="rId15"/>
    <p:sldId id="268" r:id="rId16"/>
    <p:sldId id="273" r:id="rId17"/>
    <p:sldId id="277" r:id="rId18"/>
    <p:sldId id="275" r:id="rId19"/>
    <p:sldId id="276" r:id="rId20"/>
    <p:sldId id="274" r:id="rId21"/>
    <p:sldId id="27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80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11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igitalocean.com/products/droplets/how-to/connect-with-ssh/openssh/" TargetMode="External"/><Relationship Id="rId2" Type="http://schemas.openxmlformats.org/officeDocument/2006/relationships/hyperlink" Target="https://www.fit.hcmus.edu.vn/vn/Default.aspx?tabid=467&amp;newsid=12985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slurm.schedmd.com/tutorials.html" TargetMode="External"/><Relationship Id="rId4" Type="http://schemas.openxmlformats.org/officeDocument/2006/relationships/hyperlink" Target="https://www.digitalocean.com/community/tutorials/how-to-use-sshfs-to-mount-remote-file-systems-over-ssh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CĂN CHỈNH VÀ TÍCH HỢP THÔNG TIN CỘNG TÁC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NHẰM NÂNG CAO HIỆU QUẢ CHO HỆ THỐNG TƯ VẤN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DỰA TRÊN MÔ HÌNH NGÔN NGỮ LỚN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8346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P9 — Tiến độ luận văn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viên:  Bùi Nguyên Quốc Bảo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MSHV:     24C12002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Ngành:    Hệ Thống Thông Tin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Ngày:     06/2026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báo cáo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so với P8 — tập trung vào kết quả &amp; thử nghiệm gần đây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365760" cy="36576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90525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kiến trúc &amp; pipeline đã trình bày ở P8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399032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4356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study: </a:t>
            </a: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của CF soft tokens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findings </a:t>
            </a: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instruction-aware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góp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nhiều trong single task  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963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baselines (CoLLM, BinLLM, SellaRec, ...)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02666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mới: Re-enable user-side soft tokens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570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trên cold-item scenario (+1.79 uAUC)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365760" cy="365760"/>
          </a:xfrm>
          <a:prstGeom prst="ellipse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087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số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hỏi và </a:t>
            </a:r>
            <a:r>
              <a:rPr lang="en-US" sz="140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ướng</a:t>
            </a:r>
            <a:r>
              <a:rPr lang="en-US" sz="14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Q-Former tiếp </a:t>
            </a:r>
            <a:r>
              <a:rPr lang="en-US" sz="140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 smtClean="0">
                <a:ln>
                  <a:noFill/>
                </a:ln>
                <a:solidFill>
                  <a:srgbClr val="A8C7FA"/>
                </a:solidFill>
                <a:effectLst/>
                <a:latin typeface="Google Sans"/>
                <a:hlinkClick r:id="rId2"/>
              </a:rPr>
              <a:t>https://www.fit.hcmus.edu.vn/vn/Default.aspx?tabid=467&amp;newsid=12985</a:t>
            </a:r>
            <a:endParaRPr kumimoji="0" lang="en-US" altLang="en-US" sz="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  </a:t>
            </a:r>
            <a:r>
              <a:rPr kumimoji="0" lang="en-US" altLang="en-US" sz="52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 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             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Cương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Phạm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rgbClr val="E3E3E3"/>
                </a:solidFill>
                <a:effectLst/>
                <a:latin typeface="Google Sans"/>
              </a:rPr>
              <a:t>Nguyễn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E3E3E3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C4C7C5"/>
                </a:solidFill>
                <a:effectLst/>
                <a:latin typeface="Google Sans"/>
              </a:rPr>
              <a:t>20:30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E3E3E3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 smtClean="0">
                <a:ln>
                  <a:noFill/>
                </a:ln>
                <a:solidFill>
                  <a:srgbClr val="A8C7FA"/>
                </a:solidFill>
                <a:effectLst/>
                <a:latin typeface="Google Sans"/>
                <a:hlinkClick r:id="rId3"/>
              </a:rPr>
              <a:t>https://docs.digitalocean.com/products/droplets/how-to/connect-with-ssh/openssh/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E3E3E3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 smtClean="0">
                <a:ln>
                  <a:noFill/>
                </a:ln>
                <a:solidFill>
                  <a:srgbClr val="A8C7FA"/>
                </a:solidFill>
                <a:effectLst/>
                <a:latin typeface="Google Sans"/>
                <a:hlinkClick r:id="rId4"/>
              </a:rPr>
              <a:t>https://www.digitalocean.com/community/tutorials/how-to-use-sshfs-to-mount-remote-file-systems-over-ssh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E3E3E3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sng" strike="noStrike" cap="none" normalizeH="0" baseline="0" dirty="0" smtClean="0">
                <a:ln>
                  <a:noFill/>
                </a:ln>
                <a:solidFill>
                  <a:srgbClr val="A8C7FA"/>
                </a:solidFill>
                <a:effectLst/>
                <a:latin typeface="Google Sans"/>
                <a:hlinkClick r:id="rId5"/>
              </a:rPr>
              <a:t>https://slurm.schedmd.com/tutorials.html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rgbClr val="E3E3E3"/>
              </a:solidFill>
              <a:effectLst/>
              <a:latin typeface="Google Sans"/>
            </a:endParaRPr>
          </a:p>
        </p:txBody>
      </p:sp>
      <p:pic>
        <p:nvPicPr>
          <p:cNvPr id="1028" name="Picture 4" descr="https://lh3.googleusercontent.com/a/ACg8ocJ_4NLLETwwz2SHCuRrnqXGG28bvDuYyWKLWqUrEAzU5A40=s88-c-k-no-m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668338"/>
            <a:ext cx="838200" cy="83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97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Tóm tắt kiến trúc đã trình bày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6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3 stage: MF → Q-Former → LLM (Qwen2-7B)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quan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Collaborative Filtering + Bridge Q-Former + LLM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 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 user/item embedding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5448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Q-Former Bridge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query tokens × 768d, 4 layers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3584 (LLM hidden)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Qwen2-7B + LoRA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r=8 [q_proj, v_proj] — frozen 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8F1F8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Tham số huấn luyện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 params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 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801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llm_proj params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801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185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params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1854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 (r=8)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69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tokens/sample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569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user + 80 history + 8 </a:t>
            </a:r>
            <a:r>
              <a:rPr lang="en-US" sz="1100" b="1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953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953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33,891 / 10,401 / 7,331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3337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Qwen2-7B-Base (frozen + LoRA)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21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text encoder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3721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(Q-Former text)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Box 39"/>
          <p:cNvSpPr txBox="1"/>
          <p:nvPr/>
        </p:nvSpPr>
        <p:spPr>
          <a:xfrm>
            <a:off x="412206" y="3932801"/>
            <a:ext cx="38854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A user has given high ratings to the following movies: &lt;</a:t>
            </a:r>
            <a:r>
              <a:rPr lang="en-US" sz="1000" dirty="0" err="1" smtClean="0"/>
              <a:t>ItemTitleList</a:t>
            </a:r>
            <a:r>
              <a:rPr lang="en-US" sz="1000" dirty="0" smtClean="0"/>
              <a:t>&gt;. The interaction-history signals are: &lt;</a:t>
            </a:r>
            <a:r>
              <a:rPr lang="en-US" sz="1000" dirty="0" err="1" smtClean="0"/>
              <a:t>ItemIDList</a:t>
            </a:r>
            <a:r>
              <a:rPr lang="en-US" sz="1000" dirty="0" smtClean="0"/>
              <a:t>&gt;. &lt;</a:t>
            </a:r>
            <a:r>
              <a:rPr lang="en-US" sz="1000" dirty="0" err="1" smtClean="0"/>
              <a:t>UserID</a:t>
            </a:r>
            <a:r>
              <a:rPr lang="en-US" sz="1000" dirty="0" smtClean="0"/>
              <a:t>&gt; Leverage the information above to predict whether the user would enjoy the movie titled &lt;</a:t>
            </a:r>
            <a:r>
              <a:rPr lang="en-US" sz="1000" dirty="0" err="1" smtClean="0"/>
              <a:t>TargetItemTitle</a:t>
            </a:r>
            <a:r>
              <a:rPr lang="en-US" sz="1000" dirty="0" smtClean="0"/>
              <a:t>&gt;. &lt;</a:t>
            </a:r>
            <a:r>
              <a:rPr lang="en-US" sz="1000" dirty="0" err="1" smtClean="0"/>
              <a:t>TargetItemID</a:t>
            </a:r>
            <a:r>
              <a:rPr lang="en-US" sz="1000" dirty="0" smtClean="0"/>
              <a:t>&gt; Answer with "Yes" or "No".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huấn luyện 3 stage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(Stage 0) → Q-Former pretrain (Stage 1, 2) → 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LLM /</a:t>
            </a: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+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finetune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Q-Former / Projection(Stage </a:t>
            </a: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5-loss pretrain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+ ITM + ITG (BLIP-2 cũ)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II contrastive (item-item)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UI contrastive (user-item)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 + text branch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BERT-init layer 0-3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pretrain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4592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LLM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Q-Former + llm_proj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LM trên item caption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aligned soft tokens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86868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1207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CoLLM 2-step fine-tune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55448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4592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LoRA only (text-only prompt)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train Q-Former + proj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LoRA frozen, full prompt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r>
              <a:rPr lang="en-US" sz="110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phương pháp đánh giá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MovieLens-1M, OOD2 split (CoLLM/BinLLM)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(đã trình bày P8)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292608"/>
          </a:xfrm>
          <a:prstGeom prst="rect">
            <a:avLst/>
          </a:prstGeom>
          <a:solidFill>
            <a:srgbClr val="E8F1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33,891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samples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6093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4114800" cy="292608"/>
          </a:xfrm>
          <a:prstGeom prst="rect">
            <a:avLst/>
          </a:prstGeom>
          <a:solidFill>
            <a:srgbClr val="E8F1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38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(overall)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9385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7,331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677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warm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2677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4114800" cy="292608"/>
          </a:xfrm>
          <a:prstGeom prst="rect">
            <a:avLst/>
          </a:prstGeom>
          <a:solidFill>
            <a:srgbClr val="E8F1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968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5968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29260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/ Items: 3,256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4114800" cy="292608"/>
          </a:xfrm>
          <a:prstGeom prst="rect">
            <a:avLst/>
          </a:prstGeom>
          <a:solidFill>
            <a:srgbClr val="E8F1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552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history length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giá: AUC vs uAUC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247503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8F1F8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1201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vi-VN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sử dụng accuracy để đánh giá trong bài toán này vì phụ thuộc vào ngưỡng (Ví dụ User 1 đánh giá item A: 5, item B: 5, item C: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vi-VN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</a:t>
            </a:r>
            <a:r>
              <a:rPr lang="vi-VN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vi-VN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thích,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4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item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b="1" dirty="0" smtClean="0">
              <a:solidFill>
                <a:srgbClr val="2E6FA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 smtClean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(global):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user thích có score cao hơn item user không thích không?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 AUC/uAUC không quan tâm nhiều đến score tuyệt đối, mà quan tâm thứ tự xếp hạng.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model tốt, các item có label “thích” phải được gán score cao hơn các item “không thíc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r>
              <a:rPr lang="en-US" sz="1050" b="1" dirty="0" err="1" smtClean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uAUC</a:t>
            </a:r>
            <a:r>
              <a:rPr lang="en-US" sz="1050" b="1" dirty="0" smtClean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(per-user):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bình AUC tính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—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ranking trong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=&gt;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
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split — quan trọng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29184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383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items đã xuất hiện trong training
</a:t>
            </a: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items KHÔNG xuất hiện trong training (cold-item)
</a:t>
            </a: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warm/cold giúp phân tích model behavior trên 2 chế độ khác nhau — đặc biệt cold-start là known hard problem.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ablation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6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thực sự của CF soft tokens vs Text-only baseline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của CF soft tokens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(CF zeroed) vs Full Q-Former pipeline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Q-Former AUC /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Text-only AUC /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0.7322 / 0.7131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0.6960 / 0.6878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0.7456 / 0.7265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0.7017 / 0.6750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0.7072 / 0.6478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0.6756 / 0.6478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E8F1F8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POSITIVE FINDING</a:t>
            </a:r>
            <a:endParaRPr lang="en-US" sz="1200" dirty="0"/>
          </a:p>
        </p:txBody>
      </p:sp>
      <p:sp>
        <p:nvSpPr>
          <p:cNvPr id="6" name="Text 6"/>
          <p:cNvSpPr/>
          <p:nvPr/>
        </p:nvSpPr>
        <p:spPr>
          <a:xfrm>
            <a:off x="502920" y="35204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+5.15 uAUC pts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test_warm khi thêm CF soft tokens.
</a:t>
            </a:r>
            <a:r>
              <a:rPr lang="en-US" sz="105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thực sự dùng CF signal qua Q-Former bridge, không chỉ dựa vào prompt text.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5E6"/>
          </a:solidFill>
          <a:ln w="25400">
            <a:solidFill>
              <a:srgbClr val="E89B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COLD-ITEM LIMITATION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35204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uAUC = 0.0000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test_cold (CF zeroing không hại).
</a:t>
            </a:r>
            <a:r>
              <a:rPr lang="en-US" sz="105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MF embeddings là noise cho cold items → CF signal không hữu ích.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Instruction-aware vs Vanilla Q-Former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InstructBLIP routing có giúp cho rec task hay không?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thuyết: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instruction-aware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learnable queries học được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trả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các soft token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hợp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downstream task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tư vấn: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0.7322 / 0.7131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0.7325 / 0.7170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0.7456 / 0.7265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0.7451 / 0.7213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0.7072 / 0.6478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0.7072 / 0.6516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NEGATIVE FINDING — Instruction-aware KHÔNG có đóng góp đáng kể</a:t>
            </a:r>
            <a:endParaRPr lang="en-US" sz="1400" dirty="0"/>
          </a:p>
        </p:txBody>
      </p:sp>
      <p:sp>
        <p:nvSpPr>
          <p:cNvPr id="7" name="Text 7"/>
          <p:cNvSpPr/>
          <p:nvPr/>
        </p:nvSpPr>
        <p:spPr>
          <a:xfrm>
            <a:off x="548640" y="3931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 uAUC| &lt; 0.0052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cả 3 splits — nằm trong noise band của seed variation (±0.005-0.01).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thậm chí 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out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test (overall) và test_cold. </a:t>
            </a: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InstructBLIP's instruction routing không transfer vào single-task CTR setting.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InstructBLIP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có 1 số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856581"/>
              </p:ext>
            </p:extLst>
          </p:nvPr>
        </p:nvGraphicFramePr>
        <p:xfrm>
          <a:off x="274320" y="914400"/>
          <a:ext cx="8595360" cy="20177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Cải</a:t>
                      </a:r>
                      <a:r>
                        <a:rPr lang="en-US" sz="105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val_uAUC peak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</a:t>
                      </a:r>
                      <a:r>
                        <a:rPr lang="en-US" sz="105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Q-Former (base)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BLIP-2 5-loss pretrain + CoLLM 2-step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Instruction-aware 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paraphrase prompts 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</a:t>
                      </a:r>
                      <a:r>
                        <a:rPr lang="en-US" sz="100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cả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để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nhắc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learnable queries </a:t>
                      </a:r>
                      <a:r>
                        <a:rPr lang="en-US" sz="1000" b="1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học </a:t>
                      </a:r>
                      <a:r>
                        <a:rPr lang="en-US" sz="1000" b="1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</a:t>
                      </a:r>
                      <a:r>
                        <a:rPr lang="en-US" sz="1000" b="1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biểu</a:t>
                      </a:r>
                      <a:r>
                        <a:rPr lang="en-US" sz="1000" b="1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diễn</a:t>
                      </a:r>
                      <a:r>
                        <a:rPr lang="en-US" sz="1000" b="1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CF </a:t>
                      </a:r>
                      <a:r>
                        <a:rPr lang="en-US" sz="1000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aseline="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tư vấn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</a:t>
                      </a: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Q-Former 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</a:t>
                      </a:r>
                      <a:r>
                        <a:rPr lang="en-US" sz="100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0.7098 ≈ vanilla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Task-focused prompts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CTR-vocabulary-explicit 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(trong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instruction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sử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dụng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những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từ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nhắc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tới task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sẽ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làm ở downstream như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là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dự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đoán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Yes/No =&gt;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nhận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thêm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thông</a:t>
                      </a:r>
                      <a:r>
                        <a:rPr lang="en-US" sz="10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tin về task)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7033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smtClean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vi-VN" sz="1200" b="1" dirty="0" smtClean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X-InstructBLIP </a:t>
            </a:r>
            <a:r>
              <a:rPr lang="vi-VN" sz="12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thấy Q-Former không phải lúc nào cũng vượt trội hơn linear projection. Q-Former có lợi thế khi dữ liệu modality đủ giàu và task yêu cầu reasoning phức tạp, đặc biệt trong single-modality hoặc multi-modal reasoning. Tuy nhiên, khi dữ liệu cho một cặp task–modality bị giới hạn, linear projection có thể generalize tốt hơn</a:t>
            </a:r>
            <a:r>
              <a:rPr lang="en-US" sz="1200" b="1" dirty="0" smtClean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6" name="Text 8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 thuyết: tại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sao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 BLIP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thiện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Single-task setting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InstructBLIP train 26 datasets × 11 task categories. Mình chỉ có 1 task Yes/No CTR → không có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instruction-aware queries học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/>
              <a:t>X-</a:t>
            </a:r>
            <a:r>
              <a:rPr lang="en-US" sz="1050" dirty="0" err="1" smtClean="0"/>
              <a:t>InstructBLIP</a:t>
            </a:r>
            <a:r>
              <a:rPr lang="en-US" sz="1050" dirty="0"/>
              <a:t>: A Framework for Aligning Image, 3D, Audio, Video to LLMs and its Emergent Cross-modal Reasoning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502920" cy="502920"/>
          </a:xfrm>
          <a:prstGeom prst="ellipse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664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information density at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embedding 256-d trained BPR → low entropy. So với InstructBLIP source: 1408-d × 257 patches = 361K nums/image. Q-Former 76M params over-parameterized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trưng</a:t>
            </a:r>
            <a:r>
              <a:rPr lang="en-US" sz="1050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của ảnh)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502920" cy="502920"/>
          </a:xfrm>
          <a:prstGeom prst="ellipse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14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4140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data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883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 samples cannot train extension layers (user_proj, multi-element memory) từ cold start → overfit/oscillate.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1638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with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381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đã attend history text autoregressively (&lt;</a:t>
            </a:r>
            <a:r>
              <a:rPr lang="en-US" sz="105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ItemTitleList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&gt;). Adding per-user/per-interaction at Q-Former duplicates context.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51560" y="39136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với baselines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6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ML-1M test set — số liệu từ SellaRec / BinLLM / CoLLM paper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giá trên 3 split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451932"/>
              </p:ext>
            </p:extLst>
          </p:nvPr>
        </p:nvGraphicFramePr>
        <p:xfrm>
          <a:off x="274320" y="868680"/>
          <a:ext cx="859536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Qformer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</a:t>
                      </a:r>
                      <a:r>
                        <a:rPr lang="en-US" sz="105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uAUC</a:t>
                      </a:r>
                      <a:r>
                        <a:rPr lang="en-US" sz="105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(w/o</a:t>
                      </a:r>
                      <a:r>
                        <a:rPr lang="en-US" sz="105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user token)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Instr-aware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uAUC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Qformer</a:t>
                      </a:r>
                      <a:r>
                        <a:rPr lang="en-US" sz="105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</a:t>
                      </a:r>
                      <a:r>
                        <a:rPr lang="en-US" sz="105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user token)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uAUC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0.7325 / 0.7170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0.7322 / 0.7131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6F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0.7336 / 0.7145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 smtClean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uAUC</a:t>
                      </a:r>
                      <a:r>
                        <a:rPr lang="en-US" sz="1000" dirty="0" smtClean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(w/o</a:t>
                      </a:r>
                      <a:r>
                        <a:rPr lang="en-US" sz="1000" baseline="0" dirty="0" smtClean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user token)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test_warm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0.7451 / 0.7213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6F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0.7456 / 0.7265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0.7462 / 0.7214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Instr-aware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0.7072 / 0.6516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0.7072 / 0.6478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0.7077 / 0.6695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User soft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200400"/>
            <a:ext cx="4572000" cy="1463040"/>
          </a:xfrm>
          <a:prstGeom prst="roundRect">
            <a:avLst>
              <a:gd name="adj" fmla="val 6250"/>
            </a:avLst>
          </a:prstGeom>
          <a:solidFill>
            <a:srgbClr val="EAF6EE"/>
          </a:solidFill>
          <a:ln w="381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POSITIVE FINDING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3566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+1.79 uAUC pts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test_cold
</a:t>
            </a: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(0.6695 vs Vanilla 0.6516, +0.0179)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029200" y="32004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sao win ở cold-item?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6636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= items chưa thấy ở training → item CF nghèo signal. </a:t>
            </a:r>
            <a:r>
              <a:rPr lang="en-US" sz="1050" i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CF vẫn rich → user soft tokens BÙ cho item signal thiếu hụt.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Ours (chỉ có item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token)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baselines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overall — ML-1M (OOD2 split</a:t>
            </a:r>
            <a:r>
              <a:rPr lang="en-US" sz="1100" i="1" dirty="0" smtClean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337370"/>
              </p:ext>
            </p:extLst>
          </p:nvPr>
        </p:nvGraphicFramePr>
        <p:xfrm>
          <a:off x="365760" y="868680"/>
          <a:ext cx="841248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SigLLM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LLMRec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TALLRec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LLM+Collab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 smtClean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LLM+Collab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CoLLM-MF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 (tied)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LLM+Collab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 smtClean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LLM+Collab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SellaRec (SOTA)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Vượt: MF, LightGCN, DIN, TALLRec, PersonPrompt   |   Tied: CoLLM-MF   |   Dưới: BinLLM, SellaRec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baselines từ docs/SellaRec.pdf Table 1 (unified re-run protocol)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User-CF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contribution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cơ chế độc lập confirm cùng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cs typeface="Calibri" pitchFamily="34" charset="-120"/>
              </a:rPr>
              <a:t>Inject </a:t>
            </a:r>
            <a:r>
              <a:rPr lang="en-US" sz="1200" i="1" dirty="0" err="1" smtClean="0">
                <a:solidFill>
                  <a:srgbClr val="6C757D"/>
                </a:solidFill>
                <a:latin typeface="Calibri" pitchFamily="34" charset="0"/>
                <a:cs typeface="Calibri" pitchFamily="34" charset="-120"/>
              </a:rPr>
              <a:t>thêm</a:t>
            </a:r>
            <a:r>
              <a:rPr lang="en-US" sz="1200" i="1" dirty="0" smtClean="0">
                <a:solidFill>
                  <a:srgbClr val="6C757D"/>
                </a:solidFill>
                <a:latin typeface="Calibri" pitchFamily="34" charset="0"/>
                <a:cs typeface="Calibri" pitchFamily="34" charset="-120"/>
              </a:rPr>
              <a:t> User-CF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85852" y="1261872"/>
            <a:ext cx="4206240" cy="640080"/>
          </a:xfrm>
          <a:prstGeom prst="roundRect">
            <a:avLst>
              <a:gd name="adj" fmla="val 8571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3012" y="1307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soft tokens (NEW)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23012" y="1609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 dedicated &lt;UserID&gt; slot trong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85852" y="1947672"/>
            <a:ext cx="4206240" cy="2286000"/>
          </a:xfrm>
          <a:prstGeom prst="roundRect">
            <a:avLst>
              <a:gd name="adj" fmla="val 2400"/>
            </a:avLst>
          </a:prstGeom>
          <a:solidFill>
            <a:srgbClr val="F8F9FA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3012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user_llm = llm_proj(qformer(user_cf, ins))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23012" y="2587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val_AUC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23012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0.7551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34692" y="2587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val_uAUC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34692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0.7023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323012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point: LLM prompt slot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3891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+0.03, uAUC chưa break baseline. Cùng kết luận: user-level signal cải thiện global ranking, chưa cải thiện per-user ranking.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274320" cy="10972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đã lắng nghe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6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nhận xét và góp 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Nguyên Quốc Bảo  |  MSHV 24C12002  |  Hệ Thống Thông Tin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luận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văn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tiếp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query initialization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8 queries từ KMeans centroids của BERT(item_text) thay vì random Gaussian.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10058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9050">
            <a:solidFill>
              <a:srgbClr val="2E6F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15-20%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warm-start projection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019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proj_cf qua regression MF→BERT(text) — closed-form, không random.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1719072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9050">
            <a:solidFill>
              <a:srgbClr val="2E6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15-20%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502920" cy="502920"/>
          </a:xfrm>
          <a:prstGeom prst="roundRect">
            <a:avLst>
              <a:gd name="adj" fmla="val 7273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3408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alignment aux loss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151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thêm L_align InfoNCE để preserve Stage 1 alignment khi fine-tune CTR.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2432304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9050">
            <a:solidFill>
              <a:srgbClr val="E89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4323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20-30%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54096"/>
            <a:ext cx="502920" cy="502920"/>
          </a:xfrm>
          <a:prstGeom prst="roundRect">
            <a:avLst>
              <a:gd name="adj" fmla="val 7273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0540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Target-conditioned gating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3284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per-item 88 tokens, thêm gate cho target reweight history items.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3145536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9050">
            <a:solidFill>
              <a:srgbClr val="E89B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1455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20-25%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67328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7673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MPNet text encoder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0416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BERT-base → MPNet (semantic mạnh hơn) hoặc beeFormer-MPNet (CF-aware).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3858768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38587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20-30%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tiếp theo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Còn ~1-2 tháng trước thesis defense —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371600" cy="77724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</a:t>
            </a:r>
            <a:r>
              <a:rPr lang="en-US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hỏi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914400"/>
            <a:ext cx="704088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9601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user soft tokens win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12070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Re-eval user-conditioned queries trên test 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cold-start win (2 variants)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ABLATION_RESULTS.md với numbers chính thức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1371600" cy="777240"/>
          </a:xfrm>
          <a:prstGeom prst="rect">
            <a:avLst/>
          </a:prstGeom>
          <a:solidFill>
            <a:srgbClr val="2E6FA7"/>
          </a:solidFill>
          <a:ln w="12700">
            <a:solidFill>
              <a:srgbClr val="2E6F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3-4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37360" y="1828800"/>
            <a:ext cx="704088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8745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init + semantic align loss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21214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#1 cluster query init + #2 OLS warm-start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#3 semantic alignment aux loss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Stage 1+2+3 với 3 cải tiến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1371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5-6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2743200"/>
            <a:ext cx="704088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Optional: target-conditioned gating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30358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#4 nếu Stage 3 còn slack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Hoặc thử MPNet text encoder (#5)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Comparison full với 4 variants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1371600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Tuần 7-8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3657600"/>
            <a:ext cx="7040880" cy="777240"/>
          </a:xfrm>
          <a:prstGeom prst="rect">
            <a:avLst/>
          </a:prstGeom>
          <a:solidFill>
            <a:srgbClr val="F8F9FA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7033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thesis &amp; defense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74520" y="39502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tables + figures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Practice defense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cho revision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thesis claim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phát hiện thành câu chuyện đề tài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EAF6EE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Positive contribution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 hoạt động hiệu quả như CF→LLM modality bridge: </a:t>
            </a: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+5.15 uAUC pts 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test_warm vs text-only baseline. Thêm: user-side soft tokens cải thiện </a:t>
            </a: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+1.79 uAUC pts trên test_cold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bù cho item signal khi cold-start.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Negative contributions (architectural transferability study)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mở rộng từ VLM Q-Former (InstructBLIP/BLIP-2/VideoBLIP) KHÔNG transfer vào single-task CTR:
</a:t>
            </a: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Instruction-aware V1 paraphrase    2. Task-focused prompts    3. Interaction-aware joint encoding    4. User-conditioned queries
</a:t>
            </a: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đều có Δ uAUC trong noise band hoặc dưới baseline </a:t>
            </a: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limitation ở paradigm level, không phải “chọn sai extension”.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E8F1F8"/>
          </a:solidFill>
          <a:ln w="25400">
            <a:solidFill>
              <a:srgbClr val="2E6F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Implication cho field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Validate độc lập choice của ILM (vanilla queries-only) cho recommendation.
(b) Future work nên focus vào </a:t>
            </a: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source encoders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(SASRec, dual-channel content+CF) hoặc </a:t>
            </a: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tuning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(CTR + rating + explanation) thay vì thêm architectural extensions.
(c) </a:t>
            </a:r>
            <a:r>
              <a:rPr lang="en-US" sz="105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User-side soft tokens </a:t>
            </a:r>
            <a:r>
              <a:rPr lang="en-US" sz="105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biệt hữu ích cho cold-start — đáng nghiên cứu sâu hơn.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+ user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tokens (Stage 3 step 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epochs, peak ở epoch 4 trước khi decline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297680" cy="217627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val_uAUC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score_gap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91440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E8F1F8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baselines (val peak)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77183"/>
              </p:ext>
            </p:extLst>
          </p:nvPr>
        </p:nvGraphicFramePr>
        <p:xfrm>
          <a:off x="4892040" y="1371600"/>
          <a:ext cx="3840480" cy="16398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</a:t>
                      </a:r>
                      <a:r>
                        <a:rPr lang="en-US" sz="1000" dirty="0" err="1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Qformer</a:t>
                      </a:r>
                      <a:r>
                        <a:rPr lang="en-US" sz="100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(w/o</a:t>
                      </a:r>
                      <a:r>
                        <a:rPr lang="en-US" sz="1000" baseline="0" dirty="0" smtClean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user token)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Instruction-aware 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soft tokens (NEW)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9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9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92040" y="3200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quan sát: </a:t>
            </a:r>
            <a:r>
              <a:rPr lang="en-US" sz="105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vọt cao (+0.033) nhưng uAUC vẫn dưới baseline </a:t>
            </a:r>
            <a:r>
              <a:rPr lang="en-US" sz="1050" i="1" dirty="0" smtClean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0.7081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Bộ môn KHMT - Khoa CNTT - Trường ĐH KHTN-HCM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2192</Words>
  <Application>Microsoft Office PowerPoint</Application>
  <PresentationFormat>On-screen Show (16:9)</PresentationFormat>
  <Paragraphs>457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SigLLM — P9</dc:title>
  <dc:subject>Báo cáo cập nhật: kết quả ablation, thử nghiệm gần đây, so sánh baseline</dc:subject>
  <dc:creator>Bùi Nguyên Quốc Bảo</dc:creator>
  <cp:lastModifiedBy>Dell</cp:lastModifiedBy>
  <cp:revision>12</cp:revision>
  <dcterms:created xsi:type="dcterms:W3CDTF">2026-06-02T08:35:10Z</dcterms:created>
  <dcterms:modified xsi:type="dcterms:W3CDTF">2026-06-02T13:37:44Z</dcterms:modified>
</cp:coreProperties>
</file>