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20"/>
  </p:notesMasterIdLst>
  <p:sldIdLst>
    <p:sldId id="256" r:id="rId2"/>
    <p:sldId id="257" r:id="rId3"/>
    <p:sldId id="268" r:id="rId4"/>
    <p:sldId id="265" r:id="rId5"/>
    <p:sldId id="258" r:id="rId6"/>
    <p:sldId id="263" r:id="rId7"/>
    <p:sldId id="266" r:id="rId8"/>
    <p:sldId id="267" r:id="rId9"/>
    <p:sldId id="269" r:id="rId10"/>
    <p:sldId id="270" r:id="rId11"/>
    <p:sldId id="273" r:id="rId12"/>
    <p:sldId id="274" r:id="rId13"/>
    <p:sldId id="271" r:id="rId14"/>
    <p:sldId id="275" r:id="rId15"/>
    <p:sldId id="276" r:id="rId16"/>
    <p:sldId id="277" r:id="rId17"/>
    <p:sldId id="278" r:id="rId18"/>
    <p:sldId id="279" r:id="rId19"/>
  </p:sldIdLst>
  <p:sldSz cx="9144000" cy="5143500" type="screen16x9"/>
  <p:notesSz cx="9144000" cy="51435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51" autoAdjust="0"/>
    <p:restoredTop sz="94118" autoAdjust="0"/>
  </p:normalViewPr>
  <p:slideViewPr>
    <p:cSldViewPr snapToGrid="0">
      <p:cViewPr>
        <p:scale>
          <a:sx n="75" d="100"/>
          <a:sy n="75" d="100"/>
        </p:scale>
        <p:origin x="3636" y="2256"/>
      </p:cViewPr>
      <p:guideLst>
        <p:guide orient="horz" pos="2880"/>
        <p:guide pos="2160"/>
      </p:guideLst>
    </p:cSldViewPr>
  </p:slideViewPr>
  <p:outlineViewPr>
    <p:cViewPr>
      <p:scale>
        <a:sx n="33" d="100"/>
        <a:sy n="33" d="100"/>
      </p:scale>
      <p:origin x="0" y="-1538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2571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25717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2474913"/>
            <a:ext cx="7315200" cy="20256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4886325"/>
            <a:ext cx="3962400" cy="25717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4886325"/>
            <a:ext cx="3962400" cy="25717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vi-V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reddit.com/r/MachineLearning/comments/1lfijb4/d_future_of_recsys_in_age_of_llm/"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s://www.youtube.com/watch?v=2vlCqD6igVA"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1: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 name="Google Shape;47;p1:notes"/>
          <p:cNvSpPr txBox="1">
            <a:spLocks noGrp="1"/>
          </p:cNvSpPr>
          <p:nvPr>
            <p:ph type="body" idx="1"/>
          </p:nvPr>
        </p:nvSpPr>
        <p:spPr>
          <a:xfrm>
            <a:off x="914400" y="2474913"/>
            <a:ext cx="7315200" cy="2025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 name="Google Shape;48;p1:notes"/>
          <p:cNvSpPr txBox="1">
            <a:spLocks noGrp="1"/>
          </p:cNvSpPr>
          <p:nvPr>
            <p:ph type="sldNum" idx="12"/>
          </p:nvPr>
        </p:nvSpPr>
        <p:spPr>
          <a:xfrm>
            <a:off x="5180013" y="4886325"/>
            <a:ext cx="3962400" cy="257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55641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smtClean="0">
                <a:hlinkClick r:id="rId3"/>
              </a:rPr>
              <a:t>[D] Future of </a:t>
            </a:r>
            <a:r>
              <a:rPr lang="en-US" dirty="0" err="1" smtClean="0">
                <a:hlinkClick r:id="rId3"/>
              </a:rPr>
              <a:t>RecSys</a:t>
            </a:r>
            <a:r>
              <a:rPr lang="en-US" dirty="0" smtClean="0">
                <a:hlinkClick r:id="rId3"/>
              </a:rPr>
              <a:t> in age of LLM : r/</a:t>
            </a:r>
            <a:r>
              <a:rPr lang="en-US" dirty="0" err="1" smtClean="0">
                <a:hlinkClick r:id="rId3"/>
              </a:rPr>
              <a:t>MachineLearning</a:t>
            </a:r>
            <a:r>
              <a:rPr lang="en-US" dirty="0" smtClean="0"/>
              <a:t/>
            </a:r>
            <a:br>
              <a:rPr lang="en-US" dirty="0" smtClean="0"/>
            </a:br>
            <a:r>
              <a:rPr lang="en-US" dirty="0" err="1" smtClean="0">
                <a:hlinkClick r:id="rId4"/>
              </a:rPr>
              <a:t>Recsys</a:t>
            </a:r>
            <a:r>
              <a:rPr lang="en-US" dirty="0" smtClean="0">
                <a:hlinkClick r:id="rId4"/>
              </a:rPr>
              <a:t> Keynote: Improving Recommendation Systems &amp; Search in the Age of LLMs - Eugene Yan, Amazon - YouTube</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6219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26201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4328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đề tài này, hướng tiếp cận được lựa chọn là **LLM-as-RS**, tức sử dụng chính mô hình ngôn ngữ lớn như GPT để thực hiện nhiệm vụ gợi ý. Đây là hướng tiếp cận mới và giàu tiềm năng, tận dụng khả năng hiểu ngữ nghĩa và lý giải sâu sắc của LLM. Đặc biệt, nó giúp giải quyết tốt các kịch bản cold-start, nơi dữ liệu lịch sử của người dùng gần như không tồn tại.</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khi áp dụng LLM cho hệ thống tư vấn, thách thức lớn nhất chính là **semantic gap** – khoảng cách ngữ nghĩa giữa hai không gian: một bên là không gian CF vốn biểu diễn bằng latent vectors từ lịch sử tương tác, và một bên là không gian ngữ nghĩa của LLM được huấn luyện bằng dữ liệu văn bản. Hai không gian này rất khác biệt nên gây khó khăn trong việc tích hợp tín hiệu cộng tác vào mô hình ngôn ngữ.</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Do đó, đề tài tập trung vào việc **thiết kế cơ chế căn chỉnh** giữa hai không gian – ví dụ như sử dụng projection layers, contrastive learning hoặc kỹ thuật token bridging – nhằm rút ngắn khoảng cách và tối ưu hiệu quả gợi ý. Đây là trọng tâm chính của nghiên cứu.</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32812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17393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35130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58037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54115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56626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12533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97435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97367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91758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40451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2"/>
          <p:cNvSpPr txBox="1">
            <a:spLocks noGrp="1"/>
          </p:cNvSpPr>
          <p:nvPr>
            <p:ph type="title"/>
          </p:nvPr>
        </p:nvSpPr>
        <p:spPr>
          <a:xfrm>
            <a:off x="4092575" y="126492"/>
            <a:ext cx="1649729" cy="5130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200" b="0" i="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txBox="1">
            <a:spLocks noGrp="1"/>
          </p:cNvSpPr>
          <p:nvPr>
            <p:ph type="body" idx="1"/>
          </p:nvPr>
        </p:nvSpPr>
        <p:spPr>
          <a:xfrm>
            <a:off x="542274" y="904747"/>
            <a:ext cx="5541010" cy="181483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2400" b="0" i="0">
                <a:solidFill>
                  <a:schemeClr val="dk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vi-VN"/>
              <a:t>‹#›</a:t>
            </a:fld>
            <a:endParaRPr sz="1800">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Blank">
  <p:cSld name="Blank">
    <p:bg>
      <p:bgPr>
        <a:solidFill>
          <a:schemeClr val="lt1"/>
        </a:solidFill>
        <a:effectLst/>
      </p:bgPr>
    </p:bg>
    <p:spTree>
      <p:nvGrpSpPr>
        <p:cNvPr id="1" name="Shape 40"/>
        <p:cNvGrpSpPr/>
        <p:nvPr/>
      </p:nvGrpSpPr>
      <p:grpSpPr>
        <a:xfrm>
          <a:off x="0" y="0"/>
          <a:ext cx="0" cy="0"/>
          <a:chOff x="0" y="0"/>
          <a:chExt cx="0" cy="0"/>
        </a:xfrm>
      </p:grpSpPr>
      <p:sp>
        <p:nvSpPr>
          <p:cNvPr id="41" name="Google Shape;41;p6"/>
          <p:cNvSpPr/>
          <p:nvPr/>
        </p:nvSpPr>
        <p:spPr>
          <a:xfrm>
            <a:off x="530543" y="635698"/>
            <a:ext cx="3465195" cy="3465195"/>
          </a:xfrm>
          <a:custGeom>
            <a:avLst/>
            <a:gdLst/>
            <a:ahLst/>
            <a:cxnLst/>
            <a:rect l="l" t="t" r="r" b="b"/>
            <a:pathLst>
              <a:path w="3465195" h="3465195" extrusionOk="0">
                <a:moveTo>
                  <a:pt x="1732481" y="0"/>
                </a:moveTo>
                <a:lnTo>
                  <a:pt x="1683988" y="665"/>
                </a:lnTo>
                <a:lnTo>
                  <a:pt x="1635824" y="2650"/>
                </a:lnTo>
                <a:lnTo>
                  <a:pt x="1588008" y="5938"/>
                </a:lnTo>
                <a:lnTo>
                  <a:pt x="1540555" y="10510"/>
                </a:lnTo>
                <a:lnTo>
                  <a:pt x="1493485" y="16350"/>
                </a:lnTo>
                <a:lnTo>
                  <a:pt x="1446813" y="23439"/>
                </a:lnTo>
                <a:lnTo>
                  <a:pt x="1400558" y="31762"/>
                </a:lnTo>
                <a:lnTo>
                  <a:pt x="1354737" y="41300"/>
                </a:lnTo>
                <a:lnTo>
                  <a:pt x="1309368" y="52036"/>
                </a:lnTo>
                <a:lnTo>
                  <a:pt x="1264466" y="63952"/>
                </a:lnTo>
                <a:lnTo>
                  <a:pt x="1220051" y="77032"/>
                </a:lnTo>
                <a:lnTo>
                  <a:pt x="1176139" y="91258"/>
                </a:lnTo>
                <a:lnTo>
                  <a:pt x="1132748" y="106612"/>
                </a:lnTo>
                <a:lnTo>
                  <a:pt x="1089895" y="123078"/>
                </a:lnTo>
                <a:lnTo>
                  <a:pt x="1047597" y="140637"/>
                </a:lnTo>
                <a:lnTo>
                  <a:pt x="1005872" y="159273"/>
                </a:lnTo>
                <a:lnTo>
                  <a:pt x="964737" y="178968"/>
                </a:lnTo>
                <a:lnTo>
                  <a:pt x="924210" y="199704"/>
                </a:lnTo>
                <a:lnTo>
                  <a:pt x="884307" y="221465"/>
                </a:lnTo>
                <a:lnTo>
                  <a:pt x="845047" y="244233"/>
                </a:lnTo>
                <a:lnTo>
                  <a:pt x="806447" y="267990"/>
                </a:lnTo>
                <a:lnTo>
                  <a:pt x="768523" y="292720"/>
                </a:lnTo>
                <a:lnTo>
                  <a:pt x="731294" y="318405"/>
                </a:lnTo>
                <a:lnTo>
                  <a:pt x="694776" y="345027"/>
                </a:lnTo>
                <a:lnTo>
                  <a:pt x="658988" y="372569"/>
                </a:lnTo>
                <a:lnTo>
                  <a:pt x="623946" y="401014"/>
                </a:lnTo>
                <a:lnTo>
                  <a:pt x="589668" y="430344"/>
                </a:lnTo>
                <a:lnTo>
                  <a:pt x="556171" y="460542"/>
                </a:lnTo>
                <a:lnTo>
                  <a:pt x="523473" y="491591"/>
                </a:lnTo>
                <a:lnTo>
                  <a:pt x="491591" y="523474"/>
                </a:lnTo>
                <a:lnTo>
                  <a:pt x="460542" y="556172"/>
                </a:lnTo>
                <a:lnTo>
                  <a:pt x="430343" y="589669"/>
                </a:lnTo>
                <a:lnTo>
                  <a:pt x="401013" y="623947"/>
                </a:lnTo>
                <a:lnTo>
                  <a:pt x="372568" y="658989"/>
                </a:lnTo>
                <a:lnTo>
                  <a:pt x="345026" y="694777"/>
                </a:lnTo>
                <a:lnTo>
                  <a:pt x="318404" y="731295"/>
                </a:lnTo>
                <a:lnTo>
                  <a:pt x="292720" y="768524"/>
                </a:lnTo>
                <a:lnTo>
                  <a:pt x="267990" y="806447"/>
                </a:lnTo>
                <a:lnTo>
                  <a:pt x="244233" y="845048"/>
                </a:lnTo>
                <a:lnTo>
                  <a:pt x="221465" y="884308"/>
                </a:lnTo>
                <a:lnTo>
                  <a:pt x="199704" y="924211"/>
                </a:lnTo>
                <a:lnTo>
                  <a:pt x="178967" y="964738"/>
                </a:lnTo>
                <a:lnTo>
                  <a:pt x="159273" y="1005873"/>
                </a:lnTo>
                <a:lnTo>
                  <a:pt x="140637" y="1047598"/>
                </a:lnTo>
                <a:lnTo>
                  <a:pt x="123078" y="1089896"/>
                </a:lnTo>
                <a:lnTo>
                  <a:pt x="106612" y="1132749"/>
                </a:lnTo>
                <a:lnTo>
                  <a:pt x="91258" y="1176140"/>
                </a:lnTo>
                <a:lnTo>
                  <a:pt x="77032" y="1220052"/>
                </a:lnTo>
                <a:lnTo>
                  <a:pt x="63952" y="1264467"/>
                </a:lnTo>
                <a:lnTo>
                  <a:pt x="52036" y="1309369"/>
                </a:lnTo>
                <a:lnTo>
                  <a:pt x="41300" y="1354739"/>
                </a:lnTo>
                <a:lnTo>
                  <a:pt x="31762" y="1400560"/>
                </a:lnTo>
                <a:lnTo>
                  <a:pt x="23439" y="1446815"/>
                </a:lnTo>
                <a:lnTo>
                  <a:pt x="16350" y="1493486"/>
                </a:lnTo>
                <a:lnTo>
                  <a:pt x="10510" y="1540557"/>
                </a:lnTo>
                <a:lnTo>
                  <a:pt x="5938" y="1588009"/>
                </a:lnTo>
                <a:lnTo>
                  <a:pt x="2650" y="1635826"/>
                </a:lnTo>
                <a:lnTo>
                  <a:pt x="665" y="1683989"/>
                </a:lnTo>
                <a:lnTo>
                  <a:pt x="0" y="1732483"/>
                </a:lnTo>
                <a:lnTo>
                  <a:pt x="665" y="1780975"/>
                </a:lnTo>
                <a:lnTo>
                  <a:pt x="2650" y="1829139"/>
                </a:lnTo>
                <a:lnTo>
                  <a:pt x="5938" y="1876955"/>
                </a:lnTo>
                <a:lnTo>
                  <a:pt x="10510" y="1924406"/>
                </a:lnTo>
                <a:lnTo>
                  <a:pt x="16350" y="1971476"/>
                </a:lnTo>
                <a:lnTo>
                  <a:pt x="23439" y="2018147"/>
                </a:lnTo>
                <a:lnTo>
                  <a:pt x="31762" y="2064402"/>
                </a:lnTo>
                <a:lnTo>
                  <a:pt x="41300" y="2110222"/>
                </a:lnTo>
                <a:lnTo>
                  <a:pt x="52036" y="2155592"/>
                </a:lnTo>
                <a:lnTo>
                  <a:pt x="63952" y="2200493"/>
                </a:lnTo>
                <a:lnTo>
                  <a:pt x="77032" y="2244908"/>
                </a:lnTo>
                <a:lnTo>
                  <a:pt x="91258" y="2288819"/>
                </a:lnTo>
                <a:lnTo>
                  <a:pt x="106612" y="2332210"/>
                </a:lnTo>
                <a:lnTo>
                  <a:pt x="123078" y="2375063"/>
                </a:lnTo>
                <a:lnTo>
                  <a:pt x="140637" y="2417360"/>
                </a:lnTo>
                <a:lnTo>
                  <a:pt x="159273" y="2459085"/>
                </a:lnTo>
                <a:lnTo>
                  <a:pt x="178967" y="2500220"/>
                </a:lnTo>
                <a:lnTo>
                  <a:pt x="199704" y="2540747"/>
                </a:lnTo>
                <a:lnTo>
                  <a:pt x="221465" y="2580649"/>
                </a:lnTo>
                <a:lnTo>
                  <a:pt x="244233" y="2619909"/>
                </a:lnTo>
                <a:lnTo>
                  <a:pt x="267990" y="2658509"/>
                </a:lnTo>
                <a:lnTo>
                  <a:pt x="292720" y="2696432"/>
                </a:lnTo>
                <a:lnTo>
                  <a:pt x="318404" y="2733661"/>
                </a:lnTo>
                <a:lnTo>
                  <a:pt x="345026" y="2770179"/>
                </a:lnTo>
                <a:lnTo>
                  <a:pt x="372568" y="2805967"/>
                </a:lnTo>
                <a:lnTo>
                  <a:pt x="401013" y="2841008"/>
                </a:lnTo>
                <a:lnTo>
                  <a:pt x="430343" y="2875286"/>
                </a:lnTo>
                <a:lnTo>
                  <a:pt x="460542" y="2908783"/>
                </a:lnTo>
                <a:lnTo>
                  <a:pt x="491591" y="2941481"/>
                </a:lnTo>
                <a:lnTo>
                  <a:pt x="523473" y="2973363"/>
                </a:lnTo>
                <a:lnTo>
                  <a:pt x="556171" y="3004412"/>
                </a:lnTo>
                <a:lnTo>
                  <a:pt x="589668" y="3034611"/>
                </a:lnTo>
                <a:lnTo>
                  <a:pt x="623946" y="3063941"/>
                </a:lnTo>
                <a:lnTo>
                  <a:pt x="658988" y="3092386"/>
                </a:lnTo>
                <a:lnTo>
                  <a:pt x="694776" y="3119928"/>
                </a:lnTo>
                <a:lnTo>
                  <a:pt x="731294" y="3146550"/>
                </a:lnTo>
                <a:lnTo>
                  <a:pt x="768523" y="3172234"/>
                </a:lnTo>
                <a:lnTo>
                  <a:pt x="806447" y="3196964"/>
                </a:lnTo>
                <a:lnTo>
                  <a:pt x="845047" y="3220721"/>
                </a:lnTo>
                <a:lnTo>
                  <a:pt x="884307" y="3243489"/>
                </a:lnTo>
                <a:lnTo>
                  <a:pt x="924210" y="3265250"/>
                </a:lnTo>
                <a:lnTo>
                  <a:pt x="964737" y="3285986"/>
                </a:lnTo>
                <a:lnTo>
                  <a:pt x="1005872" y="3305681"/>
                </a:lnTo>
                <a:lnTo>
                  <a:pt x="1047597" y="3324317"/>
                </a:lnTo>
                <a:lnTo>
                  <a:pt x="1089895" y="3341876"/>
                </a:lnTo>
                <a:lnTo>
                  <a:pt x="1132748" y="3358342"/>
                </a:lnTo>
                <a:lnTo>
                  <a:pt x="1176139" y="3373696"/>
                </a:lnTo>
                <a:lnTo>
                  <a:pt x="1220051" y="3387922"/>
                </a:lnTo>
                <a:lnTo>
                  <a:pt x="1264466" y="3401002"/>
                </a:lnTo>
                <a:lnTo>
                  <a:pt x="1309368" y="3412918"/>
                </a:lnTo>
                <a:lnTo>
                  <a:pt x="1354737" y="3423654"/>
                </a:lnTo>
                <a:lnTo>
                  <a:pt x="1400558" y="3433192"/>
                </a:lnTo>
                <a:lnTo>
                  <a:pt x="1446813" y="3441515"/>
                </a:lnTo>
                <a:lnTo>
                  <a:pt x="1493485" y="3448604"/>
                </a:lnTo>
                <a:lnTo>
                  <a:pt x="1540555" y="3454444"/>
                </a:lnTo>
                <a:lnTo>
                  <a:pt x="1588008" y="3459016"/>
                </a:lnTo>
                <a:lnTo>
                  <a:pt x="1635824" y="3462304"/>
                </a:lnTo>
                <a:lnTo>
                  <a:pt x="1683988" y="3464289"/>
                </a:lnTo>
                <a:lnTo>
                  <a:pt x="1732481" y="3464954"/>
                </a:lnTo>
                <a:lnTo>
                  <a:pt x="1780974" y="3464289"/>
                </a:lnTo>
                <a:lnTo>
                  <a:pt x="1829137" y="3462304"/>
                </a:lnTo>
                <a:lnTo>
                  <a:pt x="1876953" y="3459016"/>
                </a:lnTo>
                <a:lnTo>
                  <a:pt x="1924405" y="3454444"/>
                </a:lnTo>
                <a:lnTo>
                  <a:pt x="1971475" y="3448604"/>
                </a:lnTo>
                <a:lnTo>
                  <a:pt x="2018146" y="3441515"/>
                </a:lnTo>
                <a:lnTo>
                  <a:pt x="2064400" y="3433192"/>
                </a:lnTo>
                <a:lnTo>
                  <a:pt x="2110221" y="3423654"/>
                </a:lnTo>
                <a:lnTo>
                  <a:pt x="2155590" y="3412918"/>
                </a:lnTo>
                <a:lnTo>
                  <a:pt x="2200491" y="3401002"/>
                </a:lnTo>
                <a:lnTo>
                  <a:pt x="2244906" y="3387922"/>
                </a:lnTo>
                <a:lnTo>
                  <a:pt x="2288818" y="3373696"/>
                </a:lnTo>
                <a:lnTo>
                  <a:pt x="2332209" y="3358342"/>
                </a:lnTo>
                <a:lnTo>
                  <a:pt x="2375061" y="3341876"/>
                </a:lnTo>
                <a:lnTo>
                  <a:pt x="2417359" y="3324317"/>
                </a:lnTo>
                <a:lnTo>
                  <a:pt x="2459084" y="3305681"/>
                </a:lnTo>
                <a:lnTo>
                  <a:pt x="2500218" y="3285986"/>
                </a:lnTo>
                <a:lnTo>
                  <a:pt x="2540745" y="3265250"/>
                </a:lnTo>
                <a:lnTo>
                  <a:pt x="2580647" y="3243489"/>
                </a:lnTo>
                <a:lnTo>
                  <a:pt x="2619907" y="3220721"/>
                </a:lnTo>
                <a:lnTo>
                  <a:pt x="2658507" y="3196964"/>
                </a:lnTo>
                <a:lnTo>
                  <a:pt x="2696431" y="3172234"/>
                </a:lnTo>
                <a:lnTo>
                  <a:pt x="2733660" y="3146550"/>
                </a:lnTo>
                <a:lnTo>
                  <a:pt x="2770177" y="3119928"/>
                </a:lnTo>
                <a:lnTo>
                  <a:pt x="2805965" y="3092386"/>
                </a:lnTo>
                <a:lnTo>
                  <a:pt x="2841007" y="3063941"/>
                </a:lnTo>
                <a:lnTo>
                  <a:pt x="2875284" y="3034611"/>
                </a:lnTo>
                <a:lnTo>
                  <a:pt x="2908781" y="3004412"/>
                </a:lnTo>
                <a:lnTo>
                  <a:pt x="2941479" y="2973363"/>
                </a:lnTo>
                <a:lnTo>
                  <a:pt x="2973361" y="2941481"/>
                </a:lnTo>
                <a:lnTo>
                  <a:pt x="3004410" y="2908783"/>
                </a:lnTo>
                <a:lnTo>
                  <a:pt x="3034609" y="2875286"/>
                </a:lnTo>
                <a:lnTo>
                  <a:pt x="3063939" y="2841008"/>
                </a:lnTo>
                <a:lnTo>
                  <a:pt x="3092384" y="2805967"/>
                </a:lnTo>
                <a:lnTo>
                  <a:pt x="3119926" y="2770179"/>
                </a:lnTo>
                <a:lnTo>
                  <a:pt x="3146548" y="2733661"/>
                </a:lnTo>
                <a:lnTo>
                  <a:pt x="3172232" y="2696432"/>
                </a:lnTo>
                <a:lnTo>
                  <a:pt x="3196962" y="2658509"/>
                </a:lnTo>
                <a:lnTo>
                  <a:pt x="3220719" y="2619909"/>
                </a:lnTo>
                <a:lnTo>
                  <a:pt x="3243487" y="2580649"/>
                </a:lnTo>
                <a:lnTo>
                  <a:pt x="3265248" y="2540747"/>
                </a:lnTo>
                <a:lnTo>
                  <a:pt x="3285984" y="2500220"/>
                </a:lnTo>
                <a:lnTo>
                  <a:pt x="3305679" y="2459085"/>
                </a:lnTo>
                <a:lnTo>
                  <a:pt x="3324315" y="2417360"/>
                </a:lnTo>
                <a:lnTo>
                  <a:pt x="3341874" y="2375063"/>
                </a:lnTo>
                <a:lnTo>
                  <a:pt x="3358339" y="2332210"/>
                </a:lnTo>
                <a:lnTo>
                  <a:pt x="3373694" y="2288819"/>
                </a:lnTo>
                <a:lnTo>
                  <a:pt x="3387919" y="2244908"/>
                </a:lnTo>
                <a:lnTo>
                  <a:pt x="3400999" y="2200493"/>
                </a:lnTo>
                <a:lnTo>
                  <a:pt x="3412916" y="2155592"/>
                </a:lnTo>
                <a:lnTo>
                  <a:pt x="3423652" y="2110222"/>
                </a:lnTo>
                <a:lnTo>
                  <a:pt x="3433190" y="2064402"/>
                </a:lnTo>
                <a:lnTo>
                  <a:pt x="3441512" y="2018147"/>
                </a:lnTo>
                <a:lnTo>
                  <a:pt x="3448602" y="1971476"/>
                </a:lnTo>
                <a:lnTo>
                  <a:pt x="3454442" y="1924406"/>
                </a:lnTo>
                <a:lnTo>
                  <a:pt x="3459014" y="1876955"/>
                </a:lnTo>
                <a:lnTo>
                  <a:pt x="3462301" y="1829139"/>
                </a:lnTo>
                <a:lnTo>
                  <a:pt x="3464286" y="1780975"/>
                </a:lnTo>
                <a:lnTo>
                  <a:pt x="3464952" y="1732483"/>
                </a:lnTo>
                <a:lnTo>
                  <a:pt x="3464286" y="1683989"/>
                </a:lnTo>
                <a:lnTo>
                  <a:pt x="3462301" y="1635826"/>
                </a:lnTo>
                <a:lnTo>
                  <a:pt x="3459014" y="1588009"/>
                </a:lnTo>
                <a:lnTo>
                  <a:pt x="3454442" y="1540557"/>
                </a:lnTo>
                <a:lnTo>
                  <a:pt x="3448602" y="1493486"/>
                </a:lnTo>
                <a:lnTo>
                  <a:pt x="3441512" y="1446815"/>
                </a:lnTo>
                <a:lnTo>
                  <a:pt x="3433190" y="1400560"/>
                </a:lnTo>
                <a:lnTo>
                  <a:pt x="3423652" y="1354739"/>
                </a:lnTo>
                <a:lnTo>
                  <a:pt x="3412916" y="1309369"/>
                </a:lnTo>
                <a:lnTo>
                  <a:pt x="3400999" y="1264467"/>
                </a:lnTo>
                <a:lnTo>
                  <a:pt x="3387919" y="1220052"/>
                </a:lnTo>
                <a:lnTo>
                  <a:pt x="3373694" y="1176140"/>
                </a:lnTo>
                <a:lnTo>
                  <a:pt x="3358339" y="1132749"/>
                </a:lnTo>
                <a:lnTo>
                  <a:pt x="3341874" y="1089896"/>
                </a:lnTo>
                <a:lnTo>
                  <a:pt x="3324315" y="1047598"/>
                </a:lnTo>
                <a:lnTo>
                  <a:pt x="3305679" y="1005873"/>
                </a:lnTo>
                <a:lnTo>
                  <a:pt x="3285984" y="964738"/>
                </a:lnTo>
                <a:lnTo>
                  <a:pt x="3265248" y="924211"/>
                </a:lnTo>
                <a:lnTo>
                  <a:pt x="3243487" y="884308"/>
                </a:lnTo>
                <a:lnTo>
                  <a:pt x="3220719" y="845048"/>
                </a:lnTo>
                <a:lnTo>
                  <a:pt x="3196962" y="806447"/>
                </a:lnTo>
                <a:lnTo>
                  <a:pt x="3172232" y="768524"/>
                </a:lnTo>
                <a:lnTo>
                  <a:pt x="3146548" y="731295"/>
                </a:lnTo>
                <a:lnTo>
                  <a:pt x="3119926" y="694777"/>
                </a:lnTo>
                <a:lnTo>
                  <a:pt x="3092384" y="658989"/>
                </a:lnTo>
                <a:lnTo>
                  <a:pt x="3063939" y="623947"/>
                </a:lnTo>
                <a:lnTo>
                  <a:pt x="3034609" y="589669"/>
                </a:lnTo>
                <a:lnTo>
                  <a:pt x="3004410" y="556172"/>
                </a:lnTo>
                <a:lnTo>
                  <a:pt x="2973361" y="523474"/>
                </a:lnTo>
                <a:lnTo>
                  <a:pt x="2941479" y="491591"/>
                </a:lnTo>
                <a:lnTo>
                  <a:pt x="2908781" y="460542"/>
                </a:lnTo>
                <a:lnTo>
                  <a:pt x="2875284" y="430344"/>
                </a:lnTo>
                <a:lnTo>
                  <a:pt x="2841007" y="401014"/>
                </a:lnTo>
                <a:lnTo>
                  <a:pt x="2805965" y="372569"/>
                </a:lnTo>
                <a:lnTo>
                  <a:pt x="2770177" y="345027"/>
                </a:lnTo>
                <a:lnTo>
                  <a:pt x="2733660" y="318405"/>
                </a:lnTo>
                <a:lnTo>
                  <a:pt x="2696431" y="292720"/>
                </a:lnTo>
                <a:lnTo>
                  <a:pt x="2658507" y="267990"/>
                </a:lnTo>
                <a:lnTo>
                  <a:pt x="2619907" y="244233"/>
                </a:lnTo>
                <a:lnTo>
                  <a:pt x="2580647" y="221465"/>
                </a:lnTo>
                <a:lnTo>
                  <a:pt x="2540745" y="199704"/>
                </a:lnTo>
                <a:lnTo>
                  <a:pt x="2500218" y="178968"/>
                </a:lnTo>
                <a:lnTo>
                  <a:pt x="2459084" y="159273"/>
                </a:lnTo>
                <a:lnTo>
                  <a:pt x="2417359" y="140637"/>
                </a:lnTo>
                <a:lnTo>
                  <a:pt x="2375061" y="123078"/>
                </a:lnTo>
                <a:lnTo>
                  <a:pt x="2332209" y="106612"/>
                </a:lnTo>
                <a:lnTo>
                  <a:pt x="2288818" y="91258"/>
                </a:lnTo>
                <a:lnTo>
                  <a:pt x="2244906" y="77032"/>
                </a:lnTo>
                <a:lnTo>
                  <a:pt x="2200491" y="63952"/>
                </a:lnTo>
                <a:lnTo>
                  <a:pt x="2155590" y="52036"/>
                </a:lnTo>
                <a:lnTo>
                  <a:pt x="2110221" y="41300"/>
                </a:lnTo>
                <a:lnTo>
                  <a:pt x="2064400" y="31762"/>
                </a:lnTo>
                <a:lnTo>
                  <a:pt x="2018146" y="23439"/>
                </a:lnTo>
                <a:lnTo>
                  <a:pt x="1971475" y="16350"/>
                </a:lnTo>
                <a:lnTo>
                  <a:pt x="1924405" y="10510"/>
                </a:lnTo>
                <a:lnTo>
                  <a:pt x="1876953" y="5938"/>
                </a:lnTo>
                <a:lnTo>
                  <a:pt x="1829137" y="2650"/>
                </a:lnTo>
                <a:lnTo>
                  <a:pt x="1780974" y="665"/>
                </a:lnTo>
                <a:lnTo>
                  <a:pt x="1732481" y="0"/>
                </a:lnTo>
                <a:close/>
              </a:path>
            </a:pathLst>
          </a:custGeom>
          <a:solidFill>
            <a:srgbClr val="C0504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 name="Google Shape;42;p6"/>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vi-VN"/>
              <a:t>‹#›</a:t>
            </a:fld>
            <a:endParaRPr sz="1800">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0" y="0"/>
            <a:ext cx="9144000" cy="5141975"/>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 name="Google Shape;11;p1"/>
          <p:cNvSpPr txBox="1">
            <a:spLocks noGrp="1"/>
          </p:cNvSpPr>
          <p:nvPr>
            <p:ph type="title"/>
          </p:nvPr>
        </p:nvSpPr>
        <p:spPr>
          <a:xfrm>
            <a:off x="4092575" y="126492"/>
            <a:ext cx="1649729" cy="51308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32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body" idx="1"/>
          </p:nvPr>
        </p:nvSpPr>
        <p:spPr>
          <a:xfrm>
            <a:off x="542274" y="904747"/>
            <a:ext cx="5541010" cy="181483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24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marR="0" lvl="0" algn="ctr" rtl="0">
              <a:spcBef>
                <a:spcPts val="0"/>
              </a:spcBef>
              <a:spcAft>
                <a:spcPts val="0"/>
              </a:spcAft>
              <a:buSzPts val="1400"/>
              <a:buNone/>
              <a:defRPr sz="18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800">
                <a:solidFill>
                  <a:srgbClr val="888888"/>
                </a:solidFill>
                <a:latin typeface="Calibri"/>
                <a:ea typeface="Calibri"/>
                <a:cs typeface="Calibri"/>
                <a:sym typeface="Calibri"/>
              </a:defRPr>
            </a:lvl1pPr>
            <a:lvl2pPr marL="0" marR="0" lvl="1" indent="0" algn="r" rtl="0">
              <a:spcBef>
                <a:spcPts val="0"/>
              </a:spcBef>
              <a:buNone/>
              <a:defRPr sz="1800">
                <a:solidFill>
                  <a:srgbClr val="888888"/>
                </a:solidFill>
                <a:latin typeface="Calibri"/>
                <a:ea typeface="Calibri"/>
                <a:cs typeface="Calibri"/>
                <a:sym typeface="Calibri"/>
              </a:defRPr>
            </a:lvl2pPr>
            <a:lvl3pPr marL="0" marR="0" lvl="2" indent="0" algn="r" rtl="0">
              <a:spcBef>
                <a:spcPts val="0"/>
              </a:spcBef>
              <a:buNone/>
              <a:defRPr sz="1800">
                <a:solidFill>
                  <a:srgbClr val="888888"/>
                </a:solidFill>
                <a:latin typeface="Calibri"/>
                <a:ea typeface="Calibri"/>
                <a:cs typeface="Calibri"/>
                <a:sym typeface="Calibri"/>
              </a:defRPr>
            </a:lvl3pPr>
            <a:lvl4pPr marL="0" marR="0" lvl="3" indent="0" algn="r" rtl="0">
              <a:spcBef>
                <a:spcPts val="0"/>
              </a:spcBef>
              <a:buNone/>
              <a:defRPr sz="1800">
                <a:solidFill>
                  <a:srgbClr val="888888"/>
                </a:solidFill>
                <a:latin typeface="Calibri"/>
                <a:ea typeface="Calibri"/>
                <a:cs typeface="Calibri"/>
                <a:sym typeface="Calibri"/>
              </a:defRPr>
            </a:lvl4pPr>
            <a:lvl5pPr marL="0" marR="0" lvl="4" indent="0" algn="r" rtl="0">
              <a:spcBef>
                <a:spcPts val="0"/>
              </a:spcBef>
              <a:buNone/>
              <a:defRPr sz="1800">
                <a:solidFill>
                  <a:srgbClr val="888888"/>
                </a:solidFill>
                <a:latin typeface="Calibri"/>
                <a:ea typeface="Calibri"/>
                <a:cs typeface="Calibri"/>
                <a:sym typeface="Calibri"/>
              </a:defRPr>
            </a:lvl5pPr>
            <a:lvl6pPr marL="0" marR="0" lvl="5" indent="0" algn="r" rtl="0">
              <a:spcBef>
                <a:spcPts val="0"/>
              </a:spcBef>
              <a:buNone/>
              <a:defRPr sz="1800">
                <a:solidFill>
                  <a:srgbClr val="888888"/>
                </a:solidFill>
                <a:latin typeface="Calibri"/>
                <a:ea typeface="Calibri"/>
                <a:cs typeface="Calibri"/>
                <a:sym typeface="Calibri"/>
              </a:defRPr>
            </a:lvl6pPr>
            <a:lvl7pPr marL="0" marR="0" lvl="6" indent="0" algn="r" rtl="0">
              <a:spcBef>
                <a:spcPts val="0"/>
              </a:spcBef>
              <a:buNone/>
              <a:defRPr sz="1800">
                <a:solidFill>
                  <a:srgbClr val="888888"/>
                </a:solidFill>
                <a:latin typeface="Calibri"/>
                <a:ea typeface="Calibri"/>
                <a:cs typeface="Calibri"/>
                <a:sym typeface="Calibri"/>
              </a:defRPr>
            </a:lvl7pPr>
            <a:lvl8pPr marL="0" marR="0" lvl="7" indent="0" algn="r" rtl="0">
              <a:spcBef>
                <a:spcPts val="0"/>
              </a:spcBef>
              <a:buNone/>
              <a:defRPr sz="1800">
                <a:solidFill>
                  <a:srgbClr val="888888"/>
                </a:solidFill>
                <a:latin typeface="Calibri"/>
                <a:ea typeface="Calibri"/>
                <a:cs typeface="Calibri"/>
                <a:sym typeface="Calibri"/>
              </a:defRPr>
            </a:lvl8pPr>
            <a:lvl9pPr marL="0" marR="0" lvl="8" indent="0" algn="r" rtl="0">
              <a:spcBef>
                <a:spcPts val="0"/>
              </a:spcBef>
              <a:buNone/>
              <a:defRPr sz="18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b="0" u="none"/>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hyperlink" Target="https://www.youtube.com/watch?v=2vlCqD6igVA" TargetMode="External"/><Relationship Id="rId4" Type="http://schemas.openxmlformats.org/officeDocument/2006/relationships/hyperlink" Target="https://www.reddit.com/r/MachineLearning/comments/1lfijb4/d_future_of_recsys_in_age_of_llm/"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9"/>
        <p:cNvGrpSpPr/>
        <p:nvPr/>
      </p:nvGrpSpPr>
      <p:grpSpPr>
        <a:xfrm>
          <a:off x="0" y="0"/>
          <a:ext cx="0" cy="0"/>
          <a:chOff x="0" y="0"/>
          <a:chExt cx="0" cy="0"/>
        </a:xfrm>
      </p:grpSpPr>
      <p:sp>
        <p:nvSpPr>
          <p:cNvPr id="50" name="Google Shape;50;p7"/>
          <p:cNvSpPr/>
          <p:nvPr/>
        </p:nvSpPr>
        <p:spPr>
          <a:xfrm>
            <a:off x="0" y="-19050"/>
            <a:ext cx="9144000" cy="5142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51" name="Google Shape;51;p7"/>
          <p:cNvSpPr txBox="1">
            <a:spLocks noGrp="1"/>
          </p:cNvSpPr>
          <p:nvPr>
            <p:ph type="title"/>
          </p:nvPr>
        </p:nvSpPr>
        <p:spPr>
          <a:xfrm>
            <a:off x="446421" y="716800"/>
            <a:ext cx="8145000" cy="858548"/>
          </a:xfrm>
          <a:prstGeom prst="rect">
            <a:avLst/>
          </a:prstGeom>
          <a:noFill/>
          <a:ln>
            <a:noFill/>
          </a:ln>
        </p:spPr>
        <p:txBody>
          <a:bodyPr spcFirstLastPara="1" wrap="square" lIns="0" tIns="55225" rIns="0" bIns="0" anchor="t" anchorCtr="0">
            <a:spAutoFit/>
          </a:bodyPr>
          <a:lstStyle/>
          <a:p>
            <a:pPr marL="12700" marR="5080" lvl="0" indent="2540" algn="ctr" rtl="0">
              <a:lnSpc>
                <a:spcPct val="99700"/>
              </a:lnSpc>
              <a:spcBef>
                <a:spcPts val="540"/>
              </a:spcBef>
              <a:spcAft>
                <a:spcPts val="0"/>
              </a:spcAft>
              <a:buNone/>
            </a:pPr>
            <a:r>
              <a:rPr lang="en-US" sz="2400" b="1" dirty="0" smtClean="0">
                <a:solidFill>
                  <a:srgbClr val="FFFFFF"/>
                </a:solidFill>
              </a:rPr>
              <a:t>NGHIÊN CỨU TÍCH HỢP TRI THỨC NGỮ NGHĨA VÀ TÍN HIỆU CỘNG TÁC TRONG HỆ THỐNG TƯ VẤN</a:t>
            </a:r>
            <a:endParaRPr sz="2400" dirty="0">
              <a:latin typeface="Arial"/>
              <a:ea typeface="Arial"/>
              <a:cs typeface="Arial"/>
              <a:sym typeface="Arial"/>
            </a:endParaRPr>
          </a:p>
        </p:txBody>
      </p:sp>
      <p:pic>
        <p:nvPicPr>
          <p:cNvPr id="52" name="Google Shape;52;p7"/>
          <p:cNvPicPr preferRelativeResize="0"/>
          <p:nvPr/>
        </p:nvPicPr>
        <p:blipFill rotWithShape="1">
          <a:blip r:embed="rId4">
            <a:alphaModFix/>
          </a:blip>
          <a:srcRect/>
          <a:stretch/>
        </p:blipFill>
        <p:spPr>
          <a:xfrm>
            <a:off x="23734" y="3782921"/>
            <a:ext cx="1474120" cy="1474120"/>
          </a:xfrm>
          <a:prstGeom prst="rect">
            <a:avLst/>
          </a:prstGeom>
          <a:noFill/>
          <a:ln>
            <a:noFill/>
          </a:ln>
        </p:spPr>
      </p:pic>
      <p:sp>
        <p:nvSpPr>
          <p:cNvPr id="54" name="Google Shape;54;p7"/>
          <p:cNvSpPr txBox="1"/>
          <p:nvPr/>
        </p:nvSpPr>
        <p:spPr>
          <a:xfrm>
            <a:off x="2693617" y="2073227"/>
            <a:ext cx="7049855" cy="855983"/>
          </a:xfrm>
          <a:prstGeom prst="rect">
            <a:avLst/>
          </a:prstGeom>
          <a:noFill/>
          <a:ln>
            <a:noFill/>
          </a:ln>
        </p:spPr>
        <p:txBody>
          <a:bodyPr spcFirstLastPara="1" wrap="square" lIns="0" tIns="55225" rIns="0" bIns="0" anchor="t" anchorCtr="0">
            <a:spAutoFit/>
          </a:bodyPr>
          <a:lstStyle/>
          <a:p>
            <a:pPr marL="109220" lvl="0" algn="just">
              <a:spcBef>
                <a:spcPts val="434"/>
              </a:spcBef>
            </a:pPr>
            <a:r>
              <a:rPr lang="en-US" sz="1400" b="0" i="0" dirty="0" smtClean="0">
                <a:solidFill>
                  <a:schemeClr val="lt1"/>
                </a:solidFill>
                <a:latin typeface="Arial"/>
                <a:ea typeface="Arial"/>
                <a:cs typeface="Arial"/>
                <a:sym typeface="Arial"/>
              </a:rPr>
              <a:t>		</a:t>
            </a:r>
            <a:r>
              <a:rPr lang="vi-VN" sz="1400" b="0" i="0" dirty="0" smtClean="0">
                <a:solidFill>
                  <a:schemeClr val="lt1"/>
                </a:solidFill>
                <a:latin typeface="Arial"/>
                <a:ea typeface="Arial"/>
                <a:cs typeface="Arial"/>
                <a:sym typeface="Arial"/>
              </a:rPr>
              <a:t>Học </a:t>
            </a:r>
            <a:r>
              <a:rPr lang="vi-VN" sz="1400" b="0" i="0" dirty="0">
                <a:solidFill>
                  <a:schemeClr val="lt1"/>
                </a:solidFill>
                <a:latin typeface="Arial"/>
                <a:ea typeface="Arial"/>
                <a:cs typeface="Arial"/>
                <a:sym typeface="Arial"/>
              </a:rPr>
              <a:t>viên thực hiện: 	</a:t>
            </a:r>
            <a:r>
              <a:rPr lang="vi-VN" dirty="0" smtClean="0">
                <a:solidFill>
                  <a:schemeClr val="lt1"/>
                </a:solidFill>
              </a:rPr>
              <a:t>Bùi </a:t>
            </a:r>
            <a:r>
              <a:rPr lang="vi-VN" dirty="0">
                <a:solidFill>
                  <a:schemeClr val="lt1"/>
                </a:solidFill>
              </a:rPr>
              <a:t>Nguyên Quốc </a:t>
            </a:r>
            <a:r>
              <a:rPr lang="vi-VN" dirty="0" smtClean="0">
                <a:solidFill>
                  <a:schemeClr val="lt1"/>
                </a:solidFill>
              </a:rPr>
              <a:t>Bảo</a:t>
            </a:r>
            <a:endParaRPr lang="en-US" dirty="0" smtClean="0">
              <a:solidFill>
                <a:schemeClr val="lt1"/>
              </a:solidFill>
            </a:endParaRPr>
          </a:p>
          <a:p>
            <a:pPr marL="109220" lvl="0" algn="just">
              <a:spcBef>
                <a:spcPts val="434"/>
              </a:spcBef>
            </a:pPr>
            <a:r>
              <a:rPr lang="en-US" dirty="0">
                <a:solidFill>
                  <a:schemeClr val="lt1"/>
                </a:solidFill>
              </a:rPr>
              <a:t>	</a:t>
            </a:r>
            <a:r>
              <a:rPr lang="en-US" dirty="0" smtClean="0">
                <a:solidFill>
                  <a:schemeClr val="lt1"/>
                </a:solidFill>
              </a:rPr>
              <a:t>	MSHV:		24C12002</a:t>
            </a:r>
          </a:p>
          <a:p>
            <a:pPr marL="109220" lvl="0" algn="just">
              <a:spcBef>
                <a:spcPts val="434"/>
              </a:spcBef>
            </a:pPr>
            <a:r>
              <a:rPr lang="en-US" dirty="0">
                <a:solidFill>
                  <a:schemeClr val="lt1"/>
                </a:solidFill>
              </a:rPr>
              <a:t>	</a:t>
            </a:r>
            <a:r>
              <a:rPr lang="en-US" dirty="0" smtClean="0">
                <a:solidFill>
                  <a:schemeClr val="lt1"/>
                </a:solidFill>
              </a:rPr>
              <a:t>	</a:t>
            </a:r>
            <a:r>
              <a:rPr lang="en-US" dirty="0" err="1" smtClean="0">
                <a:solidFill>
                  <a:schemeClr val="lt1"/>
                </a:solidFill>
              </a:rPr>
              <a:t>Ngành</a:t>
            </a:r>
            <a:r>
              <a:rPr lang="en-US" dirty="0" smtClean="0">
                <a:solidFill>
                  <a:schemeClr val="lt1"/>
                </a:solidFill>
              </a:rPr>
              <a:t> </a:t>
            </a:r>
            <a:r>
              <a:rPr lang="en-US" dirty="0" err="1" smtClean="0">
                <a:solidFill>
                  <a:schemeClr val="lt1"/>
                </a:solidFill>
              </a:rPr>
              <a:t>đào</a:t>
            </a:r>
            <a:r>
              <a:rPr lang="en-US" dirty="0" smtClean="0">
                <a:solidFill>
                  <a:schemeClr val="lt1"/>
                </a:solidFill>
              </a:rPr>
              <a:t> </a:t>
            </a:r>
            <a:r>
              <a:rPr lang="en-US" dirty="0" err="1" smtClean="0">
                <a:solidFill>
                  <a:schemeClr val="lt1"/>
                </a:solidFill>
              </a:rPr>
              <a:t>tạo</a:t>
            </a:r>
            <a:r>
              <a:rPr lang="en-US" dirty="0" smtClean="0">
                <a:solidFill>
                  <a:schemeClr val="lt1"/>
                </a:solidFill>
              </a:rPr>
              <a:t>:	</a:t>
            </a:r>
            <a:r>
              <a:rPr lang="en-US" dirty="0" err="1" smtClean="0">
                <a:solidFill>
                  <a:schemeClr val="lt1"/>
                </a:solidFill>
              </a:rPr>
              <a:t>Hệ</a:t>
            </a:r>
            <a:r>
              <a:rPr lang="en-US" dirty="0" smtClean="0">
                <a:solidFill>
                  <a:schemeClr val="lt1"/>
                </a:solidFill>
              </a:rPr>
              <a:t> </a:t>
            </a:r>
            <a:r>
              <a:rPr lang="en-US" dirty="0" err="1">
                <a:solidFill>
                  <a:schemeClr val="lt1"/>
                </a:solidFill>
              </a:rPr>
              <a:t>T</a:t>
            </a:r>
            <a:r>
              <a:rPr lang="en-US" dirty="0" err="1" smtClean="0">
                <a:solidFill>
                  <a:schemeClr val="lt1"/>
                </a:solidFill>
              </a:rPr>
              <a:t>hống</a:t>
            </a:r>
            <a:r>
              <a:rPr lang="en-US" dirty="0" smtClean="0">
                <a:solidFill>
                  <a:schemeClr val="lt1"/>
                </a:solidFill>
              </a:rPr>
              <a:t> </a:t>
            </a:r>
            <a:r>
              <a:rPr lang="en-US" dirty="0" err="1">
                <a:solidFill>
                  <a:schemeClr val="lt1"/>
                </a:solidFill>
              </a:rPr>
              <a:t>T</a:t>
            </a:r>
            <a:r>
              <a:rPr lang="en-US" dirty="0" err="1" smtClean="0">
                <a:solidFill>
                  <a:schemeClr val="lt1"/>
                </a:solidFill>
              </a:rPr>
              <a:t>hông</a:t>
            </a:r>
            <a:r>
              <a:rPr lang="en-US" dirty="0" smtClean="0">
                <a:solidFill>
                  <a:schemeClr val="lt1"/>
                </a:solidFill>
              </a:rPr>
              <a:t> Tin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8"/>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vi-VN" sz="2800" dirty="0"/>
              <a:t>Nội dung</a:t>
            </a:r>
            <a:endParaRPr dirty="0"/>
          </a:p>
        </p:txBody>
      </p:sp>
      <p:sp>
        <p:nvSpPr>
          <p:cNvPr id="60" name="Google Shape;60;p8"/>
          <p:cNvSpPr txBox="1"/>
          <p:nvPr/>
        </p:nvSpPr>
        <p:spPr>
          <a:xfrm>
            <a:off x="914400" y="971550"/>
            <a:ext cx="7086600" cy="2054409"/>
          </a:xfrm>
          <a:prstGeom prst="rect">
            <a:avLst/>
          </a:prstGeom>
          <a:noFill/>
          <a:ln>
            <a:noFill/>
          </a:ln>
        </p:spPr>
        <p:txBody>
          <a:bodyPr spcFirstLastPara="1" wrap="square" lIns="0" tIns="152400" rIns="0" bIns="0" anchor="t" anchorCtr="0">
            <a:spAutoFit/>
          </a:bodyPr>
          <a:lstStyle/>
          <a:p>
            <a:pPr marL="360045" marR="0" lvl="0" indent="-347345" algn="l" rtl="0">
              <a:lnSpc>
                <a:spcPct val="100000"/>
              </a:lnSpc>
              <a:spcBef>
                <a:spcPts val="0"/>
              </a:spcBef>
              <a:spcAft>
                <a:spcPts val="0"/>
              </a:spcAft>
              <a:buClr>
                <a:srgbClr val="F79646"/>
              </a:buClr>
              <a:buSzPts val="2400"/>
              <a:buFont typeface="Arial"/>
              <a:buChar char="❖"/>
            </a:pPr>
            <a:r>
              <a:rPr lang="vi-VN" sz="2400" dirty="0">
                <a:solidFill>
                  <a:schemeClr val="dk1"/>
                </a:solidFill>
                <a:latin typeface="Arial"/>
                <a:ea typeface="Arial"/>
                <a:cs typeface="Arial"/>
                <a:sym typeface="Arial"/>
              </a:rPr>
              <a:t>Giới thiệu </a:t>
            </a:r>
            <a:r>
              <a:rPr lang="en-US" sz="2400" dirty="0" err="1" smtClean="0">
                <a:solidFill>
                  <a:schemeClr val="dk1"/>
                </a:solidFill>
                <a:latin typeface="Arial"/>
                <a:ea typeface="Arial"/>
                <a:cs typeface="Arial"/>
                <a:sym typeface="Arial"/>
              </a:rPr>
              <a:t>tổng</a:t>
            </a:r>
            <a:r>
              <a:rPr lang="en-US" sz="2400" dirty="0" smtClean="0">
                <a:solidFill>
                  <a:schemeClr val="dk1"/>
                </a:solidFill>
                <a:latin typeface="Arial"/>
                <a:ea typeface="Arial"/>
                <a:cs typeface="Arial"/>
                <a:sym typeface="Arial"/>
              </a:rPr>
              <a:t> </a:t>
            </a:r>
            <a:r>
              <a:rPr lang="en-US" sz="2400" dirty="0" err="1" smtClean="0">
                <a:solidFill>
                  <a:schemeClr val="dk1"/>
                </a:solidFill>
                <a:latin typeface="Arial"/>
                <a:ea typeface="Arial"/>
                <a:cs typeface="Arial"/>
                <a:sym typeface="Arial"/>
              </a:rPr>
              <a:t>quan</a:t>
            </a:r>
            <a:endParaRPr sz="2400" dirty="0">
              <a:solidFill>
                <a:schemeClr val="dk1"/>
              </a:solidFill>
              <a:latin typeface="Arial"/>
              <a:ea typeface="Arial"/>
              <a:cs typeface="Arial"/>
              <a:sym typeface="Arial"/>
            </a:endParaRPr>
          </a:p>
          <a:p>
            <a:pPr marL="360045" lvl="0" indent="-347345">
              <a:spcBef>
                <a:spcPts val="1130"/>
              </a:spcBef>
              <a:buClr>
                <a:srgbClr val="F79646"/>
              </a:buClr>
              <a:buSzPts val="2400"/>
              <a:buFont typeface="Arial"/>
              <a:buChar char="❖"/>
            </a:pPr>
            <a:r>
              <a:rPr lang="en-US" sz="2400" dirty="0" smtClean="0">
                <a:solidFill>
                  <a:schemeClr val="dk1"/>
                </a:solidFill>
              </a:rPr>
              <a:t>Các </a:t>
            </a:r>
            <a:r>
              <a:rPr lang="en-US" sz="2400" dirty="0" err="1" smtClean="0">
                <a:solidFill>
                  <a:schemeClr val="dk1"/>
                </a:solidFill>
              </a:rPr>
              <a:t>nghiên</a:t>
            </a:r>
            <a:r>
              <a:rPr lang="en-US" sz="2400" dirty="0" smtClean="0">
                <a:solidFill>
                  <a:schemeClr val="dk1"/>
                </a:solidFill>
              </a:rPr>
              <a:t> </a:t>
            </a:r>
            <a:r>
              <a:rPr lang="en-US" sz="2400" dirty="0" err="1" smtClean="0">
                <a:solidFill>
                  <a:schemeClr val="dk1"/>
                </a:solidFill>
              </a:rPr>
              <a:t>cứu</a:t>
            </a:r>
            <a:r>
              <a:rPr lang="en-US" sz="2400" dirty="0" smtClean="0">
                <a:solidFill>
                  <a:schemeClr val="dk1"/>
                </a:solidFill>
              </a:rPr>
              <a:t> </a:t>
            </a:r>
            <a:r>
              <a:rPr lang="en-US" sz="2400" dirty="0" err="1" smtClean="0">
                <a:solidFill>
                  <a:schemeClr val="dk1"/>
                </a:solidFill>
              </a:rPr>
              <a:t>liên</a:t>
            </a:r>
            <a:r>
              <a:rPr lang="en-US" sz="2400" dirty="0" smtClean="0">
                <a:solidFill>
                  <a:schemeClr val="dk1"/>
                </a:solidFill>
              </a:rPr>
              <a:t> </a:t>
            </a:r>
            <a:r>
              <a:rPr lang="en-US" sz="2400" dirty="0" err="1" smtClean="0">
                <a:solidFill>
                  <a:schemeClr val="dk1"/>
                </a:solidFill>
              </a:rPr>
              <a:t>quan</a:t>
            </a:r>
            <a:endParaRPr lang="en-US" sz="2400" dirty="0" smtClean="0">
              <a:solidFill>
                <a:schemeClr val="dk1"/>
              </a:solidFill>
            </a:endParaRPr>
          </a:p>
          <a:p>
            <a:pPr marL="360045" lvl="0" indent="-347345">
              <a:spcBef>
                <a:spcPts val="1130"/>
              </a:spcBef>
              <a:buClr>
                <a:srgbClr val="F79646"/>
              </a:buClr>
              <a:buSzPts val="2400"/>
              <a:buFont typeface="Arial"/>
              <a:buChar char="❖"/>
            </a:pPr>
            <a:r>
              <a:rPr lang="en-US" sz="2400" dirty="0" err="1" smtClean="0">
                <a:solidFill>
                  <a:schemeClr val="dk1"/>
                </a:solidFill>
              </a:rPr>
              <a:t>Mục</a:t>
            </a:r>
            <a:r>
              <a:rPr lang="en-US" sz="2400" dirty="0" smtClean="0">
                <a:solidFill>
                  <a:schemeClr val="dk1"/>
                </a:solidFill>
              </a:rPr>
              <a:t> </a:t>
            </a:r>
            <a:r>
              <a:rPr lang="en-US" sz="2400" dirty="0" err="1">
                <a:solidFill>
                  <a:schemeClr val="dk1"/>
                </a:solidFill>
              </a:rPr>
              <a:t>tiêu</a:t>
            </a:r>
            <a:r>
              <a:rPr lang="en-US" sz="2400" dirty="0">
                <a:solidFill>
                  <a:schemeClr val="dk1"/>
                </a:solidFill>
              </a:rPr>
              <a:t>, </a:t>
            </a:r>
            <a:r>
              <a:rPr lang="en-US" sz="2400" dirty="0" err="1">
                <a:solidFill>
                  <a:schemeClr val="dk1"/>
                </a:solidFill>
              </a:rPr>
              <a:t>đối</a:t>
            </a:r>
            <a:r>
              <a:rPr lang="en-US" sz="2400" dirty="0">
                <a:solidFill>
                  <a:schemeClr val="dk1"/>
                </a:solidFill>
              </a:rPr>
              <a:t> </a:t>
            </a:r>
            <a:r>
              <a:rPr lang="en-US" sz="2400" dirty="0" err="1" smtClean="0">
                <a:solidFill>
                  <a:schemeClr val="dk1"/>
                </a:solidFill>
              </a:rPr>
              <a:t>tượng</a:t>
            </a:r>
            <a:r>
              <a:rPr lang="en-US" sz="2400" dirty="0" smtClean="0">
                <a:solidFill>
                  <a:schemeClr val="dk1"/>
                </a:solidFill>
              </a:rPr>
              <a:t> </a:t>
            </a:r>
            <a:r>
              <a:rPr lang="en-US" sz="2400" dirty="0" err="1" smtClean="0">
                <a:solidFill>
                  <a:schemeClr val="dk1"/>
                </a:solidFill>
              </a:rPr>
              <a:t>nghiên</a:t>
            </a:r>
            <a:r>
              <a:rPr lang="en-US" sz="2400" dirty="0" smtClean="0">
                <a:solidFill>
                  <a:schemeClr val="dk1"/>
                </a:solidFill>
              </a:rPr>
              <a:t> </a:t>
            </a:r>
            <a:r>
              <a:rPr lang="en-US" sz="2400" dirty="0" err="1">
                <a:solidFill>
                  <a:schemeClr val="dk1"/>
                </a:solidFill>
              </a:rPr>
              <a:t>cứu</a:t>
            </a:r>
            <a:endParaRPr lang="en-US" sz="2400" dirty="0">
              <a:solidFill>
                <a:schemeClr val="dk1"/>
              </a:solidFill>
            </a:endParaRPr>
          </a:p>
          <a:p>
            <a:pPr marL="360045" marR="0" lvl="0" indent="-347345" algn="l" rtl="0">
              <a:lnSpc>
                <a:spcPct val="100000"/>
              </a:lnSpc>
              <a:spcBef>
                <a:spcPts val="1130"/>
              </a:spcBef>
              <a:spcAft>
                <a:spcPts val="0"/>
              </a:spcAft>
              <a:buClr>
                <a:srgbClr val="F79646"/>
              </a:buClr>
              <a:buSzPts val="2400"/>
              <a:buFont typeface="Arial"/>
              <a:buChar char="❖"/>
            </a:pPr>
            <a:r>
              <a:rPr lang="en-US" sz="2400" dirty="0" err="1" smtClean="0">
                <a:solidFill>
                  <a:schemeClr val="dk1"/>
                </a:solidFill>
              </a:rPr>
              <a:t>Kế</a:t>
            </a:r>
            <a:r>
              <a:rPr lang="en-US" sz="2400" dirty="0" smtClean="0">
                <a:solidFill>
                  <a:schemeClr val="dk1"/>
                </a:solidFill>
              </a:rPr>
              <a:t> </a:t>
            </a:r>
            <a:r>
              <a:rPr lang="en-US" sz="2400" dirty="0" err="1" smtClean="0">
                <a:solidFill>
                  <a:schemeClr val="dk1"/>
                </a:solidFill>
              </a:rPr>
              <a:t>hoạch</a:t>
            </a:r>
            <a:r>
              <a:rPr lang="en-US" sz="2400" dirty="0" smtClean="0">
                <a:solidFill>
                  <a:schemeClr val="dk1"/>
                </a:solidFill>
              </a:rPr>
              <a:t> </a:t>
            </a:r>
            <a:r>
              <a:rPr lang="en-US" sz="2400" dirty="0" err="1" smtClean="0">
                <a:solidFill>
                  <a:schemeClr val="dk1"/>
                </a:solidFill>
              </a:rPr>
              <a:t>thực</a:t>
            </a:r>
            <a:r>
              <a:rPr lang="en-US" sz="2400" dirty="0" smtClean="0">
                <a:solidFill>
                  <a:schemeClr val="dk1"/>
                </a:solidFill>
              </a:rPr>
              <a:t> </a:t>
            </a:r>
            <a:r>
              <a:rPr lang="en-US" sz="2400" dirty="0" err="1" smtClean="0">
                <a:solidFill>
                  <a:schemeClr val="dk1"/>
                </a:solidFill>
              </a:rPr>
              <a:t>hiện</a:t>
            </a:r>
            <a:endParaRPr sz="2400" dirty="0">
              <a:solidFill>
                <a:schemeClr val="dk1"/>
              </a:solidFill>
            </a:endParaRPr>
          </a:p>
        </p:txBody>
      </p:sp>
      <p:sp>
        <p:nvSpPr>
          <p:cNvPr id="61" name="Google Shape;61;p8"/>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5" name="TextBox 4"/>
          <p:cNvSpPr txBox="1"/>
          <p:nvPr/>
        </p:nvSpPr>
        <p:spPr>
          <a:xfrm>
            <a:off x="1955800" y="1911350"/>
            <a:ext cx="5156200" cy="1015663"/>
          </a:xfrm>
          <a:prstGeom prst="rect">
            <a:avLst/>
          </a:prstGeom>
          <a:noFill/>
        </p:spPr>
        <p:txBody>
          <a:bodyPr wrap="square" rtlCol="0">
            <a:spAutoFit/>
          </a:bodyPr>
          <a:lstStyle/>
          <a:p>
            <a:pPr algn="ctr"/>
            <a:r>
              <a:rPr lang="en-US" sz="6000" b="1" dirty="0" smtClean="0">
                <a:solidFill>
                  <a:srgbClr val="0070C0"/>
                </a:solidFill>
              </a:rPr>
              <a:t>GIỚI THIỆU</a:t>
            </a:r>
            <a:endParaRPr lang="en-US" sz="6000" dirty="0">
              <a:solidFill>
                <a:srgbClr val="0070C0"/>
              </a:solidFill>
            </a:endParaRPr>
          </a:p>
        </p:txBody>
      </p:sp>
    </p:spTree>
    <p:extLst>
      <p:ext uri="{BB962C8B-B14F-4D97-AF65-F5344CB8AC3E}">
        <p14:creationId xmlns:p14="http://schemas.microsoft.com/office/powerpoint/2010/main" val="2167345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GIỚI THIỆU TỔNG QUAN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Bối</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cảnh</a:t>
            </a:r>
            <a:r>
              <a:rPr lang="en-US" sz="2000" dirty="0" smtClean="0">
                <a:solidFill>
                  <a:schemeClr val="tx1">
                    <a:lumMod val="50000"/>
                    <a:lumOff val="50000"/>
                  </a:schemeClr>
                </a:solidFill>
              </a:rPr>
              <a:t> và </a:t>
            </a:r>
            <a:r>
              <a:rPr lang="en-US" sz="2000" dirty="0" err="1" smtClean="0">
                <a:solidFill>
                  <a:schemeClr val="tx1">
                    <a:lumMod val="50000"/>
                    <a:lumOff val="50000"/>
                  </a:schemeClr>
                </a:solidFill>
              </a:rPr>
              <a:t>động</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lực</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nghiên</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cứu</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5291722"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Tổng</a:t>
            </a:r>
            <a:r>
              <a:rPr lang="en-US" sz="2400" dirty="0" smtClean="0">
                <a:solidFill>
                  <a:schemeClr val="tx1"/>
                </a:solidFill>
              </a:rPr>
              <a:t> </a:t>
            </a:r>
            <a:r>
              <a:rPr lang="en-US" sz="2400" dirty="0" err="1" smtClean="0">
                <a:solidFill>
                  <a:schemeClr val="tx1"/>
                </a:solidFill>
              </a:rPr>
              <a:t>quan</a:t>
            </a:r>
            <a:r>
              <a:rPr lang="en-US" sz="2400" dirty="0" smtClean="0">
                <a:solidFill>
                  <a:schemeClr val="tx1"/>
                </a:solidFill>
              </a:rPr>
              <a:t> </a:t>
            </a:r>
            <a:r>
              <a:rPr lang="en-US" sz="2400" dirty="0" err="1" smtClean="0">
                <a:solidFill>
                  <a:schemeClr val="tx1"/>
                </a:solidFill>
              </a:rPr>
              <a:t>RecSys</a:t>
            </a:r>
            <a:r>
              <a:rPr lang="en-US" sz="2400" dirty="0" smtClean="0">
                <a:solidFill>
                  <a:schemeClr val="tx1"/>
                </a:solidFill>
              </a:rPr>
              <a:t> và LLMs</a:t>
            </a:r>
            <a:endParaRPr lang="vi-VN" sz="2400" dirty="0">
              <a:solidFill>
                <a:schemeClr val="tx1"/>
              </a:solidFill>
            </a:endParaRPr>
          </a:p>
        </p:txBody>
      </p:sp>
      <p:pic>
        <p:nvPicPr>
          <p:cNvPr id="2" name="Picture 1"/>
          <p:cNvPicPr>
            <a:picLocks noChangeAspect="1"/>
          </p:cNvPicPr>
          <p:nvPr/>
        </p:nvPicPr>
        <p:blipFill>
          <a:blip r:embed="rId3"/>
          <a:stretch>
            <a:fillRect/>
          </a:stretch>
        </p:blipFill>
        <p:spPr>
          <a:xfrm>
            <a:off x="270866" y="1856170"/>
            <a:ext cx="4310759" cy="2227085"/>
          </a:xfrm>
          <a:prstGeom prst="rect">
            <a:avLst/>
          </a:prstGeom>
        </p:spPr>
      </p:pic>
      <p:sp>
        <p:nvSpPr>
          <p:cNvPr id="6" name="TextBox 5"/>
          <p:cNvSpPr txBox="1"/>
          <p:nvPr/>
        </p:nvSpPr>
        <p:spPr>
          <a:xfrm>
            <a:off x="1185557" y="4083255"/>
            <a:ext cx="6936514" cy="1015663"/>
          </a:xfrm>
          <a:prstGeom prst="rect">
            <a:avLst/>
          </a:prstGeom>
          <a:noFill/>
        </p:spPr>
        <p:txBody>
          <a:bodyPr wrap="none" rtlCol="0">
            <a:spAutoFit/>
          </a:bodyPr>
          <a:lstStyle/>
          <a:p>
            <a:pPr lvl="0" algn="ctr"/>
            <a:r>
              <a:rPr lang="en-US" sz="1000" dirty="0" smtClean="0"/>
              <a:t>Hình: Chủ </a:t>
            </a:r>
            <a:r>
              <a:rPr lang="en-US" sz="1000" dirty="0" err="1" smtClean="0"/>
              <a:t>đề</a:t>
            </a:r>
            <a:r>
              <a:rPr lang="en-US" sz="1000" dirty="0"/>
              <a:t> về Future of </a:t>
            </a:r>
            <a:r>
              <a:rPr lang="en-US" sz="1000" dirty="0" err="1"/>
              <a:t>RecSys</a:t>
            </a:r>
            <a:r>
              <a:rPr lang="en-US" sz="1000" dirty="0"/>
              <a:t> in the age of </a:t>
            </a:r>
            <a:r>
              <a:rPr lang="en-US" sz="1000" dirty="0" smtClean="0"/>
              <a:t>LLM</a:t>
            </a:r>
            <a:br>
              <a:rPr lang="en-US" sz="1000" dirty="0" smtClean="0"/>
            </a:br>
            <a:r>
              <a:rPr lang="en-US" sz="1000" dirty="0" smtClean="0"/>
              <a:t>được </a:t>
            </a:r>
            <a:r>
              <a:rPr lang="en-US" sz="1000" dirty="0" err="1" smtClean="0"/>
              <a:t>thảo</a:t>
            </a:r>
            <a:r>
              <a:rPr lang="en-US" sz="1000" dirty="0" smtClean="0"/>
              <a:t> </a:t>
            </a:r>
            <a:r>
              <a:rPr lang="en-US" sz="1000" dirty="0" err="1" smtClean="0"/>
              <a:t>luận</a:t>
            </a:r>
            <a:r>
              <a:rPr lang="en-US" sz="1000" dirty="0" smtClean="0"/>
              <a:t> </a:t>
            </a:r>
            <a:r>
              <a:rPr lang="en-US" sz="1000" dirty="0" err="1" smtClean="0"/>
              <a:t>sôi</a:t>
            </a:r>
            <a:r>
              <a:rPr lang="en-US" sz="1000" dirty="0" smtClean="0"/>
              <a:t> </a:t>
            </a:r>
            <a:r>
              <a:rPr lang="en-US" sz="1000" dirty="0" err="1" smtClean="0"/>
              <a:t>nổi</a:t>
            </a:r>
            <a:r>
              <a:rPr lang="en-US" sz="1000" dirty="0" smtClean="0"/>
              <a:t> trên các </a:t>
            </a:r>
            <a:r>
              <a:rPr lang="en-US" sz="1000" dirty="0" err="1" smtClean="0"/>
              <a:t>diễn</a:t>
            </a:r>
            <a:r>
              <a:rPr lang="en-US" sz="1000" dirty="0" smtClean="0"/>
              <a:t> </a:t>
            </a:r>
            <a:r>
              <a:rPr lang="en-US" sz="1000" dirty="0" err="1" smtClean="0"/>
              <a:t>đàn</a:t>
            </a:r>
            <a:r>
              <a:rPr lang="en-US" sz="1000" dirty="0" smtClean="0"/>
              <a:t> và các </a:t>
            </a:r>
            <a:r>
              <a:rPr lang="en-US" sz="1000" dirty="0" err="1" smtClean="0"/>
              <a:t>hội</a:t>
            </a:r>
            <a:r>
              <a:rPr lang="en-US" sz="1000" dirty="0" smtClean="0"/>
              <a:t> </a:t>
            </a:r>
            <a:r>
              <a:rPr lang="en-US" sz="1000" dirty="0" err="1" smtClean="0"/>
              <a:t>nghị</a:t>
            </a:r>
            <a:r>
              <a:rPr lang="en-US" sz="1000" dirty="0" smtClean="0"/>
              <a:t> </a:t>
            </a:r>
            <a:r>
              <a:rPr lang="en-US" sz="1000" dirty="0" err="1" smtClean="0"/>
              <a:t>khác</a:t>
            </a:r>
            <a:r>
              <a:rPr lang="en-US" sz="1000" dirty="0" smtClean="0"/>
              <a:t> </a:t>
            </a:r>
            <a:r>
              <a:rPr lang="en-US" sz="1000" dirty="0" err="1" smtClean="0"/>
              <a:t>nhau</a:t>
            </a:r>
            <a:r>
              <a:rPr lang="en-US" sz="1000" dirty="0" smtClean="0"/>
              <a:t/>
            </a:r>
            <a:br>
              <a:rPr lang="en-US" sz="1000" dirty="0" smtClean="0"/>
            </a:br>
            <a:r>
              <a:rPr lang="en-US" sz="1000" dirty="0">
                <a:hlinkClick r:id="rId4"/>
              </a:rPr>
              <a:t>[D] Future of </a:t>
            </a:r>
            <a:r>
              <a:rPr lang="en-US" sz="1000" dirty="0" err="1">
                <a:hlinkClick r:id="rId4"/>
              </a:rPr>
              <a:t>RecSys</a:t>
            </a:r>
            <a:r>
              <a:rPr lang="en-US" sz="1000" dirty="0">
                <a:hlinkClick r:id="rId4"/>
              </a:rPr>
              <a:t> in age of LLM : r/</a:t>
            </a:r>
            <a:r>
              <a:rPr lang="en-US" sz="1000" dirty="0" err="1">
                <a:hlinkClick r:id="rId4"/>
              </a:rPr>
              <a:t>MachineLearning</a:t>
            </a:r>
            <a:r>
              <a:rPr lang="en-US" sz="1000" dirty="0"/>
              <a:t/>
            </a:r>
            <a:br>
              <a:rPr lang="en-US" sz="1000" dirty="0"/>
            </a:br>
            <a:r>
              <a:rPr lang="en-US" sz="1000" dirty="0" err="1">
                <a:hlinkClick r:id="rId5"/>
              </a:rPr>
              <a:t>Recsys</a:t>
            </a:r>
            <a:r>
              <a:rPr lang="en-US" sz="1000" dirty="0">
                <a:hlinkClick r:id="rId5"/>
              </a:rPr>
              <a:t> Keynote: Improving Recommendation Systems &amp; Search in the Age of LLMs - Eugene Yan, Amazon - YouTube</a:t>
            </a:r>
            <a:endParaRPr lang="en-US" sz="1000" dirty="0"/>
          </a:p>
          <a:p>
            <a:pPr algn="ctr"/>
            <a:r>
              <a:rPr lang="en-US" sz="1000" dirty="0" smtClean="0"/>
              <a:t/>
            </a:r>
            <a:br>
              <a:rPr lang="en-US" sz="1000" dirty="0" smtClean="0"/>
            </a:br>
            <a:endParaRPr lang="en-US" sz="1000" dirty="0"/>
          </a:p>
        </p:txBody>
      </p:sp>
      <p:pic>
        <p:nvPicPr>
          <p:cNvPr id="7" name="Picture 6"/>
          <p:cNvPicPr>
            <a:picLocks noChangeAspect="1"/>
          </p:cNvPicPr>
          <p:nvPr/>
        </p:nvPicPr>
        <p:blipFill>
          <a:blip r:embed="rId6"/>
          <a:stretch>
            <a:fillRect/>
          </a:stretch>
        </p:blipFill>
        <p:spPr>
          <a:xfrm>
            <a:off x="4726003" y="1856170"/>
            <a:ext cx="4198219" cy="2216614"/>
          </a:xfrm>
          <a:prstGeom prst="rect">
            <a:avLst/>
          </a:prstGeom>
        </p:spPr>
      </p:pic>
    </p:spTree>
    <p:extLst>
      <p:ext uri="{BB962C8B-B14F-4D97-AF65-F5344CB8AC3E}">
        <p14:creationId xmlns:p14="http://schemas.microsoft.com/office/powerpoint/2010/main" val="3590865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GIỚI THIỆU TỔNG QUAN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Bối</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cảnh</a:t>
            </a:r>
            <a:r>
              <a:rPr lang="en-US" sz="2000" dirty="0" smtClean="0">
                <a:solidFill>
                  <a:schemeClr val="tx1">
                    <a:lumMod val="50000"/>
                    <a:lumOff val="50000"/>
                  </a:schemeClr>
                </a:solidFill>
              </a:rPr>
              <a:t> và </a:t>
            </a:r>
            <a:r>
              <a:rPr lang="en-US" sz="2000" dirty="0" err="1" smtClean="0">
                <a:solidFill>
                  <a:schemeClr val="tx1">
                    <a:lumMod val="50000"/>
                    <a:lumOff val="50000"/>
                  </a:schemeClr>
                </a:solidFill>
              </a:rPr>
              <a:t>động</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lực</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nghiên</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cứu</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5291722"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Tổng</a:t>
            </a:r>
            <a:r>
              <a:rPr lang="en-US" sz="2400" dirty="0" smtClean="0">
                <a:solidFill>
                  <a:schemeClr val="tx1"/>
                </a:solidFill>
              </a:rPr>
              <a:t> </a:t>
            </a:r>
            <a:r>
              <a:rPr lang="en-US" sz="2400" dirty="0" err="1" smtClean="0">
                <a:solidFill>
                  <a:schemeClr val="tx1"/>
                </a:solidFill>
              </a:rPr>
              <a:t>quan</a:t>
            </a:r>
            <a:r>
              <a:rPr lang="en-US" sz="2400" dirty="0" smtClean="0">
                <a:solidFill>
                  <a:schemeClr val="tx1"/>
                </a:solidFill>
              </a:rPr>
              <a:t> </a:t>
            </a:r>
            <a:r>
              <a:rPr lang="en-US" sz="2400" dirty="0" err="1" smtClean="0">
                <a:solidFill>
                  <a:schemeClr val="tx1"/>
                </a:solidFill>
              </a:rPr>
              <a:t>RecSys</a:t>
            </a:r>
            <a:r>
              <a:rPr lang="en-US" sz="2400" dirty="0" smtClean="0">
                <a:solidFill>
                  <a:schemeClr val="tx1"/>
                </a:solidFill>
              </a:rPr>
              <a:t> và LLMs</a:t>
            </a:r>
            <a:endParaRPr lang="vi-VN" sz="2400" dirty="0">
              <a:solidFill>
                <a:schemeClr val="tx1"/>
              </a:solidFill>
            </a:endParaRPr>
          </a:p>
        </p:txBody>
      </p:sp>
      <p:pic>
        <p:nvPicPr>
          <p:cNvPr id="3" name="Picture 2"/>
          <p:cNvPicPr>
            <a:picLocks noChangeAspect="1"/>
          </p:cNvPicPr>
          <p:nvPr/>
        </p:nvPicPr>
        <p:blipFill>
          <a:blip r:embed="rId3"/>
          <a:stretch>
            <a:fillRect/>
          </a:stretch>
        </p:blipFill>
        <p:spPr>
          <a:xfrm>
            <a:off x="1200519" y="1911398"/>
            <a:ext cx="962159" cy="628738"/>
          </a:xfrm>
          <a:prstGeom prst="rect">
            <a:avLst/>
          </a:prstGeom>
        </p:spPr>
      </p:pic>
      <p:pic>
        <p:nvPicPr>
          <p:cNvPr id="4" name="Picture 3"/>
          <p:cNvPicPr>
            <a:picLocks noChangeAspect="1"/>
          </p:cNvPicPr>
          <p:nvPr/>
        </p:nvPicPr>
        <p:blipFill>
          <a:blip r:embed="rId4"/>
          <a:stretch>
            <a:fillRect/>
          </a:stretch>
        </p:blipFill>
        <p:spPr>
          <a:xfrm>
            <a:off x="4109973" y="1868529"/>
            <a:ext cx="924054" cy="714475"/>
          </a:xfrm>
          <a:prstGeom prst="rect">
            <a:avLst/>
          </a:prstGeom>
        </p:spPr>
      </p:pic>
      <p:pic>
        <p:nvPicPr>
          <p:cNvPr id="5" name="Picture 4"/>
          <p:cNvPicPr>
            <a:picLocks noChangeAspect="1"/>
          </p:cNvPicPr>
          <p:nvPr/>
        </p:nvPicPr>
        <p:blipFill>
          <a:blip r:embed="rId5"/>
          <a:stretch>
            <a:fillRect/>
          </a:stretch>
        </p:blipFill>
        <p:spPr>
          <a:xfrm>
            <a:off x="7077398" y="1911398"/>
            <a:ext cx="647700" cy="704850"/>
          </a:xfrm>
          <a:prstGeom prst="rect">
            <a:avLst/>
          </a:prstGeom>
        </p:spPr>
      </p:pic>
      <p:sp>
        <p:nvSpPr>
          <p:cNvPr id="14" name="TextBox 13"/>
          <p:cNvSpPr txBox="1"/>
          <p:nvPr/>
        </p:nvSpPr>
        <p:spPr>
          <a:xfrm>
            <a:off x="647641" y="2838815"/>
            <a:ext cx="2067914" cy="1600438"/>
          </a:xfrm>
          <a:prstGeom prst="rect">
            <a:avLst/>
          </a:prstGeom>
          <a:noFill/>
        </p:spPr>
        <p:txBody>
          <a:bodyPr wrap="square" rtlCol="0">
            <a:spAutoFit/>
          </a:bodyPr>
          <a:lstStyle/>
          <a:p>
            <a:pPr algn="ctr"/>
            <a:r>
              <a:rPr lang="en-US" b="1" dirty="0" err="1" smtClean="0"/>
              <a:t>Vai</a:t>
            </a:r>
            <a:r>
              <a:rPr lang="en-US" b="1" dirty="0" smtClean="0"/>
              <a:t> </a:t>
            </a:r>
            <a:r>
              <a:rPr lang="en-US" b="1" dirty="0" err="1" smtClean="0"/>
              <a:t>trò</a:t>
            </a:r>
            <a:r>
              <a:rPr lang="en-US" b="1" dirty="0" smtClean="0"/>
              <a:t> </a:t>
            </a:r>
            <a:r>
              <a:rPr lang="en-US" b="1" dirty="0" err="1" smtClean="0"/>
              <a:t>hệ</a:t>
            </a:r>
            <a:r>
              <a:rPr lang="en-US" b="1" dirty="0" smtClean="0"/>
              <a:t> tư vấn</a:t>
            </a:r>
          </a:p>
          <a:p>
            <a:pPr algn="just"/>
            <a:r>
              <a:rPr lang="en-US" dirty="0" err="1" smtClean="0">
                <a:solidFill>
                  <a:schemeClr val="tx1">
                    <a:lumMod val="50000"/>
                    <a:lumOff val="50000"/>
                  </a:schemeClr>
                </a:solidFill>
              </a:rPr>
              <a:t>Hệ</a:t>
            </a:r>
            <a:r>
              <a:rPr lang="en-US" dirty="0" smtClean="0">
                <a:solidFill>
                  <a:schemeClr val="tx1">
                    <a:lumMod val="50000"/>
                    <a:lumOff val="50000"/>
                  </a:schemeClr>
                </a:solidFill>
              </a:rPr>
              <a:t> </a:t>
            </a:r>
            <a:r>
              <a:rPr lang="en-US" dirty="0" err="1" smtClean="0">
                <a:solidFill>
                  <a:schemeClr val="tx1">
                    <a:lumMod val="50000"/>
                    <a:lumOff val="50000"/>
                  </a:schemeClr>
                </a:solidFill>
              </a:rPr>
              <a:t>thống</a:t>
            </a:r>
            <a:r>
              <a:rPr lang="en-US" dirty="0" smtClean="0">
                <a:solidFill>
                  <a:schemeClr val="tx1">
                    <a:lumMod val="50000"/>
                    <a:lumOff val="50000"/>
                  </a:schemeClr>
                </a:solidFill>
              </a:rPr>
              <a:t> tư vấn </a:t>
            </a:r>
            <a:r>
              <a:rPr lang="en-US" dirty="0" err="1" smtClean="0">
                <a:solidFill>
                  <a:schemeClr val="tx1">
                    <a:lumMod val="50000"/>
                    <a:lumOff val="50000"/>
                  </a:schemeClr>
                </a:solidFill>
              </a:rPr>
              <a:t>hỗ</a:t>
            </a:r>
            <a:r>
              <a:rPr lang="en-US" dirty="0" smtClean="0">
                <a:solidFill>
                  <a:schemeClr val="tx1">
                    <a:lumMod val="50000"/>
                    <a:lumOff val="50000"/>
                  </a:schemeClr>
                </a:solidFill>
              </a:rPr>
              <a:t> </a:t>
            </a:r>
            <a:r>
              <a:rPr lang="en-US" dirty="0" err="1" smtClean="0">
                <a:solidFill>
                  <a:schemeClr val="tx1">
                    <a:lumMod val="50000"/>
                    <a:lumOff val="50000"/>
                  </a:schemeClr>
                </a:solidFill>
              </a:rPr>
              <a:t>trợ</a:t>
            </a:r>
            <a:r>
              <a:rPr lang="en-US" dirty="0" smtClean="0">
                <a:solidFill>
                  <a:schemeClr val="tx1">
                    <a:lumMod val="50000"/>
                    <a:lumOff val="50000"/>
                  </a:schemeClr>
                </a:solidFill>
              </a:rPr>
              <a:t> người </a:t>
            </a:r>
            <a:r>
              <a:rPr lang="en-US" dirty="0" err="1" smtClean="0">
                <a:solidFill>
                  <a:schemeClr val="tx1">
                    <a:lumMod val="50000"/>
                    <a:lumOff val="50000"/>
                  </a:schemeClr>
                </a:solidFill>
              </a:rPr>
              <a:t>dùng</a:t>
            </a:r>
            <a:r>
              <a:rPr lang="en-US" dirty="0" smtClean="0">
                <a:solidFill>
                  <a:schemeClr val="tx1">
                    <a:lumMod val="50000"/>
                    <a:lumOff val="50000"/>
                  </a:schemeClr>
                </a:solidFill>
              </a:rPr>
              <a:t> </a:t>
            </a:r>
            <a:r>
              <a:rPr lang="en-US" dirty="0" err="1" smtClean="0">
                <a:solidFill>
                  <a:schemeClr val="tx1">
                    <a:lumMod val="50000"/>
                    <a:lumOff val="50000"/>
                  </a:schemeClr>
                </a:solidFill>
              </a:rPr>
              <a:t>tìm</a:t>
            </a:r>
            <a:r>
              <a:rPr lang="en-US" dirty="0" smtClean="0">
                <a:solidFill>
                  <a:schemeClr val="tx1">
                    <a:lumMod val="50000"/>
                    <a:lumOff val="50000"/>
                  </a:schemeClr>
                </a:solidFill>
              </a:rPr>
              <a:t> </a:t>
            </a:r>
            <a:r>
              <a:rPr lang="en-US" dirty="0" err="1" smtClean="0">
                <a:solidFill>
                  <a:schemeClr val="tx1">
                    <a:lumMod val="50000"/>
                    <a:lumOff val="50000"/>
                  </a:schemeClr>
                </a:solidFill>
              </a:rPr>
              <a:t>sản</a:t>
            </a:r>
            <a:r>
              <a:rPr lang="en-US" dirty="0" smtClean="0">
                <a:solidFill>
                  <a:schemeClr val="tx1">
                    <a:lumMod val="50000"/>
                    <a:lumOff val="50000"/>
                  </a:schemeClr>
                </a:solidFill>
              </a:rPr>
              <a:t> </a:t>
            </a:r>
            <a:r>
              <a:rPr lang="en-US" dirty="0" err="1" smtClean="0">
                <a:solidFill>
                  <a:schemeClr val="tx1">
                    <a:lumMod val="50000"/>
                    <a:lumOff val="50000"/>
                  </a:schemeClr>
                </a:solidFill>
              </a:rPr>
              <a:t>phẩm</a:t>
            </a:r>
            <a:r>
              <a:rPr lang="en-US" dirty="0" smtClean="0">
                <a:solidFill>
                  <a:schemeClr val="tx1">
                    <a:lumMod val="50000"/>
                    <a:lumOff val="50000"/>
                  </a:schemeClr>
                </a:solidFill>
              </a:rPr>
              <a:t> </a:t>
            </a:r>
            <a:r>
              <a:rPr lang="en-US" dirty="0" err="1" smtClean="0">
                <a:solidFill>
                  <a:schemeClr val="tx1">
                    <a:lumMod val="50000"/>
                    <a:lumOff val="50000"/>
                  </a:schemeClr>
                </a:solidFill>
              </a:rPr>
              <a:t>phù</a:t>
            </a:r>
            <a:r>
              <a:rPr lang="en-US" dirty="0" smtClean="0">
                <a:solidFill>
                  <a:schemeClr val="tx1">
                    <a:lumMod val="50000"/>
                    <a:lumOff val="50000"/>
                  </a:schemeClr>
                </a:solidFill>
              </a:rPr>
              <a:t> hợp trong các </a:t>
            </a:r>
            <a:r>
              <a:rPr lang="en-US" dirty="0" err="1" smtClean="0">
                <a:solidFill>
                  <a:schemeClr val="tx1">
                    <a:lumMod val="50000"/>
                    <a:lumOff val="50000"/>
                  </a:schemeClr>
                </a:solidFill>
              </a:rPr>
              <a:t>nền</a:t>
            </a:r>
            <a:r>
              <a:rPr lang="en-US" dirty="0" smtClean="0">
                <a:solidFill>
                  <a:schemeClr val="tx1">
                    <a:lumMod val="50000"/>
                    <a:lumOff val="50000"/>
                  </a:schemeClr>
                </a:solidFill>
              </a:rPr>
              <a:t> </a:t>
            </a:r>
            <a:r>
              <a:rPr lang="en-US" dirty="0" err="1" smtClean="0">
                <a:solidFill>
                  <a:schemeClr val="tx1">
                    <a:lumMod val="50000"/>
                    <a:lumOff val="50000"/>
                  </a:schemeClr>
                </a:solidFill>
              </a:rPr>
              <a:t>tảng</a:t>
            </a:r>
            <a:r>
              <a:rPr lang="en-US" dirty="0" smtClean="0">
                <a:solidFill>
                  <a:schemeClr val="tx1">
                    <a:lumMod val="50000"/>
                    <a:lumOff val="50000"/>
                  </a:schemeClr>
                </a:solidFill>
              </a:rPr>
              <a:t> như </a:t>
            </a:r>
            <a:r>
              <a:rPr lang="en-US" dirty="0" err="1" smtClean="0">
                <a:solidFill>
                  <a:schemeClr val="tx1">
                    <a:lumMod val="50000"/>
                    <a:lumOff val="50000"/>
                  </a:schemeClr>
                </a:solidFill>
              </a:rPr>
              <a:t>thương</a:t>
            </a:r>
            <a:r>
              <a:rPr lang="en-US" dirty="0" smtClean="0">
                <a:solidFill>
                  <a:schemeClr val="tx1">
                    <a:lumMod val="50000"/>
                    <a:lumOff val="50000"/>
                  </a:schemeClr>
                </a:solidFill>
              </a:rPr>
              <a:t> </a:t>
            </a:r>
            <a:r>
              <a:rPr lang="en-US" dirty="0" err="1" smtClean="0">
                <a:solidFill>
                  <a:schemeClr val="tx1">
                    <a:lumMod val="50000"/>
                    <a:lumOff val="50000"/>
                  </a:schemeClr>
                </a:solidFill>
              </a:rPr>
              <a:t>mại</a:t>
            </a:r>
            <a:r>
              <a:rPr lang="en-US" dirty="0" smtClean="0">
                <a:solidFill>
                  <a:schemeClr val="tx1">
                    <a:lumMod val="50000"/>
                    <a:lumOff val="50000"/>
                  </a:schemeClr>
                </a:solidFill>
              </a:rPr>
              <a:t>, </a:t>
            </a:r>
            <a:r>
              <a:rPr lang="en-US" dirty="0" err="1" smtClean="0">
                <a:solidFill>
                  <a:schemeClr val="tx1">
                    <a:lumMod val="50000"/>
                    <a:lumOff val="50000"/>
                  </a:schemeClr>
                </a:solidFill>
              </a:rPr>
              <a:t>giáo</a:t>
            </a:r>
            <a:r>
              <a:rPr lang="en-US" dirty="0" smtClean="0">
                <a:solidFill>
                  <a:schemeClr val="tx1">
                    <a:lumMod val="50000"/>
                    <a:lumOff val="50000"/>
                  </a:schemeClr>
                </a:solidFill>
              </a:rPr>
              <a:t> </a:t>
            </a:r>
            <a:r>
              <a:rPr lang="en-US" dirty="0" err="1" smtClean="0">
                <a:solidFill>
                  <a:schemeClr val="tx1">
                    <a:lumMod val="50000"/>
                    <a:lumOff val="50000"/>
                  </a:schemeClr>
                </a:solidFill>
              </a:rPr>
              <a:t>dục</a:t>
            </a:r>
            <a:r>
              <a:rPr lang="en-US" dirty="0" smtClean="0">
                <a:solidFill>
                  <a:schemeClr val="tx1">
                    <a:lumMod val="50000"/>
                    <a:lumOff val="50000"/>
                  </a:schemeClr>
                </a:solidFill>
              </a:rPr>
              <a:t>, </a:t>
            </a:r>
            <a:r>
              <a:rPr lang="en-US" dirty="0" err="1" smtClean="0">
                <a:solidFill>
                  <a:schemeClr val="tx1">
                    <a:lumMod val="50000"/>
                    <a:lumOff val="50000"/>
                  </a:schemeClr>
                </a:solidFill>
              </a:rPr>
              <a:t>giải</a:t>
            </a:r>
            <a:r>
              <a:rPr lang="en-US" dirty="0" smtClean="0">
                <a:solidFill>
                  <a:schemeClr val="tx1">
                    <a:lumMod val="50000"/>
                    <a:lumOff val="50000"/>
                  </a:schemeClr>
                </a:solidFill>
              </a:rPr>
              <a:t> </a:t>
            </a:r>
            <a:r>
              <a:rPr lang="en-US" dirty="0" err="1" smtClean="0">
                <a:solidFill>
                  <a:schemeClr val="tx1">
                    <a:lumMod val="50000"/>
                    <a:lumOff val="50000"/>
                  </a:schemeClr>
                </a:solidFill>
              </a:rPr>
              <a:t>trí</a:t>
            </a:r>
            <a:r>
              <a:rPr lang="en-US" dirty="0" smtClean="0">
                <a:solidFill>
                  <a:schemeClr val="tx1">
                    <a:lumMod val="50000"/>
                    <a:lumOff val="50000"/>
                  </a:schemeClr>
                </a:solidFill>
              </a:rPr>
              <a:t>, …</a:t>
            </a:r>
            <a:endParaRPr lang="en-US" dirty="0">
              <a:solidFill>
                <a:schemeClr val="tx1">
                  <a:lumMod val="50000"/>
                  <a:lumOff val="50000"/>
                </a:schemeClr>
              </a:solidFill>
            </a:endParaRPr>
          </a:p>
        </p:txBody>
      </p:sp>
      <p:sp>
        <p:nvSpPr>
          <p:cNvPr id="16" name="TextBox 15"/>
          <p:cNvSpPr txBox="1"/>
          <p:nvPr/>
        </p:nvSpPr>
        <p:spPr>
          <a:xfrm>
            <a:off x="3450710" y="2805858"/>
            <a:ext cx="2242580" cy="1600438"/>
          </a:xfrm>
          <a:prstGeom prst="rect">
            <a:avLst/>
          </a:prstGeom>
          <a:noFill/>
        </p:spPr>
        <p:txBody>
          <a:bodyPr wrap="square" rtlCol="0">
            <a:spAutoFit/>
          </a:bodyPr>
          <a:lstStyle/>
          <a:p>
            <a:pPr algn="ctr"/>
            <a:r>
              <a:rPr lang="en-US" b="1" dirty="0" err="1" smtClean="0"/>
              <a:t>Hạn</a:t>
            </a:r>
            <a:r>
              <a:rPr lang="en-US" b="1" dirty="0" smtClean="0"/>
              <a:t> </a:t>
            </a:r>
            <a:r>
              <a:rPr lang="en-US" b="1" dirty="0" err="1" smtClean="0"/>
              <a:t>chế</a:t>
            </a:r>
            <a:r>
              <a:rPr lang="en-US" b="1" dirty="0" smtClean="0"/>
              <a:t> của </a:t>
            </a:r>
            <a:r>
              <a:rPr lang="en-US" b="1" dirty="0" err="1" smtClean="0"/>
              <a:t>phương</a:t>
            </a:r>
            <a:r>
              <a:rPr lang="en-US" b="1" dirty="0" smtClean="0"/>
              <a:t> </a:t>
            </a:r>
            <a:r>
              <a:rPr lang="en-US" b="1" dirty="0" err="1" smtClean="0"/>
              <a:t>pháp</a:t>
            </a:r>
            <a:r>
              <a:rPr lang="en-US" b="1" dirty="0" smtClean="0"/>
              <a:t> tư vấn </a:t>
            </a:r>
            <a:r>
              <a:rPr lang="en-US" b="1" dirty="0" err="1" smtClean="0"/>
              <a:t>truyền</a:t>
            </a:r>
            <a:r>
              <a:rPr lang="en-US" b="1" dirty="0" smtClean="0"/>
              <a:t> </a:t>
            </a:r>
            <a:r>
              <a:rPr lang="en-US" b="1" dirty="0" err="1" smtClean="0"/>
              <a:t>thống</a:t>
            </a:r>
            <a:endParaRPr lang="en-US" b="1" dirty="0" smtClean="0"/>
          </a:p>
          <a:p>
            <a:pPr algn="just"/>
            <a:r>
              <a:rPr lang="en-US" dirty="0" smtClean="0">
                <a:solidFill>
                  <a:schemeClr val="tx1">
                    <a:lumMod val="50000"/>
                    <a:lumOff val="50000"/>
                  </a:schemeClr>
                </a:solidFill>
              </a:rPr>
              <a:t>Gặp vấn </a:t>
            </a:r>
            <a:r>
              <a:rPr lang="en-US" dirty="0" err="1" smtClean="0">
                <a:solidFill>
                  <a:schemeClr val="tx1">
                    <a:lumMod val="50000"/>
                    <a:lumOff val="50000"/>
                  </a:schemeClr>
                </a:solidFill>
              </a:rPr>
              <a:t>đề</a:t>
            </a:r>
            <a:r>
              <a:rPr lang="en-US" dirty="0" smtClean="0">
                <a:solidFill>
                  <a:schemeClr val="tx1">
                    <a:lumMod val="50000"/>
                    <a:lumOff val="50000"/>
                  </a:schemeClr>
                </a:solidFill>
              </a:rPr>
              <a:t> </a:t>
            </a:r>
            <a:r>
              <a:rPr lang="en-US" dirty="0" err="1" smtClean="0">
                <a:solidFill>
                  <a:schemeClr val="tx1">
                    <a:lumMod val="50000"/>
                    <a:lumOff val="50000"/>
                  </a:schemeClr>
                </a:solidFill>
              </a:rPr>
              <a:t>dữ</a:t>
            </a:r>
            <a:r>
              <a:rPr lang="en-US" dirty="0" smtClean="0">
                <a:solidFill>
                  <a:schemeClr val="tx1">
                    <a:lumMod val="50000"/>
                    <a:lumOff val="50000"/>
                  </a:schemeClr>
                </a:solidFill>
              </a:rPr>
              <a:t> </a:t>
            </a:r>
            <a:r>
              <a:rPr lang="en-US" dirty="0" err="1" smtClean="0">
                <a:solidFill>
                  <a:schemeClr val="tx1">
                    <a:lumMod val="50000"/>
                    <a:lumOff val="50000"/>
                  </a:schemeClr>
                </a:solidFill>
              </a:rPr>
              <a:t>liệu</a:t>
            </a:r>
            <a:r>
              <a:rPr lang="en-US" dirty="0" smtClean="0">
                <a:solidFill>
                  <a:schemeClr val="tx1">
                    <a:lumMod val="50000"/>
                    <a:lumOff val="50000"/>
                  </a:schemeClr>
                </a:solidFill>
              </a:rPr>
              <a:t> </a:t>
            </a:r>
            <a:r>
              <a:rPr lang="en-US" dirty="0" err="1" smtClean="0">
                <a:solidFill>
                  <a:schemeClr val="tx1">
                    <a:lumMod val="50000"/>
                    <a:lumOff val="50000"/>
                  </a:schemeClr>
                </a:solidFill>
              </a:rPr>
              <a:t>thưa</a:t>
            </a:r>
            <a:r>
              <a:rPr lang="en-US" dirty="0" smtClean="0">
                <a:solidFill>
                  <a:schemeClr val="tx1">
                    <a:lumMod val="50000"/>
                    <a:lumOff val="50000"/>
                  </a:schemeClr>
                </a:solidFill>
              </a:rPr>
              <a:t>, </a:t>
            </a:r>
            <a:r>
              <a:rPr lang="en-US" dirty="0" err="1" smtClean="0">
                <a:solidFill>
                  <a:schemeClr val="tx1">
                    <a:lumMod val="50000"/>
                    <a:lumOff val="50000"/>
                  </a:schemeClr>
                </a:solidFill>
              </a:rPr>
              <a:t>khởi</a:t>
            </a:r>
            <a:r>
              <a:rPr lang="en-US" dirty="0" smtClean="0">
                <a:solidFill>
                  <a:schemeClr val="tx1">
                    <a:lumMod val="50000"/>
                    <a:lumOff val="50000"/>
                  </a:schemeClr>
                </a:solidFill>
              </a:rPr>
              <a:t> </a:t>
            </a:r>
            <a:r>
              <a:rPr lang="en-US" dirty="0" err="1" smtClean="0">
                <a:solidFill>
                  <a:schemeClr val="tx1">
                    <a:lumMod val="50000"/>
                    <a:lumOff val="50000"/>
                  </a:schemeClr>
                </a:solidFill>
              </a:rPr>
              <a:t>động</a:t>
            </a:r>
            <a:r>
              <a:rPr lang="en-US" dirty="0" smtClean="0">
                <a:solidFill>
                  <a:schemeClr val="tx1">
                    <a:lumMod val="50000"/>
                    <a:lumOff val="50000"/>
                  </a:schemeClr>
                </a:solidFill>
              </a:rPr>
              <a:t> </a:t>
            </a:r>
            <a:r>
              <a:rPr lang="en-US" dirty="0" err="1" smtClean="0">
                <a:solidFill>
                  <a:schemeClr val="tx1">
                    <a:lumMod val="50000"/>
                    <a:lumOff val="50000"/>
                  </a:schemeClr>
                </a:solidFill>
              </a:rPr>
              <a:t>nguội</a:t>
            </a:r>
            <a:r>
              <a:rPr lang="en-US" dirty="0" smtClean="0">
                <a:solidFill>
                  <a:schemeClr val="tx1">
                    <a:lumMod val="50000"/>
                    <a:lumOff val="50000"/>
                  </a:schemeClr>
                </a:solidFill>
              </a:rPr>
              <a:t>, và </a:t>
            </a:r>
            <a:r>
              <a:rPr lang="en-US" dirty="0" err="1" smtClean="0">
                <a:solidFill>
                  <a:schemeClr val="tx1">
                    <a:lumMod val="50000"/>
                    <a:lumOff val="50000"/>
                  </a:schemeClr>
                </a:solidFill>
              </a:rPr>
              <a:t>không</a:t>
            </a:r>
            <a:r>
              <a:rPr lang="en-US" dirty="0" smtClean="0">
                <a:solidFill>
                  <a:schemeClr val="tx1">
                    <a:lumMod val="50000"/>
                    <a:lumOff val="50000"/>
                  </a:schemeClr>
                </a:solidFill>
              </a:rPr>
              <a:t> hiểu được </a:t>
            </a:r>
            <a:r>
              <a:rPr lang="en-US" dirty="0" err="1" smtClean="0">
                <a:solidFill>
                  <a:schemeClr val="tx1">
                    <a:lumMod val="50000"/>
                    <a:lumOff val="50000"/>
                  </a:schemeClr>
                </a:solidFill>
              </a:rPr>
              <a:t>động</a:t>
            </a:r>
            <a:r>
              <a:rPr lang="en-US" dirty="0" smtClean="0">
                <a:solidFill>
                  <a:schemeClr val="tx1">
                    <a:lumMod val="50000"/>
                    <a:lumOff val="50000"/>
                  </a:schemeClr>
                </a:solidFill>
              </a:rPr>
              <a:t> </a:t>
            </a:r>
            <a:r>
              <a:rPr lang="en-US" dirty="0" err="1" smtClean="0">
                <a:solidFill>
                  <a:schemeClr val="tx1">
                    <a:lumMod val="50000"/>
                    <a:lumOff val="50000"/>
                  </a:schemeClr>
                </a:solidFill>
              </a:rPr>
              <a:t>lực</a:t>
            </a:r>
            <a:r>
              <a:rPr lang="en-US" dirty="0" smtClean="0">
                <a:solidFill>
                  <a:schemeClr val="tx1">
                    <a:lumMod val="50000"/>
                    <a:lumOff val="50000"/>
                  </a:schemeClr>
                </a:solidFill>
              </a:rPr>
              <a:t> của người </a:t>
            </a:r>
            <a:r>
              <a:rPr lang="en-US" dirty="0" err="1" smtClean="0">
                <a:solidFill>
                  <a:schemeClr val="tx1">
                    <a:lumMod val="50000"/>
                    <a:lumOff val="50000"/>
                  </a:schemeClr>
                </a:solidFill>
              </a:rPr>
              <a:t>dùng</a:t>
            </a:r>
            <a:r>
              <a:rPr lang="en-US" dirty="0" smtClean="0">
                <a:solidFill>
                  <a:schemeClr val="tx1">
                    <a:lumMod val="50000"/>
                    <a:lumOff val="50000"/>
                  </a:schemeClr>
                </a:solidFill>
              </a:rPr>
              <a:t>, …</a:t>
            </a:r>
            <a:endParaRPr lang="en-US" dirty="0">
              <a:solidFill>
                <a:schemeClr val="tx1">
                  <a:lumMod val="50000"/>
                  <a:lumOff val="50000"/>
                </a:schemeClr>
              </a:solidFill>
            </a:endParaRPr>
          </a:p>
        </p:txBody>
      </p:sp>
      <p:sp>
        <p:nvSpPr>
          <p:cNvPr id="17" name="TextBox 16"/>
          <p:cNvSpPr txBox="1"/>
          <p:nvPr/>
        </p:nvSpPr>
        <p:spPr>
          <a:xfrm>
            <a:off x="6355900" y="2838815"/>
            <a:ext cx="2090696" cy="1384995"/>
          </a:xfrm>
          <a:prstGeom prst="rect">
            <a:avLst/>
          </a:prstGeom>
          <a:noFill/>
        </p:spPr>
        <p:txBody>
          <a:bodyPr wrap="square" rtlCol="0">
            <a:spAutoFit/>
          </a:bodyPr>
          <a:lstStyle/>
          <a:p>
            <a:pPr algn="ctr"/>
            <a:r>
              <a:rPr lang="en-US" b="1" dirty="0" smtClean="0"/>
              <a:t>Cơ </a:t>
            </a:r>
            <a:r>
              <a:rPr lang="en-US" b="1" dirty="0" err="1" smtClean="0"/>
              <a:t>hội</a:t>
            </a:r>
            <a:r>
              <a:rPr lang="en-US" b="1" dirty="0" smtClean="0"/>
              <a:t> </a:t>
            </a:r>
            <a:r>
              <a:rPr lang="en-US" b="1" dirty="0" err="1" smtClean="0"/>
              <a:t>từ</a:t>
            </a:r>
            <a:r>
              <a:rPr lang="en-US" b="1" dirty="0" smtClean="0"/>
              <a:t> LLMs</a:t>
            </a:r>
          </a:p>
          <a:p>
            <a:pPr algn="ctr"/>
            <a:r>
              <a:rPr lang="en-US" dirty="0" smtClean="0">
                <a:solidFill>
                  <a:schemeClr val="tx1">
                    <a:lumMod val="50000"/>
                    <a:lumOff val="50000"/>
                  </a:schemeClr>
                </a:solidFill>
              </a:rPr>
              <a:t>LLMs </a:t>
            </a:r>
            <a:r>
              <a:rPr lang="en-US" dirty="0" err="1" smtClean="0">
                <a:solidFill>
                  <a:schemeClr val="tx1">
                    <a:lumMod val="50000"/>
                    <a:lumOff val="50000"/>
                  </a:schemeClr>
                </a:solidFill>
              </a:rPr>
              <a:t>mang</a:t>
            </a:r>
            <a:r>
              <a:rPr lang="en-US" dirty="0" smtClean="0">
                <a:solidFill>
                  <a:schemeClr val="tx1">
                    <a:lumMod val="50000"/>
                    <a:lumOff val="50000"/>
                  </a:schemeClr>
                </a:solidFill>
              </a:rPr>
              <a:t> </a:t>
            </a:r>
            <a:r>
              <a:rPr lang="en-US" dirty="0" err="1" smtClean="0">
                <a:solidFill>
                  <a:schemeClr val="tx1">
                    <a:lumMod val="50000"/>
                    <a:lumOff val="50000"/>
                  </a:schemeClr>
                </a:solidFill>
              </a:rPr>
              <a:t>khả</a:t>
            </a:r>
            <a:r>
              <a:rPr lang="en-US" dirty="0" smtClean="0">
                <a:solidFill>
                  <a:schemeClr val="tx1">
                    <a:lumMod val="50000"/>
                    <a:lumOff val="50000"/>
                  </a:schemeClr>
                </a:solidFill>
              </a:rPr>
              <a:t> </a:t>
            </a:r>
            <a:r>
              <a:rPr lang="en-US" dirty="0" err="1" smtClean="0">
                <a:solidFill>
                  <a:schemeClr val="tx1">
                    <a:lumMod val="50000"/>
                    <a:lumOff val="50000"/>
                  </a:schemeClr>
                </a:solidFill>
              </a:rPr>
              <a:t>năng</a:t>
            </a:r>
            <a:r>
              <a:rPr lang="en-US" dirty="0" smtClean="0">
                <a:solidFill>
                  <a:schemeClr val="tx1">
                    <a:lumMod val="50000"/>
                    <a:lumOff val="50000"/>
                  </a:schemeClr>
                </a:solidFill>
              </a:rPr>
              <a:t> hiểu </a:t>
            </a:r>
            <a:r>
              <a:rPr lang="en-US" dirty="0" err="1" smtClean="0">
                <a:solidFill>
                  <a:schemeClr val="tx1">
                    <a:lumMod val="50000"/>
                    <a:lumOff val="50000"/>
                  </a:schemeClr>
                </a:solidFill>
              </a:rPr>
              <a:t>ngữ</a:t>
            </a:r>
            <a:r>
              <a:rPr lang="en-US" dirty="0" smtClean="0">
                <a:solidFill>
                  <a:schemeClr val="tx1">
                    <a:lumMod val="50000"/>
                    <a:lumOff val="50000"/>
                  </a:schemeClr>
                </a:solidFill>
              </a:rPr>
              <a:t> </a:t>
            </a:r>
            <a:r>
              <a:rPr lang="en-US" dirty="0" err="1" smtClean="0">
                <a:solidFill>
                  <a:schemeClr val="tx1">
                    <a:lumMod val="50000"/>
                    <a:lumOff val="50000"/>
                  </a:schemeClr>
                </a:solidFill>
              </a:rPr>
              <a:t>nghĩa</a:t>
            </a:r>
            <a:r>
              <a:rPr lang="en-US" dirty="0" smtClean="0">
                <a:solidFill>
                  <a:schemeClr val="tx1">
                    <a:lumMod val="50000"/>
                    <a:lumOff val="50000"/>
                  </a:schemeClr>
                </a:solidFill>
              </a:rPr>
              <a:t> </a:t>
            </a:r>
            <a:r>
              <a:rPr lang="en-US" dirty="0" err="1" smtClean="0">
                <a:solidFill>
                  <a:schemeClr val="tx1">
                    <a:lumMod val="50000"/>
                    <a:lumOff val="50000"/>
                  </a:schemeClr>
                </a:solidFill>
              </a:rPr>
              <a:t>sâu</a:t>
            </a:r>
            <a:r>
              <a:rPr lang="en-US" dirty="0" smtClean="0">
                <a:solidFill>
                  <a:schemeClr val="tx1">
                    <a:lumMod val="50000"/>
                    <a:lumOff val="50000"/>
                  </a:schemeClr>
                </a:solidFill>
              </a:rPr>
              <a:t>, </a:t>
            </a:r>
            <a:r>
              <a:rPr lang="en-US" dirty="0" err="1" smtClean="0">
                <a:solidFill>
                  <a:schemeClr val="tx1">
                    <a:lumMod val="50000"/>
                    <a:lumOff val="50000"/>
                  </a:schemeClr>
                </a:solidFill>
              </a:rPr>
              <a:t>tổng</a:t>
            </a:r>
            <a:r>
              <a:rPr lang="en-US" dirty="0" smtClean="0">
                <a:solidFill>
                  <a:schemeClr val="tx1">
                    <a:lumMod val="50000"/>
                    <a:lumOff val="50000"/>
                  </a:schemeClr>
                </a:solidFill>
              </a:rPr>
              <a:t> </a:t>
            </a:r>
            <a:r>
              <a:rPr lang="en-US" dirty="0" err="1" smtClean="0">
                <a:solidFill>
                  <a:schemeClr val="tx1">
                    <a:lumMod val="50000"/>
                    <a:lumOff val="50000"/>
                  </a:schemeClr>
                </a:solidFill>
              </a:rPr>
              <a:t>quát</a:t>
            </a:r>
            <a:r>
              <a:rPr lang="en-US" dirty="0" smtClean="0">
                <a:solidFill>
                  <a:schemeClr val="tx1">
                    <a:lumMod val="50000"/>
                    <a:lumOff val="50000"/>
                  </a:schemeClr>
                </a:solidFill>
              </a:rPr>
              <a:t> </a:t>
            </a:r>
            <a:r>
              <a:rPr lang="en-US" dirty="0" err="1" smtClean="0">
                <a:solidFill>
                  <a:schemeClr val="tx1">
                    <a:lumMod val="50000"/>
                    <a:lumOff val="50000"/>
                  </a:schemeClr>
                </a:solidFill>
              </a:rPr>
              <a:t>hóa</a:t>
            </a:r>
            <a:r>
              <a:rPr lang="en-US" dirty="0" smtClean="0">
                <a:solidFill>
                  <a:schemeClr val="tx1">
                    <a:lumMod val="50000"/>
                    <a:lumOff val="50000"/>
                  </a:schemeClr>
                </a:solidFill>
              </a:rPr>
              <a:t> và </a:t>
            </a:r>
            <a:r>
              <a:rPr lang="en-US" dirty="0" err="1" smtClean="0">
                <a:solidFill>
                  <a:schemeClr val="tx1">
                    <a:lumMod val="50000"/>
                    <a:lumOff val="50000"/>
                  </a:schemeClr>
                </a:solidFill>
              </a:rPr>
              <a:t>suy</a:t>
            </a:r>
            <a:r>
              <a:rPr lang="en-US" dirty="0" smtClean="0">
                <a:solidFill>
                  <a:schemeClr val="tx1">
                    <a:lumMod val="50000"/>
                    <a:lumOff val="50000"/>
                  </a:schemeClr>
                </a:solidFill>
              </a:rPr>
              <a:t> </a:t>
            </a:r>
            <a:r>
              <a:rPr lang="en-US" dirty="0" err="1" smtClean="0">
                <a:solidFill>
                  <a:schemeClr val="tx1">
                    <a:lumMod val="50000"/>
                    <a:lumOff val="50000"/>
                  </a:schemeClr>
                </a:solidFill>
              </a:rPr>
              <a:t>luận</a:t>
            </a:r>
            <a:r>
              <a:rPr lang="en-US" dirty="0" smtClean="0">
                <a:solidFill>
                  <a:schemeClr val="tx1">
                    <a:lumMod val="50000"/>
                    <a:lumOff val="50000"/>
                  </a:schemeClr>
                </a:solidFill>
              </a:rPr>
              <a:t> </a:t>
            </a:r>
            <a:r>
              <a:rPr lang="en-US" dirty="0" err="1" smtClean="0">
                <a:solidFill>
                  <a:schemeClr val="tx1">
                    <a:lumMod val="50000"/>
                    <a:lumOff val="50000"/>
                  </a:schemeClr>
                </a:solidFill>
              </a:rPr>
              <a:t>phức</a:t>
            </a:r>
            <a:r>
              <a:rPr lang="en-US" dirty="0" smtClean="0">
                <a:solidFill>
                  <a:schemeClr val="tx1">
                    <a:lumMod val="50000"/>
                    <a:lumOff val="50000"/>
                  </a:schemeClr>
                </a:solidFill>
              </a:rPr>
              <a:t> </a:t>
            </a:r>
            <a:r>
              <a:rPr lang="en-US" dirty="0" err="1" smtClean="0">
                <a:solidFill>
                  <a:schemeClr val="tx1">
                    <a:lumMod val="50000"/>
                    <a:lumOff val="50000"/>
                  </a:schemeClr>
                </a:solidFill>
              </a:rPr>
              <a:t>tạp</a:t>
            </a:r>
            <a:r>
              <a:rPr lang="en-US" dirty="0" smtClean="0">
                <a:solidFill>
                  <a:schemeClr val="tx1">
                    <a:lumMod val="50000"/>
                    <a:lumOff val="50000"/>
                  </a:schemeClr>
                </a:solidFill>
              </a:rPr>
              <a:t> trong </a:t>
            </a:r>
            <a:r>
              <a:rPr lang="en-US" dirty="0" err="1" smtClean="0">
                <a:solidFill>
                  <a:schemeClr val="tx1">
                    <a:lumMod val="50000"/>
                    <a:lumOff val="50000"/>
                  </a:schemeClr>
                </a:solidFill>
              </a:rPr>
              <a:t>hệ</a:t>
            </a:r>
            <a:r>
              <a:rPr lang="en-US" dirty="0" smtClean="0">
                <a:solidFill>
                  <a:schemeClr val="tx1">
                    <a:lumMod val="50000"/>
                    <a:lumOff val="50000"/>
                  </a:schemeClr>
                </a:solidFill>
              </a:rPr>
              <a:t> </a:t>
            </a:r>
            <a:r>
              <a:rPr lang="en-US" dirty="0" err="1" smtClean="0">
                <a:solidFill>
                  <a:schemeClr val="tx1">
                    <a:lumMod val="50000"/>
                    <a:lumOff val="50000"/>
                  </a:schemeClr>
                </a:solidFill>
              </a:rPr>
              <a:t>thống</a:t>
            </a:r>
            <a:r>
              <a:rPr lang="en-US" dirty="0" smtClean="0">
                <a:solidFill>
                  <a:schemeClr val="tx1">
                    <a:lumMod val="50000"/>
                    <a:lumOff val="50000"/>
                  </a:schemeClr>
                </a:solidFill>
              </a:rPr>
              <a:t> </a:t>
            </a:r>
            <a:r>
              <a:rPr lang="en-US" dirty="0" err="1" smtClean="0">
                <a:solidFill>
                  <a:schemeClr val="tx1">
                    <a:lumMod val="50000"/>
                    <a:lumOff val="50000"/>
                  </a:schemeClr>
                </a:solidFill>
              </a:rPr>
              <a:t>gợi</a:t>
            </a:r>
            <a:r>
              <a:rPr lang="en-US" dirty="0" smtClean="0">
                <a:solidFill>
                  <a:schemeClr val="tx1">
                    <a:lumMod val="50000"/>
                    <a:lumOff val="50000"/>
                  </a:schemeClr>
                </a:solidFill>
              </a:rPr>
              <a:t> ý.</a:t>
            </a:r>
            <a:endParaRPr lang="en-US" dirty="0">
              <a:solidFill>
                <a:schemeClr val="tx1">
                  <a:lumMod val="50000"/>
                  <a:lumOff val="50000"/>
                </a:schemeClr>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GIỚI THIỆU TỔNG QUAN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So </a:t>
            </a:r>
            <a:r>
              <a:rPr lang="en-US" sz="2000" dirty="0" err="1" smtClean="0">
                <a:solidFill>
                  <a:schemeClr val="tx1">
                    <a:lumMod val="50000"/>
                    <a:lumOff val="50000"/>
                  </a:schemeClr>
                </a:solidFill>
              </a:rPr>
              <a:t>sánh</a:t>
            </a:r>
            <a:r>
              <a:rPr lang="en-US" sz="2000" dirty="0" smtClean="0">
                <a:solidFill>
                  <a:schemeClr val="tx1">
                    <a:lumMod val="50000"/>
                    <a:lumOff val="50000"/>
                  </a:schemeClr>
                </a:solidFill>
              </a:rPr>
              <a:t> các </a:t>
            </a:r>
            <a:r>
              <a:rPr lang="en-US" sz="2000" dirty="0" err="1" smtClean="0">
                <a:solidFill>
                  <a:schemeClr val="tx1">
                    <a:lumMod val="50000"/>
                    <a:lumOff val="50000"/>
                  </a:schemeClr>
                </a:solidFill>
              </a:rPr>
              <a:t>mô</a:t>
            </a:r>
            <a:r>
              <a:rPr lang="en-US" sz="2000" dirty="0" smtClean="0">
                <a:solidFill>
                  <a:schemeClr val="tx1">
                    <a:lumMod val="50000"/>
                    <a:lumOff val="50000"/>
                  </a:schemeClr>
                </a:solidFill>
              </a:rPr>
              <a:t> hình chính</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smtClean="0">
                <a:solidFill>
                  <a:schemeClr val="tx1"/>
                </a:solidFill>
              </a:rPr>
              <a:t>Các </a:t>
            </a:r>
            <a:r>
              <a:rPr lang="en-US" sz="2400" dirty="0" err="1" smtClean="0">
                <a:solidFill>
                  <a:schemeClr val="tx1"/>
                </a:solidFill>
              </a:rPr>
              <a:t>hướng</a:t>
            </a:r>
            <a:r>
              <a:rPr lang="en-US" sz="2400" dirty="0" smtClean="0">
                <a:solidFill>
                  <a:schemeClr val="tx1"/>
                </a:solidFill>
              </a:rPr>
              <a:t> </a:t>
            </a:r>
            <a:r>
              <a:rPr lang="en-US" sz="2400" dirty="0" err="1" smtClean="0">
                <a:solidFill>
                  <a:schemeClr val="tx1"/>
                </a:solidFill>
              </a:rPr>
              <a:t>tích</a:t>
            </a:r>
            <a:r>
              <a:rPr lang="en-US" sz="2400" dirty="0" smtClean="0">
                <a:solidFill>
                  <a:schemeClr val="tx1"/>
                </a:solidFill>
              </a:rPr>
              <a:t> hợp LLMs vào </a:t>
            </a:r>
            <a:r>
              <a:rPr lang="en-US" sz="2400" dirty="0" err="1" smtClean="0">
                <a:solidFill>
                  <a:schemeClr val="tx1"/>
                </a:solidFill>
              </a:rPr>
              <a:t>RecSys</a:t>
            </a:r>
            <a:endParaRPr lang="vi-VN" sz="2400" dirty="0">
              <a:solidFill>
                <a:schemeClr val="tx1"/>
              </a:solidFill>
            </a:endParaRPr>
          </a:p>
        </p:txBody>
      </p:sp>
      <p:sp>
        <p:nvSpPr>
          <p:cNvPr id="2" name="TextBox 1"/>
          <p:cNvSpPr txBox="1"/>
          <p:nvPr/>
        </p:nvSpPr>
        <p:spPr>
          <a:xfrm>
            <a:off x="576306" y="1801471"/>
            <a:ext cx="4884694" cy="3108543"/>
          </a:xfrm>
          <a:prstGeom prst="rect">
            <a:avLst/>
          </a:prstGeom>
          <a:noFill/>
        </p:spPr>
        <p:txBody>
          <a:bodyPr wrap="square" rtlCol="0">
            <a:spAutoFit/>
          </a:bodyPr>
          <a:lstStyle/>
          <a:p>
            <a:pPr marL="285750" indent="-285750" algn="just">
              <a:buFont typeface="Arial" panose="020B0604020202020204" pitchFamily="34" charset="0"/>
              <a:buChar char="•"/>
            </a:pPr>
            <a:r>
              <a:rPr lang="en-US" b="1" dirty="0" smtClean="0"/>
              <a:t>Traditional CF</a:t>
            </a:r>
            <a:r>
              <a:rPr lang="en-US" dirty="0" smtClean="0"/>
              <a:t>: </a:t>
            </a:r>
            <a:r>
              <a:rPr lang="en-US" dirty="0" err="1" smtClean="0"/>
              <a:t>Không</a:t>
            </a:r>
            <a:r>
              <a:rPr lang="en-US" dirty="0" smtClean="0"/>
              <a:t> </a:t>
            </a:r>
            <a:r>
              <a:rPr lang="en-US" dirty="0" err="1" smtClean="0"/>
              <a:t>dùng</a:t>
            </a:r>
            <a:r>
              <a:rPr lang="en-US" dirty="0" smtClean="0"/>
              <a:t> LLMs, </a:t>
            </a:r>
            <a:r>
              <a:rPr lang="en-US" dirty="0" err="1" smtClean="0"/>
              <a:t>hiệu</a:t>
            </a:r>
            <a:r>
              <a:rPr lang="en-US" dirty="0" smtClean="0"/>
              <a:t> </a:t>
            </a:r>
            <a:r>
              <a:rPr lang="en-US" dirty="0" err="1" smtClean="0"/>
              <a:t>quả</a:t>
            </a:r>
            <a:r>
              <a:rPr lang="en-US" dirty="0" smtClean="0"/>
              <a:t> tính </a:t>
            </a:r>
            <a:r>
              <a:rPr lang="en-US" dirty="0" err="1" smtClean="0"/>
              <a:t>toán</a:t>
            </a:r>
            <a:r>
              <a:rPr lang="en-US" dirty="0" smtClean="0"/>
              <a:t> </a:t>
            </a:r>
            <a:r>
              <a:rPr lang="en-US" dirty="0" err="1" smtClean="0"/>
              <a:t>cao</a:t>
            </a:r>
            <a:r>
              <a:rPr lang="en-US" dirty="0" smtClean="0"/>
              <a:t> trong </a:t>
            </a:r>
            <a:r>
              <a:rPr lang="en-US" dirty="0" err="1" smtClean="0"/>
              <a:t>thực</a:t>
            </a:r>
            <a:r>
              <a:rPr lang="en-US" dirty="0" smtClean="0"/>
              <a:t> </a:t>
            </a:r>
            <a:r>
              <a:rPr lang="en-US" dirty="0" err="1" smtClean="0"/>
              <a:t>tế</a:t>
            </a:r>
            <a:r>
              <a:rPr lang="en-US" dirty="0" smtClean="0"/>
              <a:t> </a:t>
            </a:r>
            <a:r>
              <a:rPr lang="en-US" dirty="0" err="1" smtClean="0"/>
              <a:t>nhưng</a:t>
            </a:r>
            <a:r>
              <a:rPr lang="en-US" dirty="0" smtClean="0"/>
              <a:t> </a:t>
            </a:r>
            <a:r>
              <a:rPr lang="en-US" dirty="0" err="1" smtClean="0"/>
              <a:t>không</a:t>
            </a:r>
            <a:r>
              <a:rPr lang="en-US" dirty="0" smtClean="0"/>
              <a:t> hiểu </a:t>
            </a:r>
            <a:r>
              <a:rPr lang="en-US" dirty="0" err="1" smtClean="0"/>
              <a:t>ngữ</a:t>
            </a:r>
            <a:r>
              <a:rPr lang="en-US" dirty="0" smtClean="0"/>
              <a:t> </a:t>
            </a:r>
            <a:r>
              <a:rPr lang="en-US" dirty="0" err="1" smtClean="0"/>
              <a:t>cảnh</a:t>
            </a:r>
            <a:r>
              <a:rPr lang="en-US" dirty="0" smtClean="0"/>
              <a:t>, gặp vấn </a:t>
            </a:r>
            <a:r>
              <a:rPr lang="en-US" dirty="0" err="1" smtClean="0"/>
              <a:t>đề</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thưa</a:t>
            </a:r>
            <a:r>
              <a:rPr lang="en-US" dirty="0" smtClean="0"/>
              <a:t>, </a:t>
            </a:r>
            <a:r>
              <a:rPr lang="en-US" dirty="0" err="1" smtClean="0"/>
              <a:t>khởi</a:t>
            </a:r>
            <a:r>
              <a:rPr lang="en-US" dirty="0" smtClean="0"/>
              <a:t> </a:t>
            </a:r>
            <a:r>
              <a:rPr lang="en-US" dirty="0" err="1" smtClean="0"/>
              <a:t>động</a:t>
            </a:r>
            <a:r>
              <a:rPr lang="en-US" dirty="0" smtClean="0"/>
              <a:t> </a:t>
            </a:r>
            <a:r>
              <a:rPr lang="en-US" dirty="0" err="1" smtClean="0"/>
              <a:t>nguội</a:t>
            </a:r>
            <a:r>
              <a:rPr lang="en-US" dirty="0" smtClean="0"/>
              <a:t>,…</a:t>
            </a:r>
          </a:p>
          <a:p>
            <a:pPr marL="285750" indent="-285750" algn="just">
              <a:buFont typeface="Arial" panose="020B0604020202020204" pitchFamily="34" charset="0"/>
              <a:buChar char="•"/>
            </a:pPr>
            <a:r>
              <a:rPr lang="en-US" b="1" dirty="0" smtClean="0"/>
              <a:t>LLM – enhanced RS</a:t>
            </a:r>
            <a:r>
              <a:rPr lang="en-US" dirty="0" smtClean="0"/>
              <a:t>: LLMs </a:t>
            </a:r>
            <a:r>
              <a:rPr lang="en-US" dirty="0" err="1" smtClean="0"/>
              <a:t>tham</a:t>
            </a:r>
            <a:r>
              <a:rPr lang="en-US" dirty="0" smtClean="0"/>
              <a:t> </a:t>
            </a:r>
            <a:r>
              <a:rPr lang="en-US" dirty="0" err="1" smtClean="0"/>
              <a:t>gia</a:t>
            </a:r>
            <a:r>
              <a:rPr lang="en-US" dirty="0" smtClean="0"/>
              <a:t> vào các </a:t>
            </a:r>
            <a:r>
              <a:rPr lang="en-US" dirty="0" err="1" smtClean="0"/>
              <a:t>giai</a:t>
            </a:r>
            <a:r>
              <a:rPr lang="en-US" dirty="0" smtClean="0"/>
              <a:t> </a:t>
            </a:r>
            <a:r>
              <a:rPr lang="en-US" dirty="0" err="1" smtClean="0"/>
              <a:t>đoạn</a:t>
            </a:r>
            <a:r>
              <a:rPr lang="en-US" dirty="0" smtClean="0"/>
              <a:t> </a:t>
            </a:r>
            <a:r>
              <a:rPr lang="en-US" dirty="0" err="1" smtClean="0"/>
              <a:t>khác</a:t>
            </a:r>
            <a:r>
              <a:rPr lang="en-US" dirty="0" smtClean="0"/>
              <a:t> </a:t>
            </a:r>
            <a:r>
              <a:rPr lang="en-US" dirty="0" err="1" smtClean="0"/>
              <a:t>nhau</a:t>
            </a:r>
            <a:r>
              <a:rPr lang="en-US" dirty="0" smtClean="0"/>
              <a:t> trong pipeline của </a:t>
            </a:r>
            <a:r>
              <a:rPr lang="en-US" dirty="0" err="1" smtClean="0"/>
              <a:t>hệ</a:t>
            </a:r>
            <a:r>
              <a:rPr lang="en-US" dirty="0" smtClean="0"/>
              <a:t> tư vấn: feature engineering, feature encoder, scoring/ranking function, user interaction,… </a:t>
            </a:r>
            <a:r>
              <a:rPr lang="en-US" dirty="0" err="1" smtClean="0"/>
              <a:t>Tuy</a:t>
            </a:r>
            <a:r>
              <a:rPr lang="en-US" dirty="0" smtClean="0"/>
              <a:t> </a:t>
            </a:r>
            <a:r>
              <a:rPr lang="en-US" dirty="0" err="1" smtClean="0"/>
              <a:t>nhiên</a:t>
            </a:r>
            <a:r>
              <a:rPr lang="en-US" dirty="0" smtClean="0"/>
              <a:t>, vẫn còn </a:t>
            </a:r>
            <a:r>
              <a:rPr lang="en-US" dirty="0" err="1" smtClean="0"/>
              <a:t>vài</a:t>
            </a:r>
            <a:r>
              <a:rPr lang="en-US" dirty="0" smtClean="0"/>
              <a:t> </a:t>
            </a:r>
            <a:r>
              <a:rPr lang="en-US" dirty="0" err="1" smtClean="0"/>
              <a:t>hạn</a:t>
            </a:r>
            <a:r>
              <a:rPr lang="en-US" dirty="0" smtClean="0"/>
              <a:t> </a:t>
            </a:r>
            <a:r>
              <a:rPr lang="en-US" dirty="0" err="1" smtClean="0"/>
              <a:t>chế</a:t>
            </a:r>
            <a:r>
              <a:rPr lang="en-US" dirty="0"/>
              <a:t> </a:t>
            </a:r>
            <a:r>
              <a:rPr lang="en-US" dirty="0" smtClean="0"/>
              <a:t>như </a:t>
            </a:r>
            <a:r>
              <a:rPr lang="en-US" dirty="0" err="1" smtClean="0"/>
              <a:t>là</a:t>
            </a:r>
            <a:r>
              <a:rPr lang="en-US" dirty="0" smtClean="0"/>
              <a:t> </a:t>
            </a:r>
            <a:r>
              <a:rPr lang="en-US" dirty="0" err="1" smtClean="0"/>
              <a:t>khác</a:t>
            </a:r>
            <a:r>
              <a:rPr lang="en-US" dirty="0" smtClean="0"/>
              <a:t> </a:t>
            </a:r>
            <a:r>
              <a:rPr lang="en-US" dirty="0" err="1" smtClean="0"/>
              <a:t>biệt</a:t>
            </a:r>
            <a:r>
              <a:rPr lang="en-US" dirty="0" smtClean="0"/>
              <a:t> </a:t>
            </a:r>
            <a:r>
              <a:rPr lang="en-US" dirty="0" err="1" smtClean="0"/>
              <a:t>không</a:t>
            </a:r>
            <a:r>
              <a:rPr lang="en-US" dirty="0" smtClean="0"/>
              <a:t> </a:t>
            </a:r>
            <a:r>
              <a:rPr lang="en-US" dirty="0" err="1" smtClean="0"/>
              <a:t>gian</a:t>
            </a:r>
            <a:r>
              <a:rPr lang="en-US" dirty="0" smtClean="0"/>
              <a:t> </a:t>
            </a:r>
            <a:r>
              <a:rPr lang="en-US" dirty="0" err="1" smtClean="0"/>
              <a:t>ngữ</a:t>
            </a:r>
            <a:r>
              <a:rPr lang="en-US" dirty="0" smtClean="0"/>
              <a:t> </a:t>
            </a:r>
            <a:r>
              <a:rPr lang="en-US" dirty="0" err="1" smtClean="0"/>
              <a:t>nghĩa</a:t>
            </a:r>
            <a:r>
              <a:rPr lang="en-US" dirty="0" smtClean="0"/>
              <a:t> LLMs và </a:t>
            </a:r>
            <a:r>
              <a:rPr lang="en-US" dirty="0" err="1" smtClean="0"/>
              <a:t>không</a:t>
            </a:r>
            <a:r>
              <a:rPr lang="en-US" dirty="0" smtClean="0"/>
              <a:t> </a:t>
            </a:r>
            <a:r>
              <a:rPr lang="en-US" dirty="0" err="1" smtClean="0"/>
              <a:t>gian</a:t>
            </a:r>
            <a:r>
              <a:rPr lang="en-US" dirty="0" smtClean="0"/>
              <a:t> </a:t>
            </a:r>
            <a:r>
              <a:rPr lang="en-US" dirty="0" err="1" smtClean="0"/>
              <a:t>biểu</a:t>
            </a:r>
            <a:r>
              <a:rPr lang="en-US" dirty="0" smtClean="0"/>
              <a:t> </a:t>
            </a:r>
            <a:r>
              <a:rPr lang="en-US" dirty="0" err="1" smtClean="0"/>
              <a:t>diễn</a:t>
            </a:r>
            <a:r>
              <a:rPr lang="en-US" dirty="0" smtClean="0"/>
              <a:t> </a:t>
            </a:r>
            <a:r>
              <a:rPr lang="en-US" dirty="0" err="1" smtClean="0"/>
              <a:t>sở</a:t>
            </a:r>
            <a:r>
              <a:rPr lang="en-US" dirty="0" smtClean="0"/>
              <a:t> thích người </a:t>
            </a:r>
            <a:r>
              <a:rPr lang="en-US" dirty="0" err="1" smtClean="0"/>
              <a:t>dùng</a:t>
            </a:r>
            <a:r>
              <a:rPr lang="en-US" dirty="0" smtClean="0"/>
              <a:t>.</a:t>
            </a:r>
            <a:endParaRPr lang="en-US" dirty="0"/>
          </a:p>
          <a:p>
            <a:pPr marL="285750" indent="-285750" algn="just">
              <a:buFont typeface="Arial" panose="020B0604020202020204" pitchFamily="34" charset="0"/>
              <a:buChar char="•"/>
            </a:pPr>
            <a:r>
              <a:rPr lang="en-US" b="1" dirty="0" smtClean="0"/>
              <a:t>LLM – as RS</a:t>
            </a:r>
            <a:r>
              <a:rPr lang="en-US" dirty="0" smtClean="0"/>
              <a:t>: LLMs </a:t>
            </a:r>
            <a:r>
              <a:rPr lang="en-US" dirty="0" err="1" smtClean="0"/>
              <a:t>trực</a:t>
            </a:r>
            <a:r>
              <a:rPr lang="en-US" dirty="0" smtClean="0"/>
              <a:t> tiếp tư vấn, </a:t>
            </a:r>
            <a:r>
              <a:rPr lang="en-US" dirty="0" err="1" smtClean="0"/>
              <a:t>sinh</a:t>
            </a:r>
            <a:r>
              <a:rPr lang="en-US" dirty="0" smtClean="0"/>
              <a:t> </a:t>
            </a:r>
            <a:r>
              <a:rPr lang="en-US" dirty="0" err="1" smtClean="0"/>
              <a:t>gợi</a:t>
            </a:r>
            <a:r>
              <a:rPr lang="en-US" dirty="0" smtClean="0"/>
              <a:t> ý. Hiểu </a:t>
            </a:r>
            <a:r>
              <a:rPr lang="en-US" dirty="0" err="1" smtClean="0"/>
              <a:t>ngữ</a:t>
            </a:r>
            <a:r>
              <a:rPr lang="en-US" dirty="0" smtClean="0"/>
              <a:t> </a:t>
            </a:r>
            <a:r>
              <a:rPr lang="en-US" dirty="0" err="1" smtClean="0"/>
              <a:t>nghĩa</a:t>
            </a:r>
            <a:r>
              <a:rPr lang="en-US" dirty="0" smtClean="0"/>
              <a:t> </a:t>
            </a:r>
            <a:r>
              <a:rPr lang="en-US" dirty="0" err="1" smtClean="0"/>
              <a:t>sâu</a:t>
            </a:r>
            <a:r>
              <a:rPr lang="en-US" dirty="0" smtClean="0"/>
              <a:t> </a:t>
            </a:r>
            <a:r>
              <a:rPr lang="en-US" dirty="0" err="1" smtClean="0"/>
              <a:t>nhưng</a:t>
            </a:r>
            <a:r>
              <a:rPr lang="en-US" dirty="0" smtClean="0"/>
              <a:t> </a:t>
            </a:r>
            <a:r>
              <a:rPr lang="en-US" dirty="0" err="1" smtClean="0"/>
              <a:t>chậm</a:t>
            </a:r>
            <a:r>
              <a:rPr lang="en-US" dirty="0" smtClean="0"/>
              <a:t> do </a:t>
            </a:r>
            <a:r>
              <a:rPr lang="en-US" dirty="0" err="1" smtClean="0"/>
              <a:t>quá</a:t>
            </a:r>
            <a:r>
              <a:rPr lang="en-US" dirty="0" smtClean="0"/>
              <a:t> </a:t>
            </a:r>
            <a:r>
              <a:rPr lang="en-US" dirty="0" err="1" smtClean="0"/>
              <a:t>trình</a:t>
            </a:r>
            <a:r>
              <a:rPr lang="en-US" dirty="0" smtClean="0"/>
              <a:t> </a:t>
            </a:r>
            <a:r>
              <a:rPr lang="en-US" dirty="0" err="1" smtClean="0"/>
              <a:t>suy</a:t>
            </a:r>
            <a:r>
              <a:rPr lang="en-US" dirty="0" smtClean="0"/>
              <a:t> </a:t>
            </a:r>
            <a:r>
              <a:rPr lang="en-US" dirty="0" err="1" smtClean="0"/>
              <a:t>luận</a:t>
            </a:r>
            <a:r>
              <a:rPr lang="en-US" dirty="0" smtClean="0"/>
              <a:t> và </a:t>
            </a:r>
            <a:r>
              <a:rPr lang="en-US" dirty="0" err="1" smtClean="0"/>
              <a:t>không</a:t>
            </a:r>
            <a:r>
              <a:rPr lang="en-US" dirty="0" smtClean="0"/>
              <a:t> học </a:t>
            </a:r>
            <a:r>
              <a:rPr lang="en-US" dirty="0" err="1" smtClean="0"/>
              <a:t>tín</a:t>
            </a:r>
            <a:r>
              <a:rPr lang="en-US" dirty="0" smtClean="0"/>
              <a:t> </a:t>
            </a:r>
            <a:r>
              <a:rPr lang="en-US" dirty="0" err="1" smtClean="0"/>
              <a:t>hiệu</a:t>
            </a:r>
            <a:r>
              <a:rPr lang="en-US" dirty="0" smtClean="0"/>
              <a:t> </a:t>
            </a:r>
            <a:r>
              <a:rPr lang="en-US" dirty="0" err="1" smtClean="0"/>
              <a:t>cộng</a:t>
            </a:r>
            <a:r>
              <a:rPr lang="en-US" dirty="0" smtClean="0"/>
              <a:t> </a:t>
            </a:r>
            <a:r>
              <a:rPr lang="en-US" dirty="0" err="1" smtClean="0"/>
              <a:t>tác</a:t>
            </a:r>
            <a:r>
              <a:rPr lang="en-US" dirty="0"/>
              <a:t>.</a:t>
            </a:r>
            <a:endParaRPr lang="en-US" dirty="0" smtClean="0"/>
          </a:p>
          <a:p>
            <a:pPr algn="just"/>
            <a:endParaRPr lang="en-US" dirty="0"/>
          </a:p>
          <a:p>
            <a:pPr algn="just"/>
            <a:endParaRPr lang="en-US" dirty="0"/>
          </a:p>
        </p:txBody>
      </p:sp>
      <p:pic>
        <p:nvPicPr>
          <p:cNvPr id="6" name="Picture 5"/>
          <p:cNvPicPr>
            <a:picLocks noChangeAspect="1"/>
          </p:cNvPicPr>
          <p:nvPr/>
        </p:nvPicPr>
        <p:blipFill>
          <a:blip r:embed="rId3"/>
          <a:stretch>
            <a:fillRect/>
          </a:stretch>
        </p:blipFill>
        <p:spPr>
          <a:xfrm>
            <a:off x="5542461" y="2082426"/>
            <a:ext cx="3734213" cy="1868292"/>
          </a:xfrm>
          <a:prstGeom prst="rect">
            <a:avLst/>
          </a:prstGeom>
        </p:spPr>
      </p:pic>
      <p:sp>
        <p:nvSpPr>
          <p:cNvPr id="7" name="TextBox 6"/>
          <p:cNvSpPr txBox="1"/>
          <p:nvPr/>
        </p:nvSpPr>
        <p:spPr>
          <a:xfrm>
            <a:off x="6322570" y="3982014"/>
            <a:ext cx="2173993" cy="400110"/>
          </a:xfrm>
          <a:prstGeom prst="rect">
            <a:avLst/>
          </a:prstGeom>
          <a:noFill/>
        </p:spPr>
        <p:txBody>
          <a:bodyPr wrap="none" rtlCol="0">
            <a:spAutoFit/>
          </a:bodyPr>
          <a:lstStyle/>
          <a:p>
            <a:pPr algn="ctr"/>
            <a:r>
              <a:rPr lang="en-US" sz="1000" dirty="0" smtClean="0"/>
              <a:t>Hình: Các </a:t>
            </a:r>
            <a:r>
              <a:rPr lang="en-US" sz="1000" dirty="0" err="1" smtClean="0"/>
              <a:t>mô</a:t>
            </a:r>
            <a:r>
              <a:rPr lang="en-US" sz="1000" dirty="0" smtClean="0"/>
              <a:t> hình </a:t>
            </a:r>
            <a:r>
              <a:rPr lang="en-US" sz="1000" dirty="0" err="1" smtClean="0"/>
              <a:t>hệ</a:t>
            </a:r>
            <a:r>
              <a:rPr lang="en-US" sz="1000" dirty="0" smtClean="0"/>
              <a:t> </a:t>
            </a:r>
            <a:r>
              <a:rPr lang="en-US" sz="1000" dirty="0" err="1" smtClean="0"/>
              <a:t>thống</a:t>
            </a:r>
            <a:r>
              <a:rPr lang="en-US" sz="1000" dirty="0" smtClean="0"/>
              <a:t> tư vấn</a:t>
            </a:r>
            <a:br>
              <a:rPr lang="en-US" sz="1000" dirty="0" smtClean="0"/>
            </a:br>
            <a:r>
              <a:rPr lang="en-US" sz="1000" dirty="0" smtClean="0"/>
              <a:t> được </a:t>
            </a:r>
            <a:r>
              <a:rPr lang="en-US" sz="1000" dirty="0" err="1" smtClean="0"/>
              <a:t>nghiên</a:t>
            </a:r>
            <a:r>
              <a:rPr lang="en-US" sz="1000" dirty="0" smtClean="0"/>
              <a:t> </a:t>
            </a:r>
            <a:r>
              <a:rPr lang="en-US" sz="1000" dirty="0" err="1" smtClean="0"/>
              <a:t>cứu</a:t>
            </a:r>
            <a:r>
              <a:rPr lang="en-US" sz="1000" dirty="0" smtClean="0"/>
              <a:t> </a:t>
            </a:r>
            <a:r>
              <a:rPr lang="en-US" sz="1000" dirty="0" err="1" smtClean="0"/>
              <a:t>hiện</a:t>
            </a:r>
            <a:r>
              <a:rPr lang="en-US" sz="1000" dirty="0" smtClean="0"/>
              <a:t> nay</a:t>
            </a:r>
            <a:endParaRPr lang="en-US" sz="1000" dirty="0"/>
          </a:p>
        </p:txBody>
      </p:sp>
    </p:spTree>
    <p:extLst>
      <p:ext uri="{BB962C8B-B14F-4D97-AF65-F5344CB8AC3E}">
        <p14:creationId xmlns:p14="http://schemas.microsoft.com/office/powerpoint/2010/main" val="1207182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GIỚI THIỆU TỔNG QUAN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So </a:t>
            </a:r>
            <a:r>
              <a:rPr lang="en-US" sz="2000" dirty="0" err="1" smtClean="0">
                <a:solidFill>
                  <a:schemeClr val="tx1">
                    <a:lumMod val="50000"/>
                    <a:lumOff val="50000"/>
                  </a:schemeClr>
                </a:solidFill>
              </a:rPr>
              <a:t>sánh</a:t>
            </a:r>
            <a:r>
              <a:rPr lang="en-US" sz="2000" dirty="0" smtClean="0">
                <a:solidFill>
                  <a:schemeClr val="tx1">
                    <a:lumMod val="50000"/>
                    <a:lumOff val="50000"/>
                  </a:schemeClr>
                </a:solidFill>
              </a:rPr>
              <a:t> các </a:t>
            </a:r>
            <a:r>
              <a:rPr lang="en-US" sz="2000" dirty="0" err="1" smtClean="0">
                <a:solidFill>
                  <a:schemeClr val="tx1">
                    <a:lumMod val="50000"/>
                    <a:lumOff val="50000"/>
                  </a:schemeClr>
                </a:solidFill>
              </a:rPr>
              <a:t>mô</a:t>
            </a:r>
            <a:r>
              <a:rPr lang="en-US" sz="2000" dirty="0" smtClean="0">
                <a:solidFill>
                  <a:schemeClr val="tx1">
                    <a:lumMod val="50000"/>
                    <a:lumOff val="50000"/>
                  </a:schemeClr>
                </a:solidFill>
              </a:rPr>
              <a:t> hình chính</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smtClean="0">
                <a:solidFill>
                  <a:schemeClr val="tx1"/>
                </a:solidFill>
              </a:rPr>
              <a:t>Các </a:t>
            </a:r>
            <a:r>
              <a:rPr lang="en-US" sz="2400" dirty="0" err="1" smtClean="0">
                <a:solidFill>
                  <a:schemeClr val="tx1"/>
                </a:solidFill>
              </a:rPr>
              <a:t>hướng</a:t>
            </a:r>
            <a:r>
              <a:rPr lang="en-US" sz="2400" dirty="0" smtClean="0">
                <a:solidFill>
                  <a:schemeClr val="tx1"/>
                </a:solidFill>
              </a:rPr>
              <a:t> </a:t>
            </a:r>
            <a:r>
              <a:rPr lang="en-US" sz="2400" dirty="0" err="1" smtClean="0">
                <a:solidFill>
                  <a:schemeClr val="tx1"/>
                </a:solidFill>
              </a:rPr>
              <a:t>tích</a:t>
            </a:r>
            <a:r>
              <a:rPr lang="en-US" sz="2400" dirty="0" smtClean="0">
                <a:solidFill>
                  <a:schemeClr val="tx1"/>
                </a:solidFill>
              </a:rPr>
              <a:t> hợp LLMs vào </a:t>
            </a:r>
            <a:r>
              <a:rPr lang="en-US" sz="2400" dirty="0" err="1" smtClean="0">
                <a:solidFill>
                  <a:schemeClr val="tx1"/>
                </a:solidFill>
              </a:rPr>
              <a:t>RecSys</a:t>
            </a:r>
            <a:endParaRPr lang="vi-VN" sz="2400" dirty="0">
              <a:solidFill>
                <a:schemeClr val="tx1"/>
              </a:solidFill>
            </a:endParaRPr>
          </a:p>
        </p:txBody>
      </p:sp>
      <p:sp>
        <p:nvSpPr>
          <p:cNvPr id="7" name="TextBox 6"/>
          <p:cNvSpPr txBox="1"/>
          <p:nvPr/>
        </p:nvSpPr>
        <p:spPr>
          <a:xfrm>
            <a:off x="1005989" y="3939415"/>
            <a:ext cx="2677336" cy="400110"/>
          </a:xfrm>
          <a:prstGeom prst="rect">
            <a:avLst/>
          </a:prstGeom>
          <a:noFill/>
        </p:spPr>
        <p:txBody>
          <a:bodyPr wrap="none" rtlCol="0">
            <a:spAutoFit/>
          </a:bodyPr>
          <a:lstStyle/>
          <a:p>
            <a:pPr algn="ctr"/>
            <a:r>
              <a:rPr lang="en-US" sz="1000" dirty="0" smtClean="0"/>
              <a:t>Hình: Các </a:t>
            </a:r>
            <a:r>
              <a:rPr lang="en-US" sz="1000" dirty="0" err="1" smtClean="0"/>
              <a:t>giai</a:t>
            </a:r>
            <a:r>
              <a:rPr lang="en-US" sz="1000" dirty="0" smtClean="0"/>
              <a:t> </a:t>
            </a:r>
            <a:r>
              <a:rPr lang="en-US" sz="1000" dirty="0" err="1" smtClean="0"/>
              <a:t>đoạn</a:t>
            </a:r>
            <a:r>
              <a:rPr lang="en-US" sz="1000" dirty="0" smtClean="0"/>
              <a:t> trong pipeline </a:t>
            </a:r>
            <a:r>
              <a:rPr lang="en-US" sz="1000" dirty="0" err="1" smtClean="0"/>
              <a:t>hệ</a:t>
            </a:r>
            <a:r>
              <a:rPr lang="en-US" sz="1000" dirty="0" smtClean="0"/>
              <a:t> tư vấn</a:t>
            </a:r>
            <a:br>
              <a:rPr lang="en-US" sz="1000" dirty="0" smtClean="0"/>
            </a:br>
            <a:r>
              <a:rPr lang="en-US" sz="1000" dirty="0" smtClean="0"/>
              <a:t>có thể </a:t>
            </a:r>
            <a:r>
              <a:rPr lang="en-US" sz="1000" dirty="0" err="1" smtClean="0"/>
              <a:t>ứng</a:t>
            </a:r>
            <a:r>
              <a:rPr lang="en-US" sz="1000" dirty="0" smtClean="0"/>
              <a:t> </a:t>
            </a:r>
            <a:r>
              <a:rPr lang="en-US" sz="1000" dirty="0" err="1" smtClean="0"/>
              <a:t>dụng</a:t>
            </a:r>
            <a:r>
              <a:rPr lang="en-US" sz="1000" dirty="0" smtClean="0"/>
              <a:t> LLMs </a:t>
            </a:r>
            <a:r>
              <a:rPr lang="en-US" sz="1000" dirty="0" err="1" smtClean="0"/>
              <a:t>để</a:t>
            </a:r>
            <a:r>
              <a:rPr lang="en-US" sz="1000" dirty="0" smtClean="0"/>
              <a:t> </a:t>
            </a:r>
            <a:r>
              <a:rPr lang="en-US" sz="1000" dirty="0" err="1" smtClean="0"/>
              <a:t>cải</a:t>
            </a:r>
            <a:r>
              <a:rPr lang="en-US" sz="1000" dirty="0" smtClean="0"/>
              <a:t> </a:t>
            </a:r>
            <a:r>
              <a:rPr lang="en-US" sz="1000" dirty="0" err="1" smtClean="0"/>
              <a:t>tiến</a:t>
            </a:r>
            <a:endParaRPr lang="en-US" sz="1000" dirty="0"/>
          </a:p>
        </p:txBody>
      </p:sp>
      <p:pic>
        <p:nvPicPr>
          <p:cNvPr id="3" name="Picture 2"/>
          <p:cNvPicPr>
            <a:picLocks noChangeAspect="1"/>
          </p:cNvPicPr>
          <p:nvPr/>
        </p:nvPicPr>
        <p:blipFill>
          <a:blip r:embed="rId3"/>
          <a:stretch>
            <a:fillRect/>
          </a:stretch>
        </p:blipFill>
        <p:spPr>
          <a:xfrm>
            <a:off x="297700" y="1856170"/>
            <a:ext cx="4514319" cy="2003107"/>
          </a:xfrm>
          <a:prstGeom prst="rect">
            <a:avLst/>
          </a:prstGeom>
        </p:spPr>
      </p:pic>
      <p:pic>
        <p:nvPicPr>
          <p:cNvPr id="4" name="Picture 3"/>
          <p:cNvPicPr>
            <a:picLocks noChangeAspect="1"/>
          </p:cNvPicPr>
          <p:nvPr/>
        </p:nvPicPr>
        <p:blipFill>
          <a:blip r:embed="rId4"/>
          <a:stretch>
            <a:fillRect/>
          </a:stretch>
        </p:blipFill>
        <p:spPr>
          <a:xfrm>
            <a:off x="4917451" y="1612719"/>
            <a:ext cx="4124494" cy="2334225"/>
          </a:xfrm>
          <a:prstGeom prst="rect">
            <a:avLst/>
          </a:prstGeom>
        </p:spPr>
      </p:pic>
      <p:sp>
        <p:nvSpPr>
          <p:cNvPr id="12" name="TextBox 11"/>
          <p:cNvSpPr txBox="1"/>
          <p:nvPr/>
        </p:nvSpPr>
        <p:spPr>
          <a:xfrm>
            <a:off x="5344477" y="3919573"/>
            <a:ext cx="3270447" cy="400110"/>
          </a:xfrm>
          <a:prstGeom prst="rect">
            <a:avLst/>
          </a:prstGeom>
          <a:noFill/>
        </p:spPr>
        <p:txBody>
          <a:bodyPr wrap="none" rtlCol="0">
            <a:spAutoFit/>
          </a:bodyPr>
          <a:lstStyle/>
          <a:p>
            <a:pPr algn="ctr"/>
            <a:r>
              <a:rPr lang="en-US" sz="1000" dirty="0" smtClean="0"/>
              <a:t>Hình: Các </a:t>
            </a:r>
            <a:r>
              <a:rPr lang="en-US" sz="1000" dirty="0" err="1" smtClean="0"/>
              <a:t>mô</a:t>
            </a:r>
            <a:r>
              <a:rPr lang="en-US" sz="1000" dirty="0" smtClean="0"/>
              <a:t> hình / bài </a:t>
            </a:r>
            <a:r>
              <a:rPr lang="en-US" sz="1000" dirty="0" err="1" smtClean="0"/>
              <a:t>báo</a:t>
            </a:r>
            <a:r>
              <a:rPr lang="en-US" sz="1000" dirty="0" smtClean="0"/>
              <a:t> đã được công </a:t>
            </a:r>
            <a:r>
              <a:rPr lang="en-US" sz="1000" dirty="0" err="1" smtClean="0"/>
              <a:t>bố</a:t>
            </a:r>
            <a:r>
              <a:rPr lang="en-US" sz="1000" dirty="0" smtClean="0"/>
              <a:t/>
            </a:r>
            <a:br>
              <a:rPr lang="en-US" sz="1000" dirty="0" smtClean="0"/>
            </a:br>
            <a:r>
              <a:rPr lang="en-US" sz="1000" dirty="0" err="1" smtClean="0"/>
              <a:t>cải</a:t>
            </a:r>
            <a:r>
              <a:rPr lang="en-US" sz="1000" dirty="0" smtClean="0"/>
              <a:t> </a:t>
            </a:r>
            <a:r>
              <a:rPr lang="en-US" sz="1000" dirty="0" err="1" smtClean="0"/>
              <a:t>tiến</a:t>
            </a:r>
            <a:r>
              <a:rPr lang="en-US" sz="1000" dirty="0" smtClean="0"/>
              <a:t> các công </a:t>
            </a:r>
            <a:r>
              <a:rPr lang="en-US" sz="1000" dirty="0" err="1" smtClean="0"/>
              <a:t>đoạn</a:t>
            </a:r>
            <a:r>
              <a:rPr lang="en-US" sz="1000" dirty="0" smtClean="0"/>
              <a:t> </a:t>
            </a:r>
            <a:r>
              <a:rPr lang="en-US" sz="1000" dirty="0" err="1" smtClean="0"/>
              <a:t>khác</a:t>
            </a:r>
            <a:r>
              <a:rPr lang="en-US" sz="1000" dirty="0" smtClean="0"/>
              <a:t> </a:t>
            </a:r>
            <a:r>
              <a:rPr lang="en-US" sz="1000" dirty="0" err="1" smtClean="0"/>
              <a:t>nhau</a:t>
            </a:r>
            <a:r>
              <a:rPr lang="en-US" sz="1000" dirty="0" smtClean="0"/>
              <a:t> trong pipeline tư vấn</a:t>
            </a:r>
            <a:endParaRPr lang="en-US" sz="1000" dirty="0"/>
          </a:p>
        </p:txBody>
      </p:sp>
    </p:spTree>
    <p:extLst>
      <p:ext uri="{BB962C8B-B14F-4D97-AF65-F5344CB8AC3E}">
        <p14:creationId xmlns:p14="http://schemas.microsoft.com/office/powerpoint/2010/main" val="1308194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GIỚI THIỆU TỔNG QUAN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dirty="0">
                <a:solidFill>
                  <a:schemeClr val="dk1"/>
                </a:solidFill>
                <a:latin typeface="Arial"/>
                <a:ea typeface="Arial"/>
                <a:cs typeface="Arial"/>
                <a:sym typeface="Arial"/>
              </a:rPr>
              <a:t>© Bộ môn </a:t>
            </a:r>
            <a:r>
              <a:rPr lang="vi-VN" sz="1000" dirty="0">
                <a:solidFill>
                  <a:schemeClr val="dk1"/>
                </a:solidFill>
              </a:rPr>
              <a:t>KHMT</a:t>
            </a:r>
            <a:r>
              <a:rPr lang="vi-VN" sz="1000" b="0" i="0" dirty="0">
                <a:solidFill>
                  <a:schemeClr val="dk1"/>
                </a:solidFill>
                <a:latin typeface="Arial"/>
                <a:ea typeface="Arial"/>
                <a:cs typeface="Arial"/>
                <a:sym typeface="Arial"/>
              </a:rPr>
              <a:t> - Khoa CNTT - Trường ĐH KHTN</a:t>
            </a:r>
            <a:endParaRPr sz="1000" b="0" i="0" dirty="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576844"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Tích</a:t>
            </a:r>
            <a:r>
              <a:rPr lang="en-US" sz="2000" dirty="0" smtClean="0">
                <a:solidFill>
                  <a:schemeClr val="tx1">
                    <a:lumMod val="50000"/>
                    <a:lumOff val="50000"/>
                  </a:schemeClr>
                </a:solidFill>
              </a:rPr>
              <a:t> hợp LLMs vào </a:t>
            </a:r>
            <a:r>
              <a:rPr lang="en-US" sz="2000" dirty="0" err="1" smtClean="0">
                <a:solidFill>
                  <a:schemeClr val="tx1">
                    <a:lumMod val="50000"/>
                    <a:lumOff val="50000"/>
                  </a:schemeClr>
                </a:solidFill>
              </a:rPr>
              <a:t>RecSys</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Hướng</a:t>
            </a:r>
            <a:r>
              <a:rPr lang="en-US" sz="2400" dirty="0" smtClean="0">
                <a:solidFill>
                  <a:schemeClr val="tx1"/>
                </a:solidFill>
              </a:rPr>
              <a:t> </a:t>
            </a:r>
            <a:r>
              <a:rPr lang="en-US" sz="2400" dirty="0" err="1" smtClean="0">
                <a:solidFill>
                  <a:schemeClr val="tx1"/>
                </a:solidFill>
              </a:rPr>
              <a:t>nghiên</a:t>
            </a:r>
            <a:r>
              <a:rPr lang="en-US" sz="2400" dirty="0" smtClean="0">
                <a:solidFill>
                  <a:schemeClr val="tx1"/>
                </a:solidFill>
              </a:rPr>
              <a:t> </a:t>
            </a:r>
            <a:r>
              <a:rPr lang="en-US" sz="2400" dirty="0" err="1" smtClean="0">
                <a:solidFill>
                  <a:schemeClr val="tx1"/>
                </a:solidFill>
              </a:rPr>
              <a:t>cứu</a:t>
            </a:r>
            <a:endParaRPr lang="vi-VN" sz="2400" dirty="0">
              <a:solidFill>
                <a:schemeClr val="tx1"/>
              </a:solidFill>
            </a:endParaRPr>
          </a:p>
        </p:txBody>
      </p:sp>
      <p:sp>
        <p:nvSpPr>
          <p:cNvPr id="2" name="TextBox 1"/>
          <p:cNvSpPr txBox="1"/>
          <p:nvPr/>
        </p:nvSpPr>
        <p:spPr>
          <a:xfrm>
            <a:off x="576306" y="1949450"/>
            <a:ext cx="7107194" cy="2246769"/>
          </a:xfrm>
          <a:prstGeom prst="rect">
            <a:avLst/>
          </a:prstGeom>
          <a:noFill/>
        </p:spPr>
        <p:txBody>
          <a:bodyPr wrap="square" rtlCol="0">
            <a:spAutoFit/>
          </a:bodyPr>
          <a:lstStyle/>
          <a:p>
            <a:r>
              <a:rPr lang="en-US" dirty="0" err="1" smtClean="0"/>
              <a:t>Lựa</a:t>
            </a:r>
            <a:r>
              <a:rPr lang="en-US" dirty="0" smtClean="0"/>
              <a:t> </a:t>
            </a:r>
            <a:r>
              <a:rPr lang="en-US" dirty="0" err="1" smtClean="0"/>
              <a:t>chọn</a:t>
            </a:r>
            <a:r>
              <a:rPr lang="en-US" dirty="0" smtClean="0"/>
              <a:t> LLM – as </a:t>
            </a:r>
            <a:r>
              <a:rPr lang="en-US" dirty="0" err="1" smtClean="0"/>
              <a:t>RecSys</a:t>
            </a:r>
            <a:r>
              <a:rPr lang="en-US" dirty="0" smtClean="0"/>
              <a:t>:</a:t>
            </a:r>
          </a:p>
          <a:p>
            <a:pPr marL="285750" lvl="6" indent="-285750">
              <a:buFont typeface="Arial" panose="020B0604020202020204" pitchFamily="34" charset="0"/>
              <a:buChar char="•"/>
            </a:pPr>
            <a:r>
              <a:rPr lang="en-US" dirty="0" smtClean="0"/>
              <a:t>Tính mới, nhiều </a:t>
            </a:r>
            <a:r>
              <a:rPr lang="en-US" dirty="0" err="1" smtClean="0"/>
              <a:t>tiềm</a:t>
            </a:r>
            <a:r>
              <a:rPr lang="en-US" dirty="0" smtClean="0"/>
              <a:t> </a:t>
            </a:r>
            <a:r>
              <a:rPr lang="en-US" dirty="0" err="1" smtClean="0"/>
              <a:t>năng</a:t>
            </a:r>
            <a:endParaRPr lang="en-US" dirty="0" smtClean="0"/>
          </a:p>
          <a:p>
            <a:pPr marL="285750" lvl="6" indent="-285750">
              <a:buFont typeface="Arial" panose="020B0604020202020204" pitchFamily="34" charset="0"/>
              <a:buChar char="•"/>
            </a:pPr>
            <a:r>
              <a:rPr lang="en-US" dirty="0" smtClean="0"/>
              <a:t>Thế </a:t>
            </a:r>
            <a:r>
              <a:rPr lang="en-US" dirty="0" err="1" smtClean="0"/>
              <a:t>mạnh</a:t>
            </a:r>
            <a:r>
              <a:rPr lang="en-US" dirty="0" smtClean="0"/>
              <a:t> </a:t>
            </a:r>
            <a:r>
              <a:rPr lang="en-US" dirty="0" err="1" smtClean="0"/>
              <a:t>riêng</a:t>
            </a:r>
            <a:r>
              <a:rPr lang="en-US" dirty="0" smtClean="0"/>
              <a:t>: </a:t>
            </a:r>
            <a:r>
              <a:rPr lang="en-US" dirty="0" err="1" smtClean="0"/>
              <a:t>khả</a:t>
            </a:r>
            <a:r>
              <a:rPr lang="en-US" dirty="0" smtClean="0"/>
              <a:t> </a:t>
            </a:r>
            <a:r>
              <a:rPr lang="en-US" dirty="0" err="1" smtClean="0"/>
              <a:t>năng</a:t>
            </a:r>
            <a:r>
              <a:rPr lang="en-US" dirty="0" smtClean="0"/>
              <a:t> </a:t>
            </a:r>
            <a:r>
              <a:rPr lang="en-US" dirty="0" err="1" smtClean="0"/>
              <a:t>suy</a:t>
            </a:r>
            <a:r>
              <a:rPr lang="en-US" dirty="0" smtClean="0"/>
              <a:t> </a:t>
            </a:r>
            <a:r>
              <a:rPr lang="en-US" dirty="0" err="1" smtClean="0"/>
              <a:t>luận</a:t>
            </a:r>
            <a:r>
              <a:rPr lang="en-US" dirty="0" smtClean="0"/>
              <a:t> và hiểu </a:t>
            </a:r>
            <a:r>
              <a:rPr lang="en-US" dirty="0" err="1" smtClean="0"/>
              <a:t>ngữ</a:t>
            </a:r>
            <a:r>
              <a:rPr lang="en-US" dirty="0" smtClean="0"/>
              <a:t> </a:t>
            </a:r>
            <a:r>
              <a:rPr lang="en-US" dirty="0" err="1" smtClean="0"/>
              <a:t>nghĩa</a:t>
            </a:r>
            <a:r>
              <a:rPr lang="en-US" dirty="0" smtClean="0"/>
              <a:t>, tri </a:t>
            </a:r>
            <a:r>
              <a:rPr lang="en-US" dirty="0" err="1" smtClean="0"/>
              <a:t>thức</a:t>
            </a:r>
            <a:r>
              <a:rPr lang="en-US" dirty="0" smtClean="0"/>
              <a:t> về thế </a:t>
            </a:r>
            <a:r>
              <a:rPr lang="en-US" dirty="0" err="1" smtClean="0"/>
              <a:t>giới</a:t>
            </a:r>
            <a:r>
              <a:rPr lang="en-US" dirty="0" smtClean="0"/>
              <a:t>, </a:t>
            </a:r>
            <a:r>
              <a:rPr lang="en-US" dirty="0" err="1" smtClean="0"/>
              <a:t>hiệu</a:t>
            </a:r>
            <a:r>
              <a:rPr lang="en-US" dirty="0" smtClean="0"/>
              <a:t> </a:t>
            </a:r>
            <a:r>
              <a:rPr lang="en-US" dirty="0" err="1" smtClean="0"/>
              <a:t>quả</a:t>
            </a:r>
            <a:r>
              <a:rPr lang="en-US" dirty="0" smtClean="0"/>
              <a:t> trong các tính </a:t>
            </a:r>
            <a:r>
              <a:rPr lang="en-US" dirty="0" err="1" smtClean="0"/>
              <a:t>huống</a:t>
            </a:r>
            <a:r>
              <a:rPr lang="en-US" dirty="0" smtClean="0"/>
              <a:t> như cold-start, </a:t>
            </a:r>
            <a:r>
              <a:rPr lang="en-US" dirty="0" err="1" smtClean="0"/>
              <a:t>giải</a:t>
            </a:r>
            <a:r>
              <a:rPr lang="en-US" dirty="0" smtClean="0"/>
              <a:t> thích được </a:t>
            </a:r>
            <a:r>
              <a:rPr lang="en-US" dirty="0" err="1" smtClean="0"/>
              <a:t>kết</a:t>
            </a:r>
            <a:r>
              <a:rPr lang="en-US" dirty="0" smtClean="0"/>
              <a:t> </a:t>
            </a:r>
            <a:r>
              <a:rPr lang="en-US" dirty="0" err="1" smtClean="0"/>
              <a:t>quả</a:t>
            </a:r>
            <a:r>
              <a:rPr lang="en-US" dirty="0" smtClean="0"/>
              <a:t> </a:t>
            </a:r>
            <a:r>
              <a:rPr lang="en-US" dirty="0" err="1" smtClean="0"/>
              <a:t>gợi</a:t>
            </a:r>
            <a:r>
              <a:rPr lang="en-US" dirty="0" smtClean="0"/>
              <a:t> ý…</a:t>
            </a:r>
          </a:p>
          <a:p>
            <a:pPr marL="285750" lvl="6" indent="-285750">
              <a:buFont typeface="Arial" panose="020B0604020202020204" pitchFamily="34" charset="0"/>
              <a:buChar char="•"/>
            </a:pPr>
            <a:r>
              <a:rPr lang="en-US" dirty="0" err="1" smtClean="0"/>
              <a:t>Tích</a:t>
            </a:r>
            <a:r>
              <a:rPr lang="en-US" dirty="0" smtClean="0"/>
              <a:t> hợp, </a:t>
            </a:r>
            <a:r>
              <a:rPr lang="en-US" dirty="0" err="1" smtClean="0"/>
              <a:t>bổ</a:t>
            </a:r>
            <a:r>
              <a:rPr lang="en-US" dirty="0" smtClean="0"/>
              <a:t> sung </a:t>
            </a:r>
            <a:r>
              <a:rPr lang="en-US" dirty="0" err="1" smtClean="0"/>
              <a:t>thêm</a:t>
            </a:r>
            <a:r>
              <a:rPr lang="en-US" dirty="0" smtClean="0"/>
              <a:t> </a:t>
            </a:r>
            <a:r>
              <a:rPr lang="en-US" dirty="0" err="1" smtClean="0"/>
              <a:t>tín</a:t>
            </a:r>
            <a:r>
              <a:rPr lang="en-US" dirty="0" smtClean="0"/>
              <a:t> </a:t>
            </a:r>
            <a:r>
              <a:rPr lang="en-US" dirty="0" err="1" smtClean="0"/>
              <a:t>hiệu</a:t>
            </a:r>
            <a:r>
              <a:rPr lang="en-US" dirty="0" smtClean="0"/>
              <a:t> </a:t>
            </a:r>
            <a:r>
              <a:rPr lang="en-US" dirty="0" err="1" smtClean="0"/>
              <a:t>cộng</a:t>
            </a:r>
            <a:r>
              <a:rPr lang="en-US" dirty="0" smtClean="0"/>
              <a:t> </a:t>
            </a:r>
            <a:r>
              <a:rPr lang="en-US" dirty="0" err="1" smtClean="0"/>
              <a:t>tác</a:t>
            </a:r>
            <a:r>
              <a:rPr lang="en-US" dirty="0" smtClean="0"/>
              <a:t> vào LLMs </a:t>
            </a:r>
            <a:r>
              <a:rPr lang="en-US" dirty="0" err="1" smtClean="0"/>
              <a:t>từ</a:t>
            </a:r>
            <a:r>
              <a:rPr lang="en-US" dirty="0" smtClean="0"/>
              <a:t> các </a:t>
            </a:r>
            <a:r>
              <a:rPr lang="en-US" dirty="0" err="1" smtClean="0"/>
              <a:t>mô</a:t>
            </a:r>
            <a:r>
              <a:rPr lang="en-US" dirty="0" smtClean="0"/>
              <a:t> hình tư vấn </a:t>
            </a:r>
            <a:r>
              <a:rPr lang="en-US" dirty="0" err="1" smtClean="0"/>
              <a:t>truyền</a:t>
            </a:r>
            <a:r>
              <a:rPr lang="en-US" dirty="0" smtClean="0"/>
              <a:t> </a:t>
            </a:r>
            <a:r>
              <a:rPr lang="en-US" dirty="0" err="1" smtClean="0"/>
              <a:t>thống</a:t>
            </a:r>
            <a:r>
              <a:rPr lang="en-US" dirty="0"/>
              <a:t> (Matrix </a:t>
            </a:r>
            <a:r>
              <a:rPr lang="en-US" dirty="0" smtClean="0"/>
              <a:t>Factorization)</a:t>
            </a:r>
          </a:p>
          <a:p>
            <a:pPr marL="285750" lvl="6" indent="-285750">
              <a:buFont typeface="Arial" panose="020B0604020202020204" pitchFamily="34" charset="0"/>
              <a:buChar char="•"/>
            </a:pPr>
            <a:r>
              <a:rPr lang="en-US" dirty="0" err="1" smtClean="0"/>
              <a:t>Câu</a:t>
            </a:r>
            <a:r>
              <a:rPr lang="en-US" dirty="0" smtClean="0"/>
              <a:t> hỏi </a:t>
            </a:r>
            <a:r>
              <a:rPr lang="en-US" dirty="0" err="1" smtClean="0"/>
              <a:t>nghiên</a:t>
            </a:r>
            <a:r>
              <a:rPr lang="en-US" dirty="0" smtClean="0"/>
              <a:t> </a:t>
            </a:r>
            <a:r>
              <a:rPr lang="en-US" dirty="0" err="1" smtClean="0"/>
              <a:t>cứu</a:t>
            </a:r>
            <a:r>
              <a:rPr lang="en-US" dirty="0" smtClean="0"/>
              <a:t>: Thu </a:t>
            </a:r>
            <a:r>
              <a:rPr lang="en-US" dirty="0" err="1" smtClean="0"/>
              <a:t>hẹp</a:t>
            </a:r>
            <a:r>
              <a:rPr lang="en-US" dirty="0" smtClean="0"/>
              <a:t> </a:t>
            </a:r>
            <a:r>
              <a:rPr lang="en-US" dirty="0"/>
              <a:t>s</a:t>
            </a:r>
            <a:r>
              <a:rPr lang="en-US" dirty="0" smtClean="0"/>
              <a:t>emantic gap vector embedding </a:t>
            </a:r>
            <a:r>
              <a:rPr lang="en-US" dirty="0" err="1" smtClean="0"/>
              <a:t>cộng</a:t>
            </a:r>
            <a:r>
              <a:rPr lang="en-US" dirty="0" smtClean="0"/>
              <a:t> </a:t>
            </a:r>
            <a:r>
              <a:rPr lang="en-US" dirty="0" err="1" smtClean="0"/>
              <a:t>tác</a:t>
            </a:r>
            <a:r>
              <a:rPr lang="en-US" dirty="0" smtClean="0"/>
              <a:t> và embedding </a:t>
            </a:r>
            <a:r>
              <a:rPr lang="en-US" dirty="0" err="1" smtClean="0"/>
              <a:t>ngữ</a:t>
            </a:r>
            <a:r>
              <a:rPr lang="en-US" dirty="0" smtClean="0"/>
              <a:t> </a:t>
            </a:r>
            <a:r>
              <a:rPr lang="en-US" dirty="0" err="1" smtClean="0"/>
              <a:t>nghĩa</a:t>
            </a:r>
            <a:r>
              <a:rPr lang="en-US" dirty="0" smtClean="0"/>
              <a:t> </a:t>
            </a:r>
            <a:r>
              <a:rPr lang="en-US" dirty="0" err="1" smtClean="0"/>
              <a:t>để</a:t>
            </a:r>
            <a:r>
              <a:rPr lang="en-US" dirty="0" smtClean="0"/>
              <a:t> </a:t>
            </a:r>
            <a:r>
              <a:rPr lang="en-US" dirty="0" err="1" smtClean="0"/>
              <a:t>cải</a:t>
            </a:r>
            <a:r>
              <a:rPr lang="en-US" dirty="0" smtClean="0"/>
              <a:t> </a:t>
            </a:r>
            <a:r>
              <a:rPr lang="en-US" dirty="0" err="1" smtClean="0"/>
              <a:t>thiện</a:t>
            </a:r>
            <a:r>
              <a:rPr lang="en-US" dirty="0" smtClean="0"/>
              <a:t> </a:t>
            </a:r>
            <a:r>
              <a:rPr lang="en-US" dirty="0" err="1" smtClean="0"/>
              <a:t>độ</a:t>
            </a:r>
            <a:r>
              <a:rPr lang="en-US" dirty="0" smtClean="0"/>
              <a:t> chính </a:t>
            </a:r>
            <a:r>
              <a:rPr lang="en-US" dirty="0" err="1" smtClean="0"/>
              <a:t>xác</a:t>
            </a:r>
            <a:r>
              <a:rPr lang="en-US" dirty="0" smtClean="0"/>
              <a:t> </a:t>
            </a:r>
            <a:r>
              <a:rPr lang="en-US" dirty="0" err="1" smtClean="0"/>
              <a:t>cho</a:t>
            </a:r>
            <a:r>
              <a:rPr lang="en-US" dirty="0" smtClean="0"/>
              <a:t> </a:t>
            </a:r>
            <a:r>
              <a:rPr lang="en-US" dirty="0" err="1" smtClean="0"/>
              <a:t>mô</a:t>
            </a:r>
            <a:r>
              <a:rPr lang="en-US" dirty="0" smtClean="0"/>
              <a:t> hình tư vấn </a:t>
            </a:r>
            <a:r>
              <a:rPr lang="en-US" dirty="0" err="1" smtClean="0"/>
              <a:t>dựa</a:t>
            </a:r>
            <a:r>
              <a:rPr lang="en-US" dirty="0" smtClean="0"/>
              <a:t> trên LLMs.</a:t>
            </a:r>
          </a:p>
          <a:p>
            <a:pPr marL="285750" lvl="6" indent="-285750">
              <a:buFont typeface="Arial" panose="020B0604020202020204" pitchFamily="34" charset="0"/>
              <a:buChar char="•"/>
            </a:pPr>
            <a:endParaRPr lang="en-US" dirty="0" smtClean="0"/>
          </a:p>
          <a:p>
            <a:pPr marL="285750" lvl="6" indent="-285750">
              <a:buFont typeface="Arial" panose="020B0604020202020204" pitchFamily="34" charset="0"/>
              <a:buChar char="•"/>
            </a:pPr>
            <a:endParaRPr lang="en-US" dirty="0"/>
          </a:p>
        </p:txBody>
      </p:sp>
    </p:spTree>
    <p:extLst>
      <p:ext uri="{BB962C8B-B14F-4D97-AF65-F5344CB8AC3E}">
        <p14:creationId xmlns:p14="http://schemas.microsoft.com/office/powerpoint/2010/main" val="2870847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5" name="TextBox 4"/>
          <p:cNvSpPr txBox="1"/>
          <p:nvPr/>
        </p:nvSpPr>
        <p:spPr>
          <a:xfrm>
            <a:off x="2000250" y="1536700"/>
            <a:ext cx="5156200" cy="1938992"/>
          </a:xfrm>
          <a:prstGeom prst="rect">
            <a:avLst/>
          </a:prstGeom>
          <a:noFill/>
        </p:spPr>
        <p:txBody>
          <a:bodyPr wrap="square" rtlCol="0">
            <a:spAutoFit/>
          </a:bodyPr>
          <a:lstStyle/>
          <a:p>
            <a:pPr algn="ctr"/>
            <a:r>
              <a:rPr lang="en-US" sz="6000" b="1" dirty="0" smtClean="0">
                <a:solidFill>
                  <a:srgbClr val="0070C0"/>
                </a:solidFill>
              </a:rPr>
              <a:t>NGHIÊN CỨU</a:t>
            </a:r>
          </a:p>
          <a:p>
            <a:pPr algn="ctr"/>
            <a:r>
              <a:rPr lang="en-US" sz="6000" b="1" dirty="0" smtClean="0">
                <a:solidFill>
                  <a:srgbClr val="0070C0"/>
                </a:solidFill>
              </a:rPr>
              <a:t>LIÊN QUAN</a:t>
            </a:r>
            <a:endParaRPr lang="en-US" sz="6000" dirty="0">
              <a:solidFill>
                <a:srgbClr val="0070C0"/>
              </a:solidFill>
            </a:endParaRPr>
          </a:p>
        </p:txBody>
      </p:sp>
    </p:spTree>
    <p:extLst>
      <p:ext uri="{BB962C8B-B14F-4D97-AF65-F5344CB8AC3E}">
        <p14:creationId xmlns:p14="http://schemas.microsoft.com/office/powerpoint/2010/main" val="1189345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NGHIÊN CỨU LIÊN QUAN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Mô</a:t>
            </a:r>
            <a:r>
              <a:rPr lang="en-US" sz="2000" dirty="0" smtClean="0">
                <a:solidFill>
                  <a:schemeClr val="tx1">
                    <a:lumMod val="50000"/>
                    <a:lumOff val="50000"/>
                  </a:schemeClr>
                </a:solidFill>
              </a:rPr>
              <a:t> hình </a:t>
            </a:r>
            <a:r>
              <a:rPr lang="en-US" sz="2000" dirty="0" err="1" smtClean="0">
                <a:solidFill>
                  <a:schemeClr val="tx1">
                    <a:lumMod val="50000"/>
                    <a:lumOff val="50000"/>
                  </a:schemeClr>
                </a:solidFill>
              </a:rPr>
              <a:t>CoLLM</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Tổng</a:t>
            </a:r>
            <a:r>
              <a:rPr lang="en-US" sz="2400" dirty="0" smtClean="0">
                <a:solidFill>
                  <a:schemeClr val="tx1"/>
                </a:solidFill>
              </a:rPr>
              <a:t> </a:t>
            </a:r>
            <a:r>
              <a:rPr lang="en-US" sz="2400" dirty="0" err="1" smtClean="0">
                <a:solidFill>
                  <a:schemeClr val="tx1"/>
                </a:solidFill>
              </a:rPr>
              <a:t>quan</a:t>
            </a:r>
            <a:r>
              <a:rPr lang="en-US" sz="2400" dirty="0" smtClean="0">
                <a:solidFill>
                  <a:schemeClr val="tx1"/>
                </a:solidFill>
              </a:rPr>
              <a:t> các </a:t>
            </a:r>
            <a:r>
              <a:rPr lang="en-US" sz="2400" dirty="0" err="1" smtClean="0">
                <a:solidFill>
                  <a:schemeClr val="tx1"/>
                </a:solidFill>
              </a:rPr>
              <a:t>nghiên</a:t>
            </a:r>
            <a:r>
              <a:rPr lang="en-US" sz="2400" dirty="0" smtClean="0">
                <a:solidFill>
                  <a:schemeClr val="tx1"/>
                </a:solidFill>
              </a:rPr>
              <a:t> </a:t>
            </a:r>
            <a:r>
              <a:rPr lang="en-US" sz="2400" dirty="0" err="1" smtClean="0">
                <a:solidFill>
                  <a:schemeClr val="tx1"/>
                </a:solidFill>
              </a:rPr>
              <a:t>cứu</a:t>
            </a:r>
            <a:endParaRPr lang="vi-VN" sz="2400" dirty="0">
              <a:solidFill>
                <a:schemeClr val="tx1"/>
              </a:solidFill>
            </a:endParaRPr>
          </a:p>
        </p:txBody>
      </p:sp>
      <p:sp>
        <p:nvSpPr>
          <p:cNvPr id="2" name="TextBox 1"/>
          <p:cNvSpPr txBox="1"/>
          <p:nvPr/>
        </p:nvSpPr>
        <p:spPr>
          <a:xfrm>
            <a:off x="576306" y="1801471"/>
            <a:ext cx="4440862" cy="2677656"/>
          </a:xfrm>
          <a:prstGeom prst="rect">
            <a:avLst/>
          </a:prstGeom>
          <a:noFill/>
        </p:spPr>
        <p:txBody>
          <a:bodyPr wrap="square" rtlCol="0">
            <a:spAutoFit/>
          </a:bodyPr>
          <a:lstStyle/>
          <a:p>
            <a:pPr marL="285750" indent="-285750" algn="just">
              <a:buFont typeface="Arial" panose="020B0604020202020204" pitchFamily="34" charset="0"/>
              <a:buChar char="•"/>
            </a:pPr>
            <a:r>
              <a:rPr lang="en-US" dirty="0" err="1" smtClean="0"/>
              <a:t>Mô</a:t>
            </a:r>
            <a:r>
              <a:rPr lang="en-US" dirty="0" smtClean="0"/>
              <a:t> hình </a:t>
            </a:r>
            <a:r>
              <a:rPr lang="en-US" b="1" dirty="0"/>
              <a:t>s</a:t>
            </a:r>
            <a:r>
              <a:rPr lang="en-US" b="1" dirty="0" smtClean="0"/>
              <a:t>tate-of-the-art </a:t>
            </a:r>
            <a:r>
              <a:rPr lang="en-US" b="1" dirty="0" err="1" smtClean="0"/>
              <a:t>LLMRec</a:t>
            </a:r>
            <a:endParaRPr lang="en-US" dirty="0" smtClean="0"/>
          </a:p>
          <a:p>
            <a:pPr marL="285750" indent="-285750" algn="just">
              <a:buFont typeface="Arial" panose="020B0604020202020204" pitchFamily="34" charset="0"/>
              <a:buChar char="•"/>
            </a:pPr>
            <a:r>
              <a:rPr lang="en-US" dirty="0" err="1"/>
              <a:t>Trích</a:t>
            </a:r>
            <a:r>
              <a:rPr lang="en-US" dirty="0"/>
              <a:t> </a:t>
            </a:r>
            <a:r>
              <a:rPr lang="en-US" dirty="0" err="1"/>
              <a:t>xuất</a:t>
            </a:r>
            <a:r>
              <a:rPr lang="en-US" dirty="0"/>
              <a:t> </a:t>
            </a:r>
            <a:r>
              <a:rPr lang="en-US" dirty="0" err="1"/>
              <a:t>tín</a:t>
            </a:r>
            <a:r>
              <a:rPr lang="en-US" dirty="0"/>
              <a:t> </a:t>
            </a:r>
            <a:r>
              <a:rPr lang="en-US" dirty="0" err="1"/>
              <a:t>hiệu</a:t>
            </a:r>
            <a:r>
              <a:rPr lang="en-US" dirty="0"/>
              <a:t> </a:t>
            </a:r>
            <a:r>
              <a:rPr lang="en-US" dirty="0" err="1"/>
              <a:t>cộng</a:t>
            </a:r>
            <a:r>
              <a:rPr lang="en-US" dirty="0"/>
              <a:t> </a:t>
            </a:r>
            <a:r>
              <a:rPr lang="en-US" dirty="0" err="1"/>
              <a:t>tác</a:t>
            </a:r>
            <a:r>
              <a:rPr lang="en-US" dirty="0"/>
              <a:t> </a:t>
            </a:r>
            <a:r>
              <a:rPr lang="en-US" dirty="0" err="1"/>
              <a:t>thông</a:t>
            </a:r>
            <a:r>
              <a:rPr lang="en-US" dirty="0"/>
              <a:t> qua </a:t>
            </a:r>
            <a:r>
              <a:rPr lang="en-US" dirty="0" err="1"/>
              <a:t>sử</a:t>
            </a:r>
            <a:r>
              <a:rPr lang="en-US" dirty="0"/>
              <a:t> </a:t>
            </a:r>
            <a:r>
              <a:rPr lang="en-US" dirty="0" err="1"/>
              <a:t>dụng</a:t>
            </a:r>
            <a:r>
              <a:rPr lang="en-US" dirty="0"/>
              <a:t> các </a:t>
            </a:r>
            <a:r>
              <a:rPr lang="en-US" dirty="0" err="1"/>
              <a:t>mô</a:t>
            </a:r>
            <a:r>
              <a:rPr lang="en-US" dirty="0"/>
              <a:t> hình </a:t>
            </a:r>
            <a:r>
              <a:rPr lang="en-US" dirty="0" err="1"/>
              <a:t>truyền</a:t>
            </a:r>
            <a:r>
              <a:rPr lang="en-US" dirty="0"/>
              <a:t> </a:t>
            </a:r>
            <a:r>
              <a:rPr lang="en-US" dirty="0" err="1"/>
              <a:t>thống</a:t>
            </a:r>
            <a:r>
              <a:rPr lang="en-US" dirty="0"/>
              <a:t> như </a:t>
            </a:r>
            <a:r>
              <a:rPr lang="en-US" dirty="0" smtClean="0"/>
              <a:t>MF </a:t>
            </a:r>
            <a:r>
              <a:rPr lang="en-US" dirty="0" err="1" smtClean="0"/>
              <a:t>hoặc</a:t>
            </a:r>
            <a:r>
              <a:rPr lang="en-US" dirty="0" smtClean="0"/>
              <a:t> DIN.</a:t>
            </a:r>
          </a:p>
          <a:p>
            <a:pPr marL="285750" indent="-285750" algn="just">
              <a:buFont typeface="Arial" panose="020B0604020202020204" pitchFamily="34" charset="0"/>
              <a:buChar char="•"/>
            </a:pPr>
            <a:r>
              <a:rPr lang="en-US" dirty="0" err="1" smtClean="0"/>
              <a:t>Tích</a:t>
            </a:r>
            <a:r>
              <a:rPr lang="en-US" dirty="0" smtClean="0"/>
              <a:t> hợp </a:t>
            </a:r>
            <a:r>
              <a:rPr lang="en-US" dirty="0" err="1" smtClean="0"/>
              <a:t>thông</a:t>
            </a:r>
            <a:r>
              <a:rPr lang="en-US" dirty="0" smtClean="0"/>
              <a:t> tin </a:t>
            </a:r>
            <a:r>
              <a:rPr lang="en-US" dirty="0" err="1" smtClean="0"/>
              <a:t>cộng</a:t>
            </a:r>
            <a:r>
              <a:rPr lang="en-US" dirty="0" smtClean="0"/>
              <a:t> </a:t>
            </a:r>
            <a:r>
              <a:rPr lang="en-US" dirty="0" err="1" smtClean="0"/>
              <a:t>tác</a:t>
            </a:r>
            <a:r>
              <a:rPr lang="en-US" dirty="0" smtClean="0"/>
              <a:t> bằng </a:t>
            </a:r>
            <a:r>
              <a:rPr lang="en-US" dirty="0" err="1" smtClean="0"/>
              <a:t>cách</a:t>
            </a:r>
            <a:r>
              <a:rPr lang="en-US" dirty="0" smtClean="0"/>
              <a:t> </a:t>
            </a:r>
            <a:r>
              <a:rPr lang="en-US" dirty="0" err="1" smtClean="0"/>
              <a:t>ánh</a:t>
            </a:r>
            <a:r>
              <a:rPr lang="en-US" dirty="0" smtClean="0"/>
              <a:t> </a:t>
            </a:r>
            <a:r>
              <a:rPr lang="en-US" dirty="0" err="1" smtClean="0"/>
              <a:t>xạ</a:t>
            </a:r>
            <a:r>
              <a:rPr lang="en-US" dirty="0" smtClean="0"/>
              <a:t> vector </a:t>
            </a:r>
            <a:r>
              <a:rPr lang="en-US" dirty="0" err="1" smtClean="0"/>
              <a:t>cộng</a:t>
            </a:r>
            <a:r>
              <a:rPr lang="en-US" dirty="0" smtClean="0"/>
              <a:t> </a:t>
            </a:r>
            <a:r>
              <a:rPr lang="en-US" dirty="0" err="1" smtClean="0"/>
              <a:t>tác</a:t>
            </a:r>
            <a:r>
              <a:rPr lang="en-US" dirty="0" smtClean="0"/>
              <a:t> vào </a:t>
            </a:r>
            <a:r>
              <a:rPr lang="en-US" dirty="0" err="1" smtClean="0"/>
              <a:t>không</a:t>
            </a:r>
            <a:r>
              <a:rPr lang="en-US" dirty="0" smtClean="0"/>
              <a:t> </a:t>
            </a:r>
            <a:r>
              <a:rPr lang="en-US" dirty="0" err="1" smtClean="0"/>
              <a:t>gian</a:t>
            </a:r>
            <a:r>
              <a:rPr lang="en-US" dirty="0" smtClean="0"/>
              <a:t> </a:t>
            </a:r>
            <a:r>
              <a:rPr lang="en-US" dirty="0" err="1" smtClean="0"/>
              <a:t>ngữ</a:t>
            </a:r>
            <a:r>
              <a:rPr lang="en-US" dirty="0" smtClean="0"/>
              <a:t> </a:t>
            </a:r>
            <a:r>
              <a:rPr lang="en-US" dirty="0" err="1" smtClean="0"/>
              <a:t>nghĩa</a:t>
            </a:r>
            <a:r>
              <a:rPr lang="en-US" dirty="0" smtClean="0"/>
              <a:t> của LLM </a:t>
            </a:r>
            <a:r>
              <a:rPr lang="en-US" dirty="0" err="1" smtClean="0"/>
              <a:t>thông</a:t>
            </a:r>
            <a:r>
              <a:rPr lang="en-US" dirty="0" smtClean="0"/>
              <a:t> qua 1 </a:t>
            </a:r>
            <a:r>
              <a:rPr lang="en-US" dirty="0" err="1" smtClean="0"/>
              <a:t>lớp</a:t>
            </a:r>
            <a:r>
              <a:rPr lang="en-US" dirty="0" smtClean="0"/>
              <a:t> Projection </a:t>
            </a:r>
            <a:r>
              <a:rPr lang="en-US" dirty="0" err="1" smtClean="0"/>
              <a:t>đơn</a:t>
            </a:r>
            <a:r>
              <a:rPr lang="en-US" dirty="0" smtClean="0"/>
              <a:t> </a:t>
            </a:r>
            <a:r>
              <a:rPr lang="en-US" dirty="0" err="1" smtClean="0"/>
              <a:t>giản</a:t>
            </a:r>
            <a:r>
              <a:rPr lang="en-US" dirty="0" smtClean="0"/>
              <a:t>.</a:t>
            </a:r>
            <a:endParaRPr lang="en-US" dirty="0"/>
          </a:p>
          <a:p>
            <a:pPr marL="285750" indent="-285750" algn="just">
              <a:buFont typeface="Arial" panose="020B0604020202020204" pitchFamily="34" charset="0"/>
              <a:buChar char="•"/>
            </a:pPr>
            <a:r>
              <a:rPr lang="en-US" dirty="0" err="1" smtClean="0"/>
              <a:t>Sử</a:t>
            </a:r>
            <a:r>
              <a:rPr lang="en-US" dirty="0" smtClean="0"/>
              <a:t> </a:t>
            </a:r>
            <a:r>
              <a:rPr lang="en-US" dirty="0" err="1" smtClean="0"/>
              <a:t>dụng</a:t>
            </a:r>
            <a:r>
              <a:rPr lang="en-US" dirty="0" smtClean="0"/>
              <a:t> </a:t>
            </a:r>
            <a:r>
              <a:rPr lang="en-US" dirty="0" err="1" smtClean="0"/>
              <a:t>LoRA</a:t>
            </a:r>
            <a:r>
              <a:rPr lang="en-US" dirty="0" smtClean="0"/>
              <a:t> </a:t>
            </a:r>
            <a:r>
              <a:rPr lang="en-US" dirty="0" err="1" smtClean="0"/>
              <a:t>để</a:t>
            </a:r>
            <a:r>
              <a:rPr lang="en-US" dirty="0" smtClean="0"/>
              <a:t> </a:t>
            </a:r>
            <a:r>
              <a:rPr lang="en-US" dirty="0" err="1" smtClean="0"/>
              <a:t>finetune</a:t>
            </a:r>
            <a:r>
              <a:rPr lang="en-US" dirty="0" smtClean="0"/>
              <a:t> </a:t>
            </a:r>
            <a:r>
              <a:rPr lang="en-US" dirty="0" err="1" smtClean="0"/>
              <a:t>tác</a:t>
            </a:r>
            <a:r>
              <a:rPr lang="en-US" dirty="0" smtClean="0"/>
              <a:t> vụ tư vấn </a:t>
            </a:r>
            <a:r>
              <a:rPr lang="en-US" dirty="0" err="1" smtClean="0"/>
              <a:t>cho</a:t>
            </a:r>
            <a:r>
              <a:rPr lang="en-US" dirty="0" smtClean="0"/>
              <a:t> </a:t>
            </a:r>
            <a:r>
              <a:rPr lang="en-US" dirty="0" err="1" smtClean="0"/>
              <a:t>mô</a:t>
            </a:r>
            <a:r>
              <a:rPr lang="en-US" dirty="0" smtClean="0"/>
              <a:t> hình LLMs.</a:t>
            </a:r>
          </a:p>
          <a:p>
            <a:pPr marL="285750" indent="-285750" algn="just">
              <a:buFont typeface="Arial" panose="020B0604020202020204" pitchFamily="34" charset="0"/>
              <a:buChar char="•"/>
            </a:pPr>
            <a:r>
              <a:rPr lang="en-US" dirty="0" err="1" smtClean="0"/>
              <a:t>Xây</a:t>
            </a:r>
            <a:r>
              <a:rPr lang="en-US" dirty="0" smtClean="0"/>
              <a:t> </a:t>
            </a:r>
            <a:r>
              <a:rPr lang="en-US" dirty="0" err="1" smtClean="0"/>
              <a:t>dựng</a:t>
            </a:r>
            <a:r>
              <a:rPr lang="en-US" dirty="0" smtClean="0"/>
              <a:t> few-shot prompt.</a:t>
            </a:r>
          </a:p>
          <a:p>
            <a:pPr marL="285750" indent="-285750" algn="just">
              <a:buFont typeface="Arial" panose="020B0604020202020204" pitchFamily="34" charset="0"/>
              <a:buChar char="•"/>
            </a:pPr>
            <a:endParaRPr lang="en-US" dirty="0" smtClean="0"/>
          </a:p>
          <a:p>
            <a:pPr algn="just"/>
            <a:endParaRPr lang="en-US" dirty="0"/>
          </a:p>
          <a:p>
            <a:pPr algn="just"/>
            <a:endParaRPr lang="en-US" dirty="0"/>
          </a:p>
        </p:txBody>
      </p:sp>
      <p:pic>
        <p:nvPicPr>
          <p:cNvPr id="4" name="Picture 3"/>
          <p:cNvPicPr>
            <a:picLocks noChangeAspect="1"/>
          </p:cNvPicPr>
          <p:nvPr/>
        </p:nvPicPr>
        <p:blipFill>
          <a:blip r:embed="rId3"/>
          <a:stretch>
            <a:fillRect/>
          </a:stretch>
        </p:blipFill>
        <p:spPr>
          <a:xfrm>
            <a:off x="5017168" y="1512936"/>
            <a:ext cx="4379293" cy="1943419"/>
          </a:xfrm>
          <a:prstGeom prst="rect">
            <a:avLst/>
          </a:prstGeom>
        </p:spPr>
      </p:pic>
      <p:sp>
        <p:nvSpPr>
          <p:cNvPr id="5" name="Rectangle 4"/>
          <p:cNvSpPr/>
          <p:nvPr/>
        </p:nvSpPr>
        <p:spPr>
          <a:xfrm>
            <a:off x="5831933" y="3523284"/>
            <a:ext cx="2284600" cy="307777"/>
          </a:xfrm>
          <a:prstGeom prst="rect">
            <a:avLst/>
          </a:prstGeom>
        </p:spPr>
        <p:txBody>
          <a:bodyPr wrap="none">
            <a:spAutoFit/>
          </a:bodyPr>
          <a:lstStyle/>
          <a:p>
            <a:r>
              <a:rPr lang="en-US" dirty="0" err="1"/>
              <a:t>Hình:Kiến</a:t>
            </a:r>
            <a:r>
              <a:rPr lang="en-US" dirty="0"/>
              <a:t> </a:t>
            </a:r>
            <a:r>
              <a:rPr lang="en-US" dirty="0" err="1"/>
              <a:t>trúc</a:t>
            </a:r>
            <a:r>
              <a:rPr lang="en-US" dirty="0"/>
              <a:t> của </a:t>
            </a:r>
            <a:r>
              <a:rPr lang="en-US" dirty="0" err="1" smtClean="0"/>
              <a:t>CoLLM</a:t>
            </a:r>
            <a:endParaRPr lang="en-US" dirty="0"/>
          </a:p>
        </p:txBody>
      </p:sp>
    </p:spTree>
    <p:extLst>
      <p:ext uri="{BB962C8B-B14F-4D97-AF65-F5344CB8AC3E}">
        <p14:creationId xmlns:p14="http://schemas.microsoft.com/office/powerpoint/2010/main" val="235046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NGHIÊN CỨU LIÊN QUAN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Mô</a:t>
            </a:r>
            <a:r>
              <a:rPr lang="en-US" sz="2000" dirty="0" smtClean="0">
                <a:solidFill>
                  <a:schemeClr val="tx1">
                    <a:lumMod val="50000"/>
                    <a:lumOff val="50000"/>
                  </a:schemeClr>
                </a:solidFill>
              </a:rPr>
              <a:t> hình </a:t>
            </a:r>
            <a:r>
              <a:rPr lang="en-US" sz="2000" dirty="0" err="1" smtClean="0">
                <a:solidFill>
                  <a:schemeClr val="tx1">
                    <a:lumMod val="50000"/>
                    <a:lumOff val="50000"/>
                  </a:schemeClr>
                </a:solidFill>
              </a:rPr>
              <a:t>BinLLM</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Tổng</a:t>
            </a:r>
            <a:r>
              <a:rPr lang="en-US" sz="2400" dirty="0" smtClean="0">
                <a:solidFill>
                  <a:schemeClr val="tx1"/>
                </a:solidFill>
              </a:rPr>
              <a:t> </a:t>
            </a:r>
            <a:r>
              <a:rPr lang="en-US" sz="2400" dirty="0" err="1" smtClean="0">
                <a:solidFill>
                  <a:schemeClr val="tx1"/>
                </a:solidFill>
              </a:rPr>
              <a:t>quan</a:t>
            </a:r>
            <a:r>
              <a:rPr lang="en-US" sz="2400" dirty="0" smtClean="0">
                <a:solidFill>
                  <a:schemeClr val="tx1"/>
                </a:solidFill>
              </a:rPr>
              <a:t> các </a:t>
            </a:r>
            <a:r>
              <a:rPr lang="en-US" sz="2400" dirty="0" err="1" smtClean="0">
                <a:solidFill>
                  <a:schemeClr val="tx1"/>
                </a:solidFill>
              </a:rPr>
              <a:t>nghiên</a:t>
            </a:r>
            <a:r>
              <a:rPr lang="en-US" sz="2400" dirty="0" smtClean="0">
                <a:solidFill>
                  <a:schemeClr val="tx1"/>
                </a:solidFill>
              </a:rPr>
              <a:t> </a:t>
            </a:r>
            <a:r>
              <a:rPr lang="en-US" sz="2400" dirty="0" err="1" smtClean="0">
                <a:solidFill>
                  <a:schemeClr val="tx1"/>
                </a:solidFill>
              </a:rPr>
              <a:t>cứu</a:t>
            </a:r>
            <a:endParaRPr lang="vi-VN" sz="2400" dirty="0">
              <a:solidFill>
                <a:schemeClr val="tx1"/>
              </a:solidFill>
            </a:endParaRPr>
          </a:p>
        </p:txBody>
      </p:sp>
      <p:sp>
        <p:nvSpPr>
          <p:cNvPr id="2" name="TextBox 1"/>
          <p:cNvSpPr txBox="1"/>
          <p:nvPr/>
        </p:nvSpPr>
        <p:spPr>
          <a:xfrm>
            <a:off x="576306" y="1801471"/>
            <a:ext cx="4884694" cy="1815882"/>
          </a:xfrm>
          <a:prstGeom prst="rect">
            <a:avLst/>
          </a:prstGeom>
          <a:noFill/>
        </p:spPr>
        <p:txBody>
          <a:bodyPr wrap="square" rtlCol="0">
            <a:spAutoFit/>
          </a:bodyPr>
          <a:lstStyle/>
          <a:p>
            <a:pPr marL="285750" indent="-285750" algn="just">
              <a:buFont typeface="Arial" panose="020B0604020202020204" pitchFamily="34" charset="0"/>
              <a:buChar char="•"/>
            </a:pPr>
            <a:r>
              <a:rPr lang="en-US" dirty="0" smtClean="0"/>
              <a:t>Chuyển các vector embedding </a:t>
            </a:r>
            <a:r>
              <a:rPr lang="en-US" dirty="0" err="1" smtClean="0"/>
              <a:t>cộng</a:t>
            </a:r>
            <a:r>
              <a:rPr lang="en-US" dirty="0" smtClean="0"/>
              <a:t> </a:t>
            </a:r>
            <a:r>
              <a:rPr lang="en-US" dirty="0" err="1" smtClean="0"/>
              <a:t>tác</a:t>
            </a:r>
            <a:r>
              <a:rPr lang="en-US" dirty="0" smtClean="0"/>
              <a:t> </a:t>
            </a:r>
            <a:r>
              <a:rPr lang="en-US" dirty="0" err="1" smtClean="0"/>
              <a:t>từ</a:t>
            </a:r>
            <a:r>
              <a:rPr lang="en-US" dirty="0" smtClean="0"/>
              <a:t> </a:t>
            </a:r>
            <a:r>
              <a:rPr lang="en-US" dirty="0" err="1" smtClean="0"/>
              <a:t>mô</a:t>
            </a:r>
            <a:r>
              <a:rPr lang="en-US" dirty="0" smtClean="0"/>
              <a:t> hình MF </a:t>
            </a:r>
            <a:r>
              <a:rPr lang="en-US" dirty="0" err="1" smtClean="0"/>
              <a:t>thành</a:t>
            </a:r>
            <a:r>
              <a:rPr lang="en-US" dirty="0" smtClean="0"/>
              <a:t> </a:t>
            </a:r>
            <a:r>
              <a:rPr lang="en-US" dirty="0" err="1" smtClean="0"/>
              <a:t>chuỗi</a:t>
            </a:r>
            <a:r>
              <a:rPr lang="en-US" dirty="0" smtClean="0"/>
              <a:t> </a:t>
            </a:r>
            <a:r>
              <a:rPr lang="en-US" dirty="0" err="1" smtClean="0"/>
              <a:t>nhị</a:t>
            </a:r>
            <a:r>
              <a:rPr lang="en-US" dirty="0" smtClean="0"/>
              <a:t> </a:t>
            </a:r>
            <a:r>
              <a:rPr lang="en-US" dirty="0" err="1" smtClean="0"/>
              <a:t>phân</a:t>
            </a:r>
            <a:r>
              <a:rPr lang="en-US" dirty="0" smtClean="0"/>
              <a:t> </a:t>
            </a:r>
            <a:r>
              <a:rPr lang="en-US" dirty="0" err="1" smtClean="0"/>
              <a:t>dạng</a:t>
            </a:r>
            <a:r>
              <a:rPr lang="en-US" dirty="0" smtClean="0"/>
              <a:t> text – </a:t>
            </a:r>
            <a:r>
              <a:rPr lang="en-US" dirty="0" err="1" smtClean="0"/>
              <a:t>định</a:t>
            </a:r>
            <a:r>
              <a:rPr lang="en-US" dirty="0" smtClean="0"/>
              <a:t> </a:t>
            </a:r>
            <a:r>
              <a:rPr lang="en-US" dirty="0" err="1" smtClean="0"/>
              <a:t>dạng</a:t>
            </a:r>
            <a:r>
              <a:rPr lang="en-US" dirty="0" smtClean="0"/>
              <a:t> </a:t>
            </a:r>
            <a:r>
              <a:rPr lang="en-US" dirty="0" err="1" smtClean="0"/>
              <a:t>văn</a:t>
            </a:r>
            <a:r>
              <a:rPr lang="en-US" dirty="0" smtClean="0"/>
              <a:t> </a:t>
            </a:r>
            <a:r>
              <a:rPr lang="en-US" dirty="0" err="1" smtClean="0"/>
              <a:t>bản</a:t>
            </a:r>
            <a:r>
              <a:rPr lang="en-US" dirty="0" smtClean="0"/>
              <a:t> mà LLM có thể </a:t>
            </a:r>
            <a:r>
              <a:rPr lang="en-US" dirty="0" err="1" smtClean="0"/>
              <a:t>xử</a:t>
            </a:r>
            <a:r>
              <a:rPr lang="en-US" dirty="0" smtClean="0"/>
              <a:t> </a:t>
            </a:r>
            <a:r>
              <a:rPr lang="en-US" dirty="0" err="1" smtClean="0"/>
              <a:t>lí</a:t>
            </a:r>
            <a:r>
              <a:rPr lang="en-US" dirty="0" smtClean="0"/>
              <a:t>.</a:t>
            </a:r>
          </a:p>
          <a:p>
            <a:pPr marL="285750" indent="-285750" algn="just">
              <a:buFont typeface="Arial" panose="020B0604020202020204" pitchFamily="34" charset="0"/>
              <a:buChar char="•"/>
            </a:pPr>
            <a:r>
              <a:rPr lang="en-US" dirty="0" smtClean="0"/>
              <a:t>Giữ </a:t>
            </a:r>
            <a:r>
              <a:rPr lang="en-US" dirty="0" err="1" smtClean="0"/>
              <a:t>nguyên</a:t>
            </a:r>
            <a:r>
              <a:rPr lang="en-US" dirty="0" smtClean="0"/>
              <a:t> kiến </a:t>
            </a:r>
            <a:r>
              <a:rPr lang="en-US" dirty="0" err="1" smtClean="0"/>
              <a:t>trúc</a:t>
            </a:r>
            <a:r>
              <a:rPr lang="en-US" dirty="0" smtClean="0"/>
              <a:t> của </a:t>
            </a:r>
            <a:r>
              <a:rPr lang="en-US" dirty="0" err="1" smtClean="0"/>
              <a:t>CoLLM</a:t>
            </a:r>
            <a:r>
              <a:rPr lang="en-US" dirty="0" smtClean="0"/>
              <a:t>.</a:t>
            </a:r>
          </a:p>
          <a:p>
            <a:pPr marL="285750" indent="-285750" algn="just">
              <a:buFont typeface="Arial" panose="020B0604020202020204" pitchFamily="34" charset="0"/>
              <a:buChar char="•"/>
            </a:pPr>
            <a:r>
              <a:rPr lang="en-US" dirty="0" err="1" smtClean="0"/>
              <a:t>Cải</a:t>
            </a:r>
            <a:r>
              <a:rPr lang="en-US" dirty="0" smtClean="0"/>
              <a:t> </a:t>
            </a:r>
            <a:r>
              <a:rPr lang="en-US" dirty="0" err="1" smtClean="0"/>
              <a:t>thiện</a:t>
            </a:r>
            <a:r>
              <a:rPr lang="en-US" dirty="0" smtClean="0"/>
              <a:t> </a:t>
            </a:r>
            <a:r>
              <a:rPr lang="en-US" dirty="0" err="1" smtClean="0"/>
              <a:t>hiệu</a:t>
            </a:r>
            <a:r>
              <a:rPr lang="en-US" dirty="0" smtClean="0"/>
              <a:t> </a:t>
            </a:r>
            <a:r>
              <a:rPr lang="en-US" dirty="0" err="1" smtClean="0"/>
              <a:t>năng</a:t>
            </a:r>
            <a:r>
              <a:rPr lang="en-US" dirty="0" smtClean="0"/>
              <a:t> </a:t>
            </a:r>
            <a:r>
              <a:rPr lang="en-US" dirty="0" err="1" smtClean="0"/>
              <a:t>CoLLM</a:t>
            </a:r>
            <a:r>
              <a:rPr lang="en-US" dirty="0" smtClean="0"/>
              <a:t> 1 </a:t>
            </a:r>
            <a:r>
              <a:rPr lang="en-US" dirty="0" err="1" smtClean="0"/>
              <a:t>cách</a:t>
            </a:r>
            <a:r>
              <a:rPr lang="en-US" dirty="0" smtClean="0"/>
              <a:t> </a:t>
            </a:r>
            <a:r>
              <a:rPr lang="en-US" dirty="0" err="1" smtClean="0"/>
              <a:t>đáng</a:t>
            </a:r>
            <a:r>
              <a:rPr lang="en-US" dirty="0" smtClean="0"/>
              <a:t> </a:t>
            </a:r>
            <a:r>
              <a:rPr lang="en-US" dirty="0" err="1" smtClean="0"/>
              <a:t>kể</a:t>
            </a:r>
            <a:r>
              <a:rPr lang="en-US" dirty="0" smtClean="0"/>
              <a:t>.</a:t>
            </a:r>
          </a:p>
          <a:p>
            <a:pPr marL="285750" indent="-285750" algn="just">
              <a:buFont typeface="Arial" panose="020B0604020202020204" pitchFamily="34" charset="0"/>
              <a:buChar char="•"/>
            </a:pPr>
            <a:endParaRPr lang="en-US" dirty="0" smtClean="0"/>
          </a:p>
          <a:p>
            <a:pPr algn="just"/>
            <a:endParaRPr lang="en-US" dirty="0"/>
          </a:p>
          <a:p>
            <a:pPr algn="just"/>
            <a:endParaRPr lang="en-US" dirty="0"/>
          </a:p>
        </p:txBody>
      </p:sp>
      <p:sp>
        <p:nvSpPr>
          <p:cNvPr id="7" name="TextBox 6"/>
          <p:cNvSpPr txBox="1"/>
          <p:nvPr/>
        </p:nvSpPr>
        <p:spPr>
          <a:xfrm>
            <a:off x="5535205" y="3820239"/>
            <a:ext cx="3575018" cy="707886"/>
          </a:xfrm>
          <a:prstGeom prst="rect">
            <a:avLst/>
          </a:prstGeom>
          <a:noFill/>
        </p:spPr>
        <p:txBody>
          <a:bodyPr wrap="none" rtlCol="0">
            <a:spAutoFit/>
          </a:bodyPr>
          <a:lstStyle/>
          <a:p>
            <a:pPr algn="ctr"/>
            <a:r>
              <a:rPr lang="en-US" sz="1000" dirty="0" smtClean="0"/>
              <a:t>Hình: Kiến </a:t>
            </a:r>
            <a:r>
              <a:rPr lang="en-US" sz="1000" dirty="0" err="1" smtClean="0"/>
              <a:t>trúc</a:t>
            </a:r>
            <a:r>
              <a:rPr lang="en-US" sz="1000" dirty="0" smtClean="0"/>
              <a:t> </a:t>
            </a:r>
            <a:r>
              <a:rPr lang="en-US" sz="1000" dirty="0" err="1" smtClean="0"/>
              <a:t>BinLLM</a:t>
            </a:r>
            <a:r>
              <a:rPr lang="en-US" sz="1000" dirty="0" smtClean="0"/>
              <a:t> và </a:t>
            </a:r>
            <a:r>
              <a:rPr lang="en-US" sz="1000" dirty="0" err="1"/>
              <a:t>Kết</a:t>
            </a:r>
            <a:r>
              <a:rPr lang="en-US" sz="1000" dirty="0"/>
              <a:t> </a:t>
            </a:r>
            <a:r>
              <a:rPr lang="en-US" sz="1000" dirty="0" err="1"/>
              <a:t>quả</a:t>
            </a:r>
            <a:r>
              <a:rPr lang="en-US" sz="1000" dirty="0"/>
              <a:t> out perform trên tập data</a:t>
            </a:r>
            <a:br>
              <a:rPr lang="en-US" sz="1000" dirty="0"/>
            </a:br>
            <a:r>
              <a:rPr lang="en-US" sz="1000" dirty="0"/>
              <a:t>Amazon-Book và ML-1M của </a:t>
            </a:r>
            <a:r>
              <a:rPr lang="en-US" sz="1000" dirty="0" err="1"/>
              <a:t>CoLLM</a:t>
            </a:r>
            <a:r>
              <a:rPr lang="en-US" sz="1000" dirty="0"/>
              <a:t> </a:t>
            </a:r>
            <a:br>
              <a:rPr lang="en-US" sz="1000" dirty="0"/>
            </a:br>
            <a:r>
              <a:rPr lang="en-US" sz="1000" dirty="0"/>
              <a:t>so với các </a:t>
            </a:r>
            <a:r>
              <a:rPr lang="en-US" sz="1000" dirty="0" err="1"/>
              <a:t>mô</a:t>
            </a:r>
            <a:r>
              <a:rPr lang="en-US" sz="1000" dirty="0"/>
              <a:t> hình </a:t>
            </a:r>
            <a:r>
              <a:rPr lang="en-US" sz="1000" dirty="0" err="1"/>
              <a:t>khác</a:t>
            </a:r>
            <a:r>
              <a:rPr lang="en-US" sz="1000" dirty="0"/>
              <a:t> trong điều </a:t>
            </a:r>
            <a:r>
              <a:rPr lang="en-US" sz="1000" dirty="0" err="1"/>
              <a:t>kiện</a:t>
            </a:r>
            <a:r>
              <a:rPr lang="en-US" sz="1000" dirty="0"/>
              <a:t> cold/warm start</a:t>
            </a:r>
          </a:p>
          <a:p>
            <a:pPr algn="ctr"/>
            <a:endParaRPr lang="en-US" sz="1000" dirty="0"/>
          </a:p>
        </p:txBody>
      </p:sp>
      <p:pic>
        <p:nvPicPr>
          <p:cNvPr id="4" name="Picture 3"/>
          <p:cNvPicPr>
            <a:picLocks noChangeAspect="1"/>
          </p:cNvPicPr>
          <p:nvPr/>
        </p:nvPicPr>
        <p:blipFill>
          <a:blip r:embed="rId3"/>
          <a:stretch>
            <a:fillRect/>
          </a:stretch>
        </p:blipFill>
        <p:spPr>
          <a:xfrm>
            <a:off x="5360121" y="1624624"/>
            <a:ext cx="4286956" cy="1891704"/>
          </a:xfrm>
          <a:prstGeom prst="rect">
            <a:avLst/>
          </a:prstGeom>
        </p:spPr>
      </p:pic>
      <p:pic>
        <p:nvPicPr>
          <p:cNvPr id="5" name="Picture 4"/>
          <p:cNvPicPr>
            <a:picLocks noChangeAspect="1"/>
          </p:cNvPicPr>
          <p:nvPr/>
        </p:nvPicPr>
        <p:blipFill>
          <a:blip r:embed="rId4"/>
          <a:stretch>
            <a:fillRect/>
          </a:stretch>
        </p:blipFill>
        <p:spPr>
          <a:xfrm>
            <a:off x="2153555" y="3008982"/>
            <a:ext cx="1588670" cy="1491521"/>
          </a:xfrm>
          <a:prstGeom prst="rect">
            <a:avLst/>
          </a:prstGeom>
        </p:spPr>
      </p:pic>
    </p:spTree>
    <p:extLst>
      <p:ext uri="{BB962C8B-B14F-4D97-AF65-F5344CB8AC3E}">
        <p14:creationId xmlns:p14="http://schemas.microsoft.com/office/powerpoint/2010/main" val="2145742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NGHIÊN CỨU LIÊN QUAN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Mô</a:t>
            </a:r>
            <a:r>
              <a:rPr lang="en-US" sz="2000" dirty="0" smtClean="0">
                <a:solidFill>
                  <a:schemeClr val="tx1">
                    <a:lumMod val="50000"/>
                    <a:lumOff val="50000"/>
                  </a:schemeClr>
                </a:solidFill>
              </a:rPr>
              <a:t> hình Sella-Rec</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Tổng</a:t>
            </a:r>
            <a:r>
              <a:rPr lang="en-US" sz="2400" dirty="0" smtClean="0">
                <a:solidFill>
                  <a:schemeClr val="tx1"/>
                </a:solidFill>
              </a:rPr>
              <a:t> </a:t>
            </a:r>
            <a:r>
              <a:rPr lang="en-US" sz="2400" dirty="0" err="1" smtClean="0">
                <a:solidFill>
                  <a:schemeClr val="tx1"/>
                </a:solidFill>
              </a:rPr>
              <a:t>quan</a:t>
            </a:r>
            <a:r>
              <a:rPr lang="en-US" sz="2400" dirty="0" smtClean="0">
                <a:solidFill>
                  <a:schemeClr val="tx1"/>
                </a:solidFill>
              </a:rPr>
              <a:t> các </a:t>
            </a:r>
            <a:r>
              <a:rPr lang="en-US" sz="2400" dirty="0" err="1" smtClean="0">
                <a:solidFill>
                  <a:schemeClr val="tx1"/>
                </a:solidFill>
              </a:rPr>
              <a:t>nghiên</a:t>
            </a:r>
            <a:r>
              <a:rPr lang="en-US" sz="2400" dirty="0" smtClean="0">
                <a:solidFill>
                  <a:schemeClr val="tx1"/>
                </a:solidFill>
              </a:rPr>
              <a:t> </a:t>
            </a:r>
            <a:r>
              <a:rPr lang="en-US" sz="2400" dirty="0" err="1" smtClean="0">
                <a:solidFill>
                  <a:schemeClr val="tx1"/>
                </a:solidFill>
              </a:rPr>
              <a:t>cứu</a:t>
            </a:r>
            <a:endParaRPr lang="vi-VN" sz="2400" dirty="0">
              <a:solidFill>
                <a:schemeClr val="tx1"/>
              </a:solidFill>
            </a:endParaRPr>
          </a:p>
        </p:txBody>
      </p:sp>
      <p:sp>
        <p:nvSpPr>
          <p:cNvPr id="2" name="TextBox 1"/>
          <p:cNvSpPr txBox="1"/>
          <p:nvPr/>
        </p:nvSpPr>
        <p:spPr>
          <a:xfrm>
            <a:off x="576305" y="1801471"/>
            <a:ext cx="4645399" cy="3539430"/>
          </a:xfrm>
          <a:prstGeom prst="rect">
            <a:avLst/>
          </a:prstGeom>
          <a:noFill/>
        </p:spPr>
        <p:txBody>
          <a:bodyPr wrap="square" rtlCol="0">
            <a:spAutoFit/>
          </a:bodyPr>
          <a:lstStyle/>
          <a:p>
            <a:pPr marL="285750" indent="-285750" algn="just">
              <a:buFont typeface="Arial" panose="020B0604020202020204" pitchFamily="34" charset="0"/>
              <a:buChar char="•"/>
            </a:pPr>
            <a:r>
              <a:rPr lang="en-US" dirty="0"/>
              <a:t>Đ</a:t>
            </a:r>
            <a:r>
              <a:rPr lang="vi-VN" dirty="0" smtClean="0"/>
              <a:t>ề </a:t>
            </a:r>
            <a:r>
              <a:rPr lang="vi-VN" dirty="0"/>
              <a:t>xuất căn chỉnh không gian ngữ nghĩa giữa LLM và mô hình CF nhằm hợp nhất tri thức ngữ nghĩa với tín hiệu tương </a:t>
            </a:r>
            <a:r>
              <a:rPr lang="vi-VN" dirty="0" smtClean="0"/>
              <a:t>tác.</a:t>
            </a:r>
            <a:endParaRPr lang="en-US" dirty="0" smtClean="0"/>
          </a:p>
          <a:p>
            <a:pPr marL="285750" indent="-285750" algn="just">
              <a:buFont typeface="Arial" panose="020B0604020202020204" pitchFamily="34" charset="0"/>
              <a:buChar char="•"/>
            </a:pPr>
            <a:r>
              <a:rPr lang="vi-VN" dirty="0" smtClean="0"/>
              <a:t>Cụ </a:t>
            </a:r>
            <a:r>
              <a:rPr lang="vi-VN" dirty="0"/>
              <a:t>thể, mô hình sử dụng contrastive learning để tiền-căn chỉnh embedding cộng tác với embedding ngữ nghĩa rút ra từ LLM, giúp giảm chênh lệch phân phối giữa hai không gian. Sau đó, một số token đặc biệt mang thông tin collaborative được chiếu qua tầng lai vào không gian ngữ nghĩa của LLM và đưa vào prompt để hướng dẫn quá trình dự </a:t>
            </a:r>
            <a:r>
              <a:rPr lang="vi-VN" dirty="0" smtClean="0"/>
              <a:t>đoán.</a:t>
            </a:r>
            <a:endParaRPr lang="en-US" dirty="0" smtClean="0"/>
          </a:p>
          <a:p>
            <a:pPr marL="285750" indent="-285750" algn="just">
              <a:buFont typeface="Arial" panose="020B0604020202020204" pitchFamily="34" charset="0"/>
              <a:buChar char="•"/>
            </a:pPr>
            <a:r>
              <a:rPr lang="vi-VN" dirty="0" smtClean="0"/>
              <a:t>Cách </a:t>
            </a:r>
            <a:r>
              <a:rPr lang="vi-VN" dirty="0"/>
              <a:t>tiếp cận này giúp LLM hòa trộn sâu kiến thức cộng tác, giảm nhiễu và cải thiện rõ rệt chất lượng gợi ý (SOTA trên các tập MovieLens-1M, Amazon Book)</a:t>
            </a:r>
          </a:p>
          <a:p>
            <a:pPr algn="just"/>
            <a:endParaRPr lang="vi-VN" dirty="0"/>
          </a:p>
          <a:p>
            <a:pPr algn="just"/>
            <a:endParaRPr lang="vi-VN" dirty="0"/>
          </a:p>
        </p:txBody>
      </p:sp>
      <p:sp>
        <p:nvSpPr>
          <p:cNvPr id="7" name="TextBox 6"/>
          <p:cNvSpPr txBox="1"/>
          <p:nvPr/>
        </p:nvSpPr>
        <p:spPr>
          <a:xfrm>
            <a:off x="6513841" y="3820239"/>
            <a:ext cx="1617752" cy="246221"/>
          </a:xfrm>
          <a:prstGeom prst="rect">
            <a:avLst/>
          </a:prstGeom>
          <a:noFill/>
        </p:spPr>
        <p:txBody>
          <a:bodyPr wrap="none" rtlCol="0">
            <a:spAutoFit/>
          </a:bodyPr>
          <a:lstStyle/>
          <a:p>
            <a:pPr algn="ctr"/>
            <a:r>
              <a:rPr lang="en-US" sz="1000" dirty="0" smtClean="0"/>
              <a:t>Hình: Kiến </a:t>
            </a:r>
            <a:r>
              <a:rPr lang="en-US" sz="1000" dirty="0" err="1" smtClean="0"/>
              <a:t>trúc</a:t>
            </a:r>
            <a:r>
              <a:rPr lang="en-US" sz="1000" dirty="0" smtClean="0"/>
              <a:t> Sella-Rec</a:t>
            </a:r>
            <a:endParaRPr lang="en-US" sz="1000" dirty="0"/>
          </a:p>
        </p:txBody>
      </p:sp>
      <p:pic>
        <p:nvPicPr>
          <p:cNvPr id="3" name="Picture 2"/>
          <p:cNvPicPr>
            <a:picLocks noChangeAspect="1"/>
          </p:cNvPicPr>
          <p:nvPr/>
        </p:nvPicPr>
        <p:blipFill>
          <a:blip r:embed="rId3"/>
          <a:stretch>
            <a:fillRect/>
          </a:stretch>
        </p:blipFill>
        <p:spPr>
          <a:xfrm>
            <a:off x="5291936" y="1657513"/>
            <a:ext cx="3852064" cy="1917905"/>
          </a:xfrm>
          <a:prstGeom prst="rect">
            <a:avLst/>
          </a:prstGeom>
        </p:spPr>
      </p:pic>
    </p:spTree>
    <p:extLst>
      <p:ext uri="{BB962C8B-B14F-4D97-AF65-F5344CB8AC3E}">
        <p14:creationId xmlns:p14="http://schemas.microsoft.com/office/powerpoint/2010/main" val="1688002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NGHIÊN CỨU LIÊN QUAN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Các </a:t>
            </a:r>
            <a:r>
              <a:rPr lang="en-US" sz="2000" dirty="0" err="1" smtClean="0">
                <a:solidFill>
                  <a:schemeClr val="tx1">
                    <a:lumMod val="50000"/>
                    <a:lumOff val="50000"/>
                  </a:schemeClr>
                </a:solidFill>
              </a:rPr>
              <a:t>mô</a:t>
            </a:r>
            <a:r>
              <a:rPr lang="en-US" sz="2000" dirty="0" smtClean="0">
                <a:solidFill>
                  <a:schemeClr val="tx1">
                    <a:lumMod val="50000"/>
                    <a:lumOff val="50000"/>
                  </a:schemeClr>
                </a:solidFill>
              </a:rPr>
              <a:t> hình </a:t>
            </a:r>
            <a:r>
              <a:rPr lang="en-US" sz="2000" dirty="0" err="1" smtClean="0">
                <a:solidFill>
                  <a:schemeClr val="tx1">
                    <a:lumMod val="50000"/>
                    <a:lumOff val="50000"/>
                  </a:schemeClr>
                </a:solidFill>
              </a:rPr>
              <a:t>khác</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Tổng</a:t>
            </a:r>
            <a:r>
              <a:rPr lang="en-US" sz="2400" dirty="0" smtClean="0">
                <a:solidFill>
                  <a:schemeClr val="tx1"/>
                </a:solidFill>
              </a:rPr>
              <a:t> </a:t>
            </a:r>
            <a:r>
              <a:rPr lang="en-US" sz="2400" dirty="0" err="1" smtClean="0">
                <a:solidFill>
                  <a:schemeClr val="tx1"/>
                </a:solidFill>
              </a:rPr>
              <a:t>quan</a:t>
            </a:r>
            <a:r>
              <a:rPr lang="en-US" sz="2400" dirty="0" smtClean="0">
                <a:solidFill>
                  <a:schemeClr val="tx1"/>
                </a:solidFill>
              </a:rPr>
              <a:t> các </a:t>
            </a:r>
            <a:r>
              <a:rPr lang="en-US" sz="2400" dirty="0" err="1" smtClean="0">
                <a:solidFill>
                  <a:schemeClr val="tx1"/>
                </a:solidFill>
              </a:rPr>
              <a:t>nghiên</a:t>
            </a:r>
            <a:r>
              <a:rPr lang="en-US" sz="2400" dirty="0" smtClean="0">
                <a:solidFill>
                  <a:schemeClr val="tx1"/>
                </a:solidFill>
              </a:rPr>
              <a:t> </a:t>
            </a:r>
            <a:r>
              <a:rPr lang="en-US" sz="2400" dirty="0" err="1" smtClean="0">
                <a:solidFill>
                  <a:schemeClr val="tx1"/>
                </a:solidFill>
              </a:rPr>
              <a:t>cứu</a:t>
            </a:r>
            <a:endParaRPr lang="vi-VN" sz="2400" dirty="0">
              <a:solidFill>
                <a:schemeClr val="tx1"/>
              </a:solidFill>
            </a:endParaRPr>
          </a:p>
        </p:txBody>
      </p:sp>
      <p:sp>
        <p:nvSpPr>
          <p:cNvPr id="7" name="TextBox 6"/>
          <p:cNvSpPr txBox="1"/>
          <p:nvPr/>
        </p:nvSpPr>
        <p:spPr>
          <a:xfrm>
            <a:off x="464785" y="3640334"/>
            <a:ext cx="4107215" cy="400110"/>
          </a:xfrm>
          <a:prstGeom prst="rect">
            <a:avLst/>
          </a:prstGeom>
          <a:noFill/>
        </p:spPr>
        <p:txBody>
          <a:bodyPr wrap="none" rtlCol="0">
            <a:spAutoFit/>
          </a:bodyPr>
          <a:lstStyle/>
          <a:p>
            <a:pPr algn="just"/>
            <a:r>
              <a:rPr lang="en-US" sz="1000" dirty="0" smtClean="0"/>
              <a:t>Hình: B</a:t>
            </a:r>
            <a:r>
              <a:rPr lang="vi-VN" sz="1000" dirty="0" smtClean="0"/>
              <a:t>eeFormer</a:t>
            </a:r>
            <a:r>
              <a:rPr lang="vi-VN" sz="1000" dirty="0"/>
              <a:t>: Thu hẹp khoảng cách giữa ngữ nghĩa và tương tác</a:t>
            </a:r>
          </a:p>
          <a:p>
            <a:pPr algn="just"/>
            <a:r>
              <a:rPr lang="vi-VN" sz="1000" dirty="0"/>
              <a:t>Tính tương đồng trong hệ thống đề xuất</a:t>
            </a:r>
            <a:endParaRPr lang="en-US" sz="1000" dirty="0"/>
          </a:p>
        </p:txBody>
      </p:sp>
      <p:pic>
        <p:nvPicPr>
          <p:cNvPr id="4" name="Picture 3"/>
          <p:cNvPicPr>
            <a:picLocks noChangeAspect="1"/>
          </p:cNvPicPr>
          <p:nvPr/>
        </p:nvPicPr>
        <p:blipFill>
          <a:blip r:embed="rId3"/>
          <a:stretch>
            <a:fillRect/>
          </a:stretch>
        </p:blipFill>
        <p:spPr>
          <a:xfrm>
            <a:off x="701800" y="1612719"/>
            <a:ext cx="3735907" cy="2004633"/>
          </a:xfrm>
          <a:prstGeom prst="rect">
            <a:avLst/>
          </a:prstGeom>
        </p:spPr>
      </p:pic>
      <p:pic>
        <p:nvPicPr>
          <p:cNvPr id="5" name="Picture 4"/>
          <p:cNvPicPr>
            <a:picLocks noChangeAspect="1"/>
          </p:cNvPicPr>
          <p:nvPr/>
        </p:nvPicPr>
        <p:blipFill>
          <a:blip r:embed="rId4"/>
          <a:stretch>
            <a:fillRect/>
          </a:stretch>
        </p:blipFill>
        <p:spPr>
          <a:xfrm>
            <a:off x="4672970" y="1569518"/>
            <a:ext cx="4187180" cy="1953361"/>
          </a:xfrm>
          <a:prstGeom prst="rect">
            <a:avLst/>
          </a:prstGeom>
        </p:spPr>
      </p:pic>
      <p:sp>
        <p:nvSpPr>
          <p:cNvPr id="13" name="TextBox 12"/>
          <p:cNvSpPr txBox="1"/>
          <p:nvPr/>
        </p:nvSpPr>
        <p:spPr>
          <a:xfrm>
            <a:off x="4618259" y="3634928"/>
            <a:ext cx="4241891" cy="861774"/>
          </a:xfrm>
          <a:prstGeom prst="rect">
            <a:avLst/>
          </a:prstGeom>
          <a:noFill/>
        </p:spPr>
        <p:txBody>
          <a:bodyPr wrap="square" rtlCol="0">
            <a:spAutoFit/>
          </a:bodyPr>
          <a:lstStyle/>
          <a:p>
            <a:pPr algn="just"/>
            <a:r>
              <a:rPr lang="en-US" sz="1000" dirty="0" smtClean="0"/>
              <a:t>Hình LC-Rec: </a:t>
            </a:r>
            <a:r>
              <a:rPr lang="en-US" sz="1000" dirty="0" err="1" smtClean="0"/>
              <a:t>Cải</a:t>
            </a:r>
            <a:r>
              <a:rPr lang="en-US" sz="1000" dirty="0" smtClean="0"/>
              <a:t> </a:t>
            </a:r>
            <a:r>
              <a:rPr lang="en-US" sz="1000" dirty="0" err="1" smtClean="0"/>
              <a:t>thiện</a:t>
            </a:r>
            <a:r>
              <a:rPr lang="en-US" sz="1000" dirty="0" smtClean="0"/>
              <a:t> LLM-</a:t>
            </a:r>
            <a:r>
              <a:rPr lang="en-US" sz="1000" dirty="0" err="1" smtClean="0"/>
              <a:t>RecSys</a:t>
            </a:r>
            <a:r>
              <a:rPr lang="en-US" sz="1000" dirty="0" smtClean="0"/>
              <a:t> bằng các </a:t>
            </a:r>
            <a:r>
              <a:rPr lang="en-US" sz="1000" dirty="0" err="1" smtClean="0"/>
              <a:t>kỹ</a:t>
            </a:r>
            <a:r>
              <a:rPr lang="en-US" sz="1000" dirty="0" smtClean="0"/>
              <a:t> </a:t>
            </a:r>
            <a:r>
              <a:rPr lang="en-US" sz="1000" dirty="0" err="1" smtClean="0"/>
              <a:t>thuật</a:t>
            </a:r>
            <a:r>
              <a:rPr lang="en-US" sz="1000" dirty="0"/>
              <a:t> </a:t>
            </a:r>
            <a:r>
              <a:rPr lang="en-US" sz="1000" dirty="0" err="1" smtClean="0"/>
              <a:t>căn</a:t>
            </a:r>
            <a:r>
              <a:rPr lang="en-US" sz="1000" dirty="0" smtClean="0"/>
              <a:t> </a:t>
            </a:r>
            <a:r>
              <a:rPr lang="en-US" sz="1000" dirty="0" err="1" smtClean="0"/>
              <a:t>chỉnh</a:t>
            </a:r>
            <a:r>
              <a:rPr lang="en-US" sz="1000" dirty="0" smtClean="0"/>
              <a:t>: g</a:t>
            </a:r>
            <a:r>
              <a:rPr lang="vi-VN" sz="1000" dirty="0" smtClean="0"/>
              <a:t>án </a:t>
            </a:r>
            <a:r>
              <a:rPr lang="vi-VN" sz="1000" dirty="0"/>
              <a:t>cho mỗi mục một mã định danh ngữ nghĩa thông qua </a:t>
            </a:r>
            <a:r>
              <a:rPr lang="vi-VN" sz="1000" b="1" dirty="0"/>
              <a:t>vector quantization</a:t>
            </a:r>
            <a:r>
              <a:rPr lang="vi-VN" sz="1000" dirty="0"/>
              <a:t> để chuyển ID rời rạc thành chuỗi ký tự có ý nghĩa; (2) thiết kế các tác vụ tinh chỉnh đặc thù nhằm </a:t>
            </a:r>
            <a:r>
              <a:rPr lang="vi-VN" sz="1000" b="1" dirty="0"/>
              <a:t>căn chỉnh ngữ nghĩa</a:t>
            </a:r>
            <a:r>
              <a:rPr lang="vi-VN" sz="1000" dirty="0"/>
              <a:t> của LLM với thông tin tương tác</a:t>
            </a:r>
            <a:endParaRPr lang="en-US" sz="1000" dirty="0"/>
          </a:p>
        </p:txBody>
      </p:sp>
    </p:spTree>
    <p:extLst>
      <p:ext uri="{BB962C8B-B14F-4D97-AF65-F5344CB8AC3E}">
        <p14:creationId xmlns:p14="http://schemas.microsoft.com/office/powerpoint/2010/main" val="679260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5" name="TextBox 4"/>
          <p:cNvSpPr txBox="1"/>
          <p:nvPr/>
        </p:nvSpPr>
        <p:spPr>
          <a:xfrm>
            <a:off x="2000250" y="1536700"/>
            <a:ext cx="5156200" cy="1938992"/>
          </a:xfrm>
          <a:prstGeom prst="rect">
            <a:avLst/>
          </a:prstGeom>
          <a:noFill/>
        </p:spPr>
        <p:txBody>
          <a:bodyPr wrap="square" rtlCol="0">
            <a:spAutoFit/>
          </a:bodyPr>
          <a:lstStyle/>
          <a:p>
            <a:pPr algn="ctr"/>
            <a:r>
              <a:rPr lang="en-US" sz="6000" b="1" dirty="0" smtClean="0">
                <a:solidFill>
                  <a:srgbClr val="0070C0"/>
                </a:solidFill>
              </a:rPr>
              <a:t>MỤC TIÊU</a:t>
            </a:r>
            <a:br>
              <a:rPr lang="en-US" sz="6000" b="1" dirty="0" smtClean="0">
                <a:solidFill>
                  <a:srgbClr val="0070C0"/>
                </a:solidFill>
              </a:rPr>
            </a:br>
            <a:r>
              <a:rPr lang="en-US" sz="6000" b="1" dirty="0" smtClean="0">
                <a:solidFill>
                  <a:srgbClr val="0070C0"/>
                </a:solidFill>
              </a:rPr>
              <a:t>ĐỐI TƯỢNG</a:t>
            </a:r>
            <a:endParaRPr lang="en-US" sz="6000" dirty="0">
              <a:solidFill>
                <a:srgbClr val="0070C0"/>
              </a:solidFill>
            </a:endParaRPr>
          </a:p>
        </p:txBody>
      </p:sp>
    </p:spTree>
    <p:extLst>
      <p:ext uri="{BB962C8B-B14F-4D97-AF65-F5344CB8AC3E}">
        <p14:creationId xmlns:p14="http://schemas.microsoft.com/office/powerpoint/2010/main" val="19187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ĐỐI TƯỢNG NGHIÊN CỨU</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Mô</a:t>
            </a:r>
            <a:r>
              <a:rPr lang="en-US" sz="2000" dirty="0" smtClean="0">
                <a:solidFill>
                  <a:schemeClr val="tx1">
                    <a:lumMod val="50000"/>
                    <a:lumOff val="50000"/>
                  </a:schemeClr>
                </a:solidFill>
              </a:rPr>
              <a:t> hình </a:t>
            </a:r>
            <a:r>
              <a:rPr lang="en-US" sz="2000" dirty="0" err="1" smtClean="0">
                <a:solidFill>
                  <a:schemeClr val="tx1">
                    <a:lumMod val="50000"/>
                    <a:lumOff val="50000"/>
                  </a:schemeClr>
                </a:solidFill>
              </a:rPr>
              <a:t>CoLLM</a:t>
            </a:r>
            <a:r>
              <a:rPr lang="en-US" sz="2000" dirty="0" smtClean="0">
                <a:solidFill>
                  <a:schemeClr val="tx1">
                    <a:lumMod val="50000"/>
                    <a:lumOff val="50000"/>
                  </a:schemeClr>
                </a:solidFill>
              </a:rPr>
              <a:t> - baseline</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Đối</a:t>
            </a:r>
            <a:r>
              <a:rPr lang="en-US" sz="2400" dirty="0" smtClean="0">
                <a:solidFill>
                  <a:schemeClr val="tx1"/>
                </a:solidFill>
              </a:rPr>
              <a:t> </a:t>
            </a:r>
            <a:r>
              <a:rPr lang="en-US" sz="2400" dirty="0" err="1" smtClean="0">
                <a:solidFill>
                  <a:schemeClr val="tx1"/>
                </a:solidFill>
              </a:rPr>
              <a:t>tượng</a:t>
            </a:r>
            <a:r>
              <a:rPr lang="en-US" sz="2400" dirty="0" smtClean="0">
                <a:solidFill>
                  <a:schemeClr val="tx1"/>
                </a:solidFill>
              </a:rPr>
              <a:t> </a:t>
            </a:r>
            <a:r>
              <a:rPr lang="en-US" sz="2400" dirty="0" err="1" smtClean="0">
                <a:solidFill>
                  <a:schemeClr val="tx1"/>
                </a:solidFill>
              </a:rPr>
              <a:t>nghiên</a:t>
            </a:r>
            <a:r>
              <a:rPr lang="en-US" sz="2400" dirty="0" smtClean="0">
                <a:solidFill>
                  <a:schemeClr val="tx1"/>
                </a:solidFill>
              </a:rPr>
              <a:t> </a:t>
            </a:r>
            <a:r>
              <a:rPr lang="en-US" sz="2400" dirty="0" err="1" smtClean="0">
                <a:solidFill>
                  <a:schemeClr val="tx1"/>
                </a:solidFill>
              </a:rPr>
              <a:t>cứu</a:t>
            </a:r>
            <a:endParaRPr lang="vi-VN" sz="2400" dirty="0">
              <a:solidFill>
                <a:schemeClr val="tx1"/>
              </a:solidFill>
            </a:endParaRPr>
          </a:p>
        </p:txBody>
      </p:sp>
      <p:sp>
        <p:nvSpPr>
          <p:cNvPr id="2" name="TextBox 1"/>
          <p:cNvSpPr txBox="1"/>
          <p:nvPr/>
        </p:nvSpPr>
        <p:spPr>
          <a:xfrm>
            <a:off x="152400" y="1801471"/>
            <a:ext cx="5165750" cy="3323987"/>
          </a:xfrm>
          <a:prstGeom prst="rect">
            <a:avLst/>
          </a:prstGeom>
          <a:noFill/>
        </p:spPr>
        <p:txBody>
          <a:bodyPr wrap="square" rtlCol="0">
            <a:spAutoFit/>
          </a:bodyPr>
          <a:lstStyle/>
          <a:p>
            <a:pPr marL="285750" indent="-285750" algn="just">
              <a:buFont typeface="Arial" panose="020B0604020202020204" pitchFamily="34" charset="0"/>
              <a:buChar char="•"/>
            </a:pPr>
            <a:r>
              <a:rPr lang="en-US" dirty="0" err="1" smtClean="0"/>
              <a:t>Cấu</a:t>
            </a:r>
            <a:r>
              <a:rPr lang="en-US" dirty="0" smtClean="0"/>
              <a:t> </a:t>
            </a:r>
            <a:r>
              <a:rPr lang="en-US" dirty="0" err="1" smtClean="0"/>
              <a:t>trúc</a:t>
            </a:r>
            <a:r>
              <a:rPr lang="en-US" dirty="0" smtClean="0"/>
              <a:t> </a:t>
            </a:r>
            <a:r>
              <a:rPr lang="en-US" dirty="0" err="1" smtClean="0"/>
              <a:t>CoLLM</a:t>
            </a:r>
            <a:r>
              <a:rPr lang="en-US" dirty="0" smtClean="0"/>
              <a:t>: </a:t>
            </a:r>
            <a:r>
              <a:rPr lang="en-US" dirty="0" err="1" smtClean="0"/>
              <a:t>Gồm</a:t>
            </a:r>
            <a:r>
              <a:rPr lang="en-US" dirty="0" smtClean="0"/>
              <a:t> 2 </a:t>
            </a:r>
            <a:r>
              <a:rPr lang="en-US" dirty="0" err="1" smtClean="0"/>
              <a:t>tầng</a:t>
            </a:r>
            <a:r>
              <a:rPr lang="en-US" dirty="0" smtClean="0"/>
              <a:t>, </a:t>
            </a:r>
            <a:r>
              <a:rPr lang="en-US" dirty="0" err="1" smtClean="0"/>
              <a:t>Colab</a:t>
            </a:r>
            <a:r>
              <a:rPr lang="en-US" dirty="0" smtClean="0"/>
              <a:t> Model </a:t>
            </a:r>
            <a:r>
              <a:rPr lang="en-US" dirty="0" err="1" smtClean="0"/>
              <a:t>truyền</a:t>
            </a:r>
            <a:r>
              <a:rPr lang="en-US" dirty="0" smtClean="0"/>
              <a:t> </a:t>
            </a:r>
            <a:r>
              <a:rPr lang="en-US" dirty="0" err="1" smtClean="0"/>
              <a:t>thống</a:t>
            </a:r>
            <a:r>
              <a:rPr lang="en-US" dirty="0" smtClean="0"/>
              <a:t> (</a:t>
            </a:r>
            <a:r>
              <a:rPr lang="en-US" dirty="0" err="1" smtClean="0"/>
              <a:t>LightGCN</a:t>
            </a:r>
            <a:r>
              <a:rPr lang="en-US" dirty="0"/>
              <a:t>)</a:t>
            </a:r>
            <a:r>
              <a:rPr lang="en-US" dirty="0" smtClean="0"/>
              <a:t> </a:t>
            </a:r>
            <a:r>
              <a:rPr lang="en-US" dirty="0" err="1" smtClean="0"/>
              <a:t>để</a:t>
            </a:r>
            <a:r>
              <a:rPr lang="en-US" dirty="0" smtClean="0"/>
              <a:t> </a:t>
            </a:r>
            <a:r>
              <a:rPr lang="en-US" dirty="0" err="1" smtClean="0"/>
              <a:t>trích</a:t>
            </a:r>
            <a:r>
              <a:rPr lang="en-US" dirty="0" smtClean="0"/>
              <a:t> </a:t>
            </a:r>
            <a:r>
              <a:rPr lang="en-US" dirty="0" err="1" smtClean="0"/>
              <a:t>xuất</a:t>
            </a:r>
            <a:r>
              <a:rPr lang="en-US" dirty="0" smtClean="0"/>
              <a:t> </a:t>
            </a:r>
            <a:r>
              <a:rPr lang="en-US" dirty="0" err="1" smtClean="0"/>
              <a:t>colab</a:t>
            </a:r>
            <a:r>
              <a:rPr lang="en-US" dirty="0" smtClean="0"/>
              <a:t> embedding vector (</a:t>
            </a:r>
            <a:r>
              <a:rPr lang="en-US" dirty="0" err="1" smtClean="0"/>
              <a:t>tín</a:t>
            </a:r>
            <a:r>
              <a:rPr lang="en-US" dirty="0" smtClean="0"/>
              <a:t> </a:t>
            </a:r>
            <a:r>
              <a:rPr lang="en-US" dirty="0" err="1" smtClean="0"/>
              <a:t>hiệu</a:t>
            </a:r>
            <a:r>
              <a:rPr lang="en-US" dirty="0" smtClean="0"/>
              <a:t> </a:t>
            </a:r>
            <a:r>
              <a:rPr lang="en-US" dirty="0" err="1" smtClean="0"/>
              <a:t>cộng</a:t>
            </a:r>
            <a:r>
              <a:rPr lang="en-US" dirty="0" smtClean="0"/>
              <a:t> </a:t>
            </a:r>
            <a:r>
              <a:rPr lang="en-US" dirty="0" err="1" smtClean="0"/>
              <a:t>tác</a:t>
            </a:r>
            <a:r>
              <a:rPr lang="en-US" dirty="0" smtClean="0"/>
              <a:t>), qua 1 </a:t>
            </a:r>
            <a:r>
              <a:rPr lang="en-US" dirty="0" err="1" smtClean="0"/>
              <a:t>lớp</a:t>
            </a:r>
            <a:r>
              <a:rPr lang="en-US" dirty="0" smtClean="0"/>
              <a:t> </a:t>
            </a:r>
            <a:r>
              <a:rPr lang="en-US" dirty="0" err="1" smtClean="0"/>
              <a:t>ánh</a:t>
            </a:r>
            <a:r>
              <a:rPr lang="en-US" dirty="0" smtClean="0"/>
              <a:t> </a:t>
            </a:r>
            <a:r>
              <a:rPr lang="en-US" dirty="0" err="1" smtClean="0"/>
              <a:t>xạ</a:t>
            </a:r>
            <a:r>
              <a:rPr lang="en-US" dirty="0" smtClean="0"/>
              <a:t> (mapping vào </a:t>
            </a:r>
            <a:r>
              <a:rPr lang="en-US" dirty="0" err="1" smtClean="0"/>
              <a:t>không</a:t>
            </a:r>
            <a:r>
              <a:rPr lang="en-US" dirty="0" smtClean="0"/>
              <a:t> </a:t>
            </a:r>
            <a:r>
              <a:rPr lang="en-US" dirty="0" err="1" smtClean="0"/>
              <a:t>gian</a:t>
            </a:r>
            <a:r>
              <a:rPr lang="en-US" dirty="0" smtClean="0"/>
              <a:t> LLM) </a:t>
            </a:r>
            <a:r>
              <a:rPr lang="en-US" dirty="0" err="1" smtClean="0"/>
              <a:t>để</a:t>
            </a:r>
            <a:r>
              <a:rPr lang="en-US" dirty="0" smtClean="0"/>
              <a:t> được các user/item embed token, </a:t>
            </a:r>
            <a:r>
              <a:rPr lang="en-US" dirty="0" err="1" smtClean="0"/>
              <a:t>gắn</a:t>
            </a:r>
            <a:r>
              <a:rPr lang="en-US" dirty="0" smtClean="0"/>
              <a:t> với các text embed token </a:t>
            </a:r>
            <a:r>
              <a:rPr lang="en-US" dirty="0" err="1" smtClean="0"/>
              <a:t>khác</a:t>
            </a:r>
            <a:r>
              <a:rPr lang="en-US" dirty="0" smtClean="0"/>
              <a:t> và </a:t>
            </a:r>
            <a:r>
              <a:rPr lang="en-US" dirty="0" err="1" smtClean="0"/>
              <a:t>cho</a:t>
            </a:r>
            <a:r>
              <a:rPr lang="en-US" dirty="0" smtClean="0"/>
              <a:t> vào LLM (Vicuna – 7B).</a:t>
            </a:r>
          </a:p>
          <a:p>
            <a:pPr marL="285750" indent="-285750" algn="just">
              <a:buFont typeface="Arial" panose="020B0604020202020204" pitchFamily="34" charset="0"/>
              <a:buChar char="•"/>
            </a:pPr>
            <a:r>
              <a:rPr lang="en-US" dirty="0" err="1" smtClean="0"/>
              <a:t>Sử</a:t>
            </a:r>
            <a:r>
              <a:rPr lang="en-US" dirty="0" smtClean="0"/>
              <a:t> </a:t>
            </a:r>
            <a:r>
              <a:rPr lang="en-US" dirty="0" err="1" smtClean="0"/>
              <a:t>dụng</a:t>
            </a:r>
            <a:r>
              <a:rPr lang="en-US" dirty="0" smtClean="0"/>
              <a:t> </a:t>
            </a:r>
            <a:r>
              <a:rPr lang="en-US" dirty="0" err="1" smtClean="0"/>
              <a:t>LoRA</a:t>
            </a:r>
            <a:r>
              <a:rPr lang="en-US" dirty="0" smtClean="0"/>
              <a:t>: fine-tune LLM với số </a:t>
            </a:r>
            <a:r>
              <a:rPr lang="en-US" dirty="0" err="1" smtClean="0"/>
              <a:t>lượng</a:t>
            </a:r>
            <a:r>
              <a:rPr lang="en-US" dirty="0" smtClean="0"/>
              <a:t> nhỏ </a:t>
            </a:r>
            <a:r>
              <a:rPr lang="en-US" dirty="0" err="1" smtClean="0"/>
              <a:t>tham</a:t>
            </a:r>
            <a:r>
              <a:rPr lang="en-US" dirty="0" smtClean="0"/>
              <a:t> số </a:t>
            </a:r>
            <a:r>
              <a:rPr lang="en-US" dirty="0" err="1" smtClean="0"/>
              <a:t>chọn</a:t>
            </a:r>
            <a:r>
              <a:rPr lang="en-US" dirty="0" smtClean="0"/>
              <a:t> </a:t>
            </a:r>
            <a:r>
              <a:rPr lang="en-US" dirty="0" err="1" smtClean="0"/>
              <a:t>lọc</a:t>
            </a:r>
            <a:r>
              <a:rPr lang="en-US" dirty="0" smtClean="0"/>
              <a:t> </a:t>
            </a:r>
            <a:r>
              <a:rPr lang="en-US" dirty="0" err="1" smtClean="0"/>
              <a:t>cho</a:t>
            </a:r>
            <a:r>
              <a:rPr lang="en-US" dirty="0" smtClean="0"/>
              <a:t> </a:t>
            </a:r>
            <a:r>
              <a:rPr lang="en-US" dirty="0" err="1" smtClean="0"/>
              <a:t>tác</a:t>
            </a:r>
            <a:r>
              <a:rPr lang="en-US" dirty="0" smtClean="0"/>
              <a:t> vụ tư vấn </a:t>
            </a:r>
            <a:r>
              <a:rPr lang="en-US" dirty="0" err="1" smtClean="0"/>
              <a:t>nhằm</a:t>
            </a:r>
            <a:r>
              <a:rPr lang="en-US" dirty="0" smtClean="0"/>
              <a:t> </a:t>
            </a:r>
            <a:r>
              <a:rPr lang="en-US" dirty="0" err="1" smtClean="0"/>
              <a:t>tăng</a:t>
            </a:r>
            <a:r>
              <a:rPr lang="en-US" dirty="0" smtClean="0"/>
              <a:t> </a:t>
            </a:r>
            <a:r>
              <a:rPr lang="en-US" dirty="0" err="1" smtClean="0"/>
              <a:t>hiệu</a:t>
            </a:r>
            <a:r>
              <a:rPr lang="en-US" dirty="0" smtClean="0"/>
              <a:t> </a:t>
            </a:r>
            <a:r>
              <a:rPr lang="en-US" dirty="0" err="1" smtClean="0"/>
              <a:t>quả</a:t>
            </a:r>
            <a:r>
              <a:rPr lang="en-US" dirty="0" smtClean="0"/>
              <a:t> tư vấn mà </a:t>
            </a:r>
            <a:r>
              <a:rPr lang="en-US" dirty="0" err="1" smtClean="0"/>
              <a:t>tiết</a:t>
            </a:r>
            <a:r>
              <a:rPr lang="en-US" dirty="0" smtClean="0"/>
              <a:t> </a:t>
            </a:r>
            <a:r>
              <a:rPr lang="en-US" dirty="0" err="1" smtClean="0"/>
              <a:t>kiệm</a:t>
            </a:r>
            <a:r>
              <a:rPr lang="en-US" dirty="0" smtClean="0"/>
              <a:t> </a:t>
            </a:r>
            <a:r>
              <a:rPr lang="en-US" dirty="0" err="1" smtClean="0"/>
              <a:t>thời</a:t>
            </a:r>
            <a:r>
              <a:rPr lang="en-US" dirty="0" smtClean="0"/>
              <a:t> </a:t>
            </a:r>
            <a:r>
              <a:rPr lang="en-US" dirty="0" err="1" smtClean="0"/>
              <a:t>gian</a:t>
            </a:r>
            <a:r>
              <a:rPr lang="en-US" dirty="0" smtClean="0"/>
              <a:t> train.</a:t>
            </a:r>
          </a:p>
          <a:p>
            <a:pPr marL="285750" indent="-285750" algn="just">
              <a:buFont typeface="Arial" panose="020B0604020202020204" pitchFamily="34" charset="0"/>
              <a:buChar char="•"/>
            </a:pPr>
            <a:r>
              <a:rPr lang="en-US" dirty="0" smtClean="0"/>
              <a:t>Vấn </a:t>
            </a:r>
            <a:r>
              <a:rPr lang="en-US" dirty="0" err="1" smtClean="0"/>
              <a:t>đề</a:t>
            </a:r>
            <a:r>
              <a:rPr lang="en-US" dirty="0" smtClean="0"/>
              <a:t> </a:t>
            </a:r>
            <a:r>
              <a:rPr lang="en-US" dirty="0" err="1" smtClean="0"/>
              <a:t>tồn</a:t>
            </a:r>
            <a:r>
              <a:rPr lang="en-US" dirty="0" smtClean="0"/>
              <a:t> tại: </a:t>
            </a:r>
            <a:r>
              <a:rPr lang="en-US" dirty="0" err="1" smtClean="0"/>
              <a:t>CoLLM</a:t>
            </a:r>
            <a:r>
              <a:rPr lang="en-US" dirty="0" smtClean="0"/>
              <a:t> </a:t>
            </a:r>
            <a:r>
              <a:rPr lang="en-US" dirty="0" err="1" smtClean="0"/>
              <a:t>hiện</a:t>
            </a:r>
            <a:r>
              <a:rPr lang="en-US" dirty="0" smtClean="0"/>
              <a:t> chỉ </a:t>
            </a:r>
            <a:r>
              <a:rPr lang="en-US" dirty="0" err="1" smtClean="0"/>
              <a:t>sử</a:t>
            </a:r>
            <a:r>
              <a:rPr lang="en-US" dirty="0" smtClean="0"/>
              <a:t> </a:t>
            </a:r>
            <a:r>
              <a:rPr lang="en-US" dirty="0" err="1" smtClean="0"/>
              <a:t>dụng</a:t>
            </a:r>
            <a:r>
              <a:rPr lang="en-US" dirty="0" smtClean="0"/>
              <a:t> 1 </a:t>
            </a:r>
            <a:r>
              <a:rPr lang="en-US" dirty="0" err="1" smtClean="0"/>
              <a:t>lớp</a:t>
            </a:r>
            <a:r>
              <a:rPr lang="en-US" dirty="0" smtClean="0"/>
              <a:t> mapping </a:t>
            </a:r>
            <a:r>
              <a:rPr lang="en-US" dirty="0" err="1" smtClean="0"/>
              <a:t>ánh</a:t>
            </a:r>
            <a:r>
              <a:rPr lang="en-US" dirty="0" smtClean="0"/>
              <a:t> </a:t>
            </a:r>
            <a:r>
              <a:rPr lang="en-US" dirty="0" err="1" smtClean="0"/>
              <a:t>xạ</a:t>
            </a:r>
            <a:r>
              <a:rPr lang="en-US" dirty="0" smtClean="0"/>
              <a:t> </a:t>
            </a:r>
            <a:r>
              <a:rPr lang="en-US" dirty="0" err="1" smtClean="0"/>
              <a:t>tuyến</a:t>
            </a:r>
            <a:r>
              <a:rPr lang="en-US" dirty="0" smtClean="0"/>
              <a:t> tính </a:t>
            </a:r>
            <a:r>
              <a:rPr lang="en-US" dirty="0" err="1" smtClean="0"/>
              <a:t>đơn</a:t>
            </a:r>
            <a:r>
              <a:rPr lang="en-US" dirty="0" smtClean="0"/>
              <a:t> </a:t>
            </a:r>
            <a:r>
              <a:rPr lang="en-US" dirty="0" err="1" smtClean="0"/>
              <a:t>giản</a:t>
            </a:r>
            <a:r>
              <a:rPr lang="en-US" dirty="0" smtClean="0"/>
              <a:t> -&gt; semantic gap còn </a:t>
            </a:r>
            <a:r>
              <a:rPr lang="en-US" dirty="0" err="1" smtClean="0"/>
              <a:t>lớn</a:t>
            </a:r>
            <a:r>
              <a:rPr lang="en-US" dirty="0" smtClean="0"/>
              <a:t>. </a:t>
            </a:r>
            <a:r>
              <a:rPr lang="en-US" dirty="0" err="1" smtClean="0"/>
              <a:t>Sử</a:t>
            </a:r>
            <a:r>
              <a:rPr lang="en-US" dirty="0" smtClean="0"/>
              <a:t> </a:t>
            </a:r>
            <a:r>
              <a:rPr lang="en-US" dirty="0" err="1" smtClean="0"/>
              <a:t>dụng</a:t>
            </a:r>
            <a:r>
              <a:rPr lang="en-US" dirty="0" smtClean="0"/>
              <a:t> các cơ </a:t>
            </a:r>
            <a:r>
              <a:rPr lang="en-US" dirty="0" err="1" smtClean="0"/>
              <a:t>chế</a:t>
            </a:r>
            <a:r>
              <a:rPr lang="en-US" dirty="0" smtClean="0"/>
              <a:t> semantic alignment </a:t>
            </a:r>
            <a:r>
              <a:rPr lang="en-US" dirty="0"/>
              <a:t>như contrastive </a:t>
            </a:r>
            <a:r>
              <a:rPr lang="en-US" dirty="0" smtClean="0"/>
              <a:t>learning…</a:t>
            </a:r>
          </a:p>
          <a:p>
            <a:pPr marL="285750" indent="-285750" algn="just">
              <a:buFont typeface="Arial" panose="020B0604020202020204" pitchFamily="34" charset="0"/>
              <a:buChar char="•"/>
            </a:pPr>
            <a:endParaRPr lang="en-US" dirty="0" smtClean="0"/>
          </a:p>
          <a:p>
            <a:pPr marL="285750" indent="-285750" algn="just">
              <a:buFont typeface="Arial" panose="020B0604020202020204" pitchFamily="34" charset="0"/>
              <a:buChar char="•"/>
            </a:pPr>
            <a:endParaRPr lang="en-US" dirty="0" smtClean="0"/>
          </a:p>
          <a:p>
            <a:pPr algn="just"/>
            <a:endParaRPr lang="en-US" dirty="0" smtClean="0"/>
          </a:p>
          <a:p>
            <a:pPr algn="just"/>
            <a:endParaRPr lang="en-US" dirty="0"/>
          </a:p>
        </p:txBody>
      </p:sp>
      <p:pic>
        <p:nvPicPr>
          <p:cNvPr id="4" name="Picture 3"/>
          <p:cNvPicPr>
            <a:picLocks noChangeAspect="1"/>
          </p:cNvPicPr>
          <p:nvPr/>
        </p:nvPicPr>
        <p:blipFill>
          <a:blip r:embed="rId3"/>
          <a:stretch>
            <a:fillRect/>
          </a:stretch>
        </p:blipFill>
        <p:spPr>
          <a:xfrm>
            <a:off x="5405933" y="1725032"/>
            <a:ext cx="3917376" cy="1738432"/>
          </a:xfrm>
          <a:prstGeom prst="rect">
            <a:avLst/>
          </a:prstGeom>
        </p:spPr>
      </p:pic>
      <p:sp>
        <p:nvSpPr>
          <p:cNvPr id="5" name="Rectangle 4"/>
          <p:cNvSpPr/>
          <p:nvPr/>
        </p:nvSpPr>
        <p:spPr>
          <a:xfrm>
            <a:off x="5831933" y="3523284"/>
            <a:ext cx="2284600" cy="307777"/>
          </a:xfrm>
          <a:prstGeom prst="rect">
            <a:avLst/>
          </a:prstGeom>
        </p:spPr>
        <p:txBody>
          <a:bodyPr wrap="none">
            <a:spAutoFit/>
          </a:bodyPr>
          <a:lstStyle/>
          <a:p>
            <a:r>
              <a:rPr lang="en-US" dirty="0" err="1"/>
              <a:t>Hình:Kiến</a:t>
            </a:r>
            <a:r>
              <a:rPr lang="en-US" dirty="0"/>
              <a:t> </a:t>
            </a:r>
            <a:r>
              <a:rPr lang="en-US" dirty="0" err="1"/>
              <a:t>trúc</a:t>
            </a:r>
            <a:r>
              <a:rPr lang="en-US" dirty="0"/>
              <a:t> của </a:t>
            </a:r>
            <a:r>
              <a:rPr lang="en-US" dirty="0" err="1" smtClean="0"/>
              <a:t>CoLLM</a:t>
            </a:r>
            <a:endParaRPr lang="en-US" dirty="0"/>
          </a:p>
        </p:txBody>
      </p:sp>
    </p:spTree>
    <p:extLst>
      <p:ext uri="{BB962C8B-B14F-4D97-AF65-F5344CB8AC3E}">
        <p14:creationId xmlns:p14="http://schemas.microsoft.com/office/powerpoint/2010/main" val="4256479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MỤC TIÊU NGHIÊN CỨU</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Tính cấp </a:t>
            </a:r>
            <a:r>
              <a:rPr lang="en-US" sz="2000" dirty="0" err="1" smtClean="0">
                <a:solidFill>
                  <a:schemeClr val="tx1">
                    <a:lumMod val="50000"/>
                    <a:lumOff val="50000"/>
                  </a:schemeClr>
                </a:solidFill>
              </a:rPr>
              <a:t>thiết</a:t>
            </a:r>
            <a:r>
              <a:rPr lang="en-US" sz="2000" dirty="0" smtClean="0">
                <a:solidFill>
                  <a:schemeClr val="tx1">
                    <a:lumMod val="50000"/>
                    <a:lumOff val="50000"/>
                  </a:schemeClr>
                </a:solidFill>
              </a:rPr>
              <a:t> và ý </a:t>
            </a:r>
            <a:r>
              <a:rPr lang="en-US" sz="2000" dirty="0" err="1" smtClean="0">
                <a:solidFill>
                  <a:schemeClr val="tx1">
                    <a:lumMod val="50000"/>
                    <a:lumOff val="50000"/>
                  </a:schemeClr>
                </a:solidFill>
              </a:rPr>
              <a:t>nghĩa</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thực</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tiễn</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Mục</a:t>
            </a:r>
            <a:r>
              <a:rPr lang="en-US" sz="2400" dirty="0" smtClean="0">
                <a:solidFill>
                  <a:schemeClr val="tx1"/>
                </a:solidFill>
              </a:rPr>
              <a:t> </a:t>
            </a:r>
            <a:r>
              <a:rPr lang="en-US" sz="2400" dirty="0" err="1" smtClean="0">
                <a:solidFill>
                  <a:schemeClr val="tx1"/>
                </a:solidFill>
              </a:rPr>
              <a:t>tiêu</a:t>
            </a:r>
            <a:r>
              <a:rPr lang="en-US" sz="2400" dirty="0" smtClean="0">
                <a:solidFill>
                  <a:schemeClr val="tx1"/>
                </a:solidFill>
              </a:rPr>
              <a:t> </a:t>
            </a:r>
            <a:r>
              <a:rPr lang="en-US" sz="2400" dirty="0" err="1" smtClean="0">
                <a:solidFill>
                  <a:schemeClr val="tx1"/>
                </a:solidFill>
              </a:rPr>
              <a:t>nghiên</a:t>
            </a:r>
            <a:r>
              <a:rPr lang="en-US" sz="2400" dirty="0" smtClean="0">
                <a:solidFill>
                  <a:schemeClr val="tx1"/>
                </a:solidFill>
              </a:rPr>
              <a:t> </a:t>
            </a:r>
            <a:r>
              <a:rPr lang="en-US" sz="2400" dirty="0" err="1" smtClean="0">
                <a:solidFill>
                  <a:schemeClr val="tx1"/>
                </a:solidFill>
              </a:rPr>
              <a:t>cứu</a:t>
            </a:r>
            <a:endParaRPr lang="vi-VN" sz="2400" dirty="0">
              <a:solidFill>
                <a:schemeClr val="tx1"/>
              </a:solidFill>
            </a:endParaRPr>
          </a:p>
        </p:txBody>
      </p:sp>
      <p:sp>
        <p:nvSpPr>
          <p:cNvPr id="2" name="TextBox 1"/>
          <p:cNvSpPr txBox="1"/>
          <p:nvPr/>
        </p:nvSpPr>
        <p:spPr>
          <a:xfrm>
            <a:off x="576306" y="1801471"/>
            <a:ext cx="7846886" cy="1815882"/>
          </a:xfrm>
          <a:prstGeom prst="rect">
            <a:avLst/>
          </a:prstGeom>
          <a:noFill/>
        </p:spPr>
        <p:txBody>
          <a:bodyPr wrap="square" rtlCol="0">
            <a:spAutoFit/>
          </a:bodyPr>
          <a:lstStyle/>
          <a:p>
            <a:pPr marL="285750" indent="-285750" algn="just">
              <a:buFont typeface="Arial" panose="020B0604020202020204" pitchFamily="34" charset="0"/>
              <a:buChar char="•"/>
            </a:pPr>
            <a:r>
              <a:rPr lang="en-US" dirty="0" smtClean="0"/>
              <a:t>Tính cấp </a:t>
            </a:r>
            <a:r>
              <a:rPr lang="en-US" dirty="0" err="1" smtClean="0"/>
              <a:t>thiết</a:t>
            </a:r>
            <a:r>
              <a:rPr lang="en-US" dirty="0" smtClean="0"/>
              <a:t>: Các </a:t>
            </a:r>
            <a:r>
              <a:rPr lang="en-US" dirty="0" err="1" smtClean="0"/>
              <a:t>mô</a:t>
            </a:r>
            <a:r>
              <a:rPr lang="en-US" dirty="0" smtClean="0"/>
              <a:t> hình tư vấn </a:t>
            </a:r>
            <a:r>
              <a:rPr lang="en-US" dirty="0" err="1" smtClean="0"/>
              <a:t>truyền</a:t>
            </a:r>
            <a:r>
              <a:rPr lang="en-US" dirty="0" smtClean="0"/>
              <a:t> </a:t>
            </a:r>
            <a:r>
              <a:rPr lang="en-US" dirty="0" err="1" smtClean="0"/>
              <a:t>thống</a:t>
            </a:r>
            <a:r>
              <a:rPr lang="en-US" dirty="0" smtClean="0"/>
              <a:t> </a:t>
            </a:r>
            <a:r>
              <a:rPr lang="en-US" dirty="0" err="1" smtClean="0"/>
              <a:t>tuy</a:t>
            </a:r>
            <a:r>
              <a:rPr lang="en-US" dirty="0" smtClean="0"/>
              <a:t> có </a:t>
            </a:r>
            <a:r>
              <a:rPr lang="en-US" dirty="0" err="1" smtClean="0"/>
              <a:t>hiệu</a:t>
            </a:r>
            <a:r>
              <a:rPr lang="en-US" dirty="0" smtClean="0"/>
              <a:t> </a:t>
            </a:r>
            <a:r>
              <a:rPr lang="en-US" dirty="0" err="1" smtClean="0"/>
              <a:t>suất</a:t>
            </a:r>
            <a:r>
              <a:rPr lang="en-US" dirty="0" smtClean="0"/>
              <a:t> tính toàn </a:t>
            </a:r>
            <a:r>
              <a:rPr lang="en-US" dirty="0" err="1" smtClean="0"/>
              <a:t>cao</a:t>
            </a:r>
            <a:r>
              <a:rPr lang="en-US" dirty="0" smtClean="0"/>
              <a:t> </a:t>
            </a:r>
            <a:r>
              <a:rPr lang="en-US" dirty="0" err="1" smtClean="0"/>
              <a:t>tuy</a:t>
            </a:r>
            <a:r>
              <a:rPr lang="en-US" dirty="0" smtClean="0"/>
              <a:t> </a:t>
            </a:r>
            <a:r>
              <a:rPr lang="en-US" dirty="0" err="1" smtClean="0"/>
              <a:t>nhiên</a:t>
            </a:r>
            <a:r>
              <a:rPr lang="en-US" dirty="0" smtClean="0"/>
              <a:t> </a:t>
            </a:r>
            <a:r>
              <a:rPr lang="en-US" dirty="0" err="1" smtClean="0"/>
              <a:t>bộc</a:t>
            </a:r>
            <a:r>
              <a:rPr lang="en-US" dirty="0" smtClean="0"/>
              <a:t> </a:t>
            </a:r>
            <a:r>
              <a:rPr lang="en-US" dirty="0" err="1" smtClean="0"/>
              <a:t>lộ</a:t>
            </a:r>
            <a:r>
              <a:rPr lang="en-US" dirty="0" smtClean="0"/>
              <a:t> các </a:t>
            </a:r>
            <a:r>
              <a:rPr lang="en-US" dirty="0" err="1" smtClean="0"/>
              <a:t>điểm</a:t>
            </a:r>
            <a:r>
              <a:rPr lang="en-US" dirty="0" smtClean="0"/>
              <a:t> </a:t>
            </a:r>
            <a:r>
              <a:rPr lang="en-US" dirty="0" err="1" smtClean="0"/>
              <a:t>yếu</a:t>
            </a:r>
            <a:r>
              <a:rPr lang="en-US" dirty="0" smtClean="0"/>
              <a:t> về </a:t>
            </a:r>
            <a:r>
              <a:rPr lang="en-US" dirty="0" err="1" smtClean="0"/>
              <a:t>khả</a:t>
            </a:r>
            <a:r>
              <a:rPr lang="en-US" dirty="0" smtClean="0"/>
              <a:t> </a:t>
            </a:r>
            <a:r>
              <a:rPr lang="en-US" dirty="0" err="1" smtClean="0"/>
              <a:t>năng</a:t>
            </a:r>
            <a:r>
              <a:rPr lang="en-US" dirty="0" smtClean="0"/>
              <a:t> hiểu </a:t>
            </a:r>
            <a:r>
              <a:rPr lang="en-US" dirty="0" err="1" smtClean="0"/>
              <a:t>ngữ</a:t>
            </a:r>
            <a:r>
              <a:rPr lang="en-US" dirty="0" smtClean="0"/>
              <a:t> </a:t>
            </a:r>
            <a:r>
              <a:rPr lang="en-US" dirty="0" err="1" smtClean="0"/>
              <a:t>nghĩa</a:t>
            </a:r>
            <a:r>
              <a:rPr lang="en-US" dirty="0" smtClean="0"/>
              <a:t> và </a:t>
            </a:r>
            <a:r>
              <a:rPr lang="en-US" dirty="0" err="1" smtClean="0"/>
              <a:t>xử</a:t>
            </a:r>
            <a:r>
              <a:rPr lang="en-US" dirty="0" smtClean="0"/>
              <a:t> </a:t>
            </a:r>
            <a:r>
              <a:rPr lang="en-US" dirty="0" err="1" smtClean="0"/>
              <a:t>lý</a:t>
            </a:r>
            <a:r>
              <a:rPr lang="en-US" dirty="0" smtClean="0"/>
              <a:t> </a:t>
            </a:r>
            <a:r>
              <a:rPr lang="en-US" dirty="0" err="1" smtClean="0"/>
              <a:t>ngữ</a:t>
            </a:r>
            <a:r>
              <a:rPr lang="en-US" dirty="0" smtClean="0"/>
              <a:t> </a:t>
            </a:r>
            <a:r>
              <a:rPr lang="en-US" dirty="0" err="1" smtClean="0"/>
              <a:t>cảnh</a:t>
            </a:r>
            <a:r>
              <a:rPr lang="en-US" dirty="0" smtClean="0"/>
              <a:t> </a:t>
            </a:r>
            <a:r>
              <a:rPr lang="en-US" dirty="0" err="1" smtClean="0"/>
              <a:t>sâu</a:t>
            </a:r>
            <a:r>
              <a:rPr lang="en-US" dirty="0" smtClean="0"/>
              <a:t>. </a:t>
            </a:r>
            <a:r>
              <a:rPr lang="en-US" dirty="0" smtClean="0"/>
              <a:t>Các </a:t>
            </a:r>
            <a:r>
              <a:rPr lang="en-US" dirty="0" err="1" smtClean="0"/>
              <a:t>mô</a:t>
            </a:r>
            <a:r>
              <a:rPr lang="en-US" dirty="0" smtClean="0"/>
              <a:t> hình </a:t>
            </a:r>
            <a:r>
              <a:rPr lang="en-US" dirty="0" err="1" smtClean="0"/>
              <a:t>ngôn</a:t>
            </a:r>
            <a:r>
              <a:rPr lang="en-US" dirty="0" smtClean="0"/>
              <a:t> </a:t>
            </a:r>
            <a:r>
              <a:rPr lang="en-US" dirty="0" err="1" smtClean="0"/>
              <a:t>ngữ</a:t>
            </a:r>
            <a:r>
              <a:rPr lang="en-US" dirty="0" smtClean="0"/>
              <a:t> </a:t>
            </a:r>
            <a:r>
              <a:rPr lang="en-US" dirty="0" err="1" smtClean="0"/>
              <a:t>lớn</a:t>
            </a:r>
            <a:r>
              <a:rPr lang="en-US" dirty="0" smtClean="0"/>
              <a:t> ngày càng </a:t>
            </a:r>
            <a:r>
              <a:rPr lang="en-US" dirty="0" err="1" smtClean="0"/>
              <a:t>hoàn</a:t>
            </a:r>
            <a:r>
              <a:rPr lang="en-US" dirty="0" smtClean="0"/>
              <a:t> </a:t>
            </a:r>
            <a:r>
              <a:rPr lang="en-US" dirty="0" err="1" smtClean="0"/>
              <a:t>thiện</a:t>
            </a:r>
            <a:r>
              <a:rPr lang="en-US" dirty="0" smtClean="0"/>
              <a:t> </a:t>
            </a:r>
            <a:r>
              <a:rPr lang="en-US" dirty="0" err="1" smtClean="0"/>
              <a:t>hơn</a:t>
            </a:r>
            <a:r>
              <a:rPr lang="en-US" dirty="0" smtClean="0"/>
              <a:t>, có </a:t>
            </a:r>
            <a:r>
              <a:rPr lang="en-US" dirty="0" err="1" smtClean="0"/>
              <a:t>khả</a:t>
            </a:r>
            <a:r>
              <a:rPr lang="en-US" dirty="0" smtClean="0"/>
              <a:t> </a:t>
            </a:r>
            <a:r>
              <a:rPr lang="en-US" dirty="0" err="1" smtClean="0"/>
              <a:t>năng</a:t>
            </a:r>
            <a:r>
              <a:rPr lang="en-US" dirty="0" smtClean="0"/>
              <a:t> </a:t>
            </a:r>
            <a:r>
              <a:rPr lang="en-US" dirty="0" err="1" smtClean="0"/>
              <a:t>suy</a:t>
            </a:r>
            <a:r>
              <a:rPr lang="en-US" dirty="0" smtClean="0"/>
              <a:t> </a:t>
            </a:r>
            <a:r>
              <a:rPr lang="en-US" dirty="0" err="1" smtClean="0"/>
              <a:t>luận</a:t>
            </a:r>
            <a:r>
              <a:rPr lang="en-US" dirty="0" smtClean="0"/>
              <a:t>, </a:t>
            </a:r>
            <a:r>
              <a:rPr lang="en-US" dirty="0" err="1" smtClean="0"/>
              <a:t>độ</a:t>
            </a:r>
            <a:r>
              <a:rPr lang="en-US" dirty="0" smtClean="0"/>
              <a:t> </a:t>
            </a:r>
            <a:r>
              <a:rPr lang="en-US" dirty="0" err="1" smtClean="0"/>
              <a:t>trễ</a:t>
            </a:r>
            <a:r>
              <a:rPr lang="en-US" dirty="0" smtClean="0"/>
              <a:t> </a:t>
            </a:r>
            <a:r>
              <a:rPr lang="en-US" dirty="0" err="1" smtClean="0"/>
              <a:t>suy</a:t>
            </a:r>
            <a:r>
              <a:rPr lang="en-US" dirty="0" smtClean="0"/>
              <a:t> </a:t>
            </a:r>
            <a:r>
              <a:rPr lang="en-US" dirty="0" err="1" smtClean="0"/>
              <a:t>luận</a:t>
            </a:r>
            <a:r>
              <a:rPr lang="en-US" dirty="0" smtClean="0"/>
              <a:t> ngày càng được </a:t>
            </a:r>
            <a:r>
              <a:rPr lang="en-US" dirty="0" err="1" smtClean="0"/>
              <a:t>giảm</a:t>
            </a:r>
            <a:r>
              <a:rPr lang="en-US" dirty="0" smtClean="0"/>
              <a:t> đi,… Và </a:t>
            </a:r>
            <a:r>
              <a:rPr lang="en-US" dirty="0" err="1" smtClean="0"/>
              <a:t>ngoài</a:t>
            </a:r>
            <a:r>
              <a:rPr lang="en-US" dirty="0" smtClean="0"/>
              <a:t> </a:t>
            </a:r>
            <a:r>
              <a:rPr lang="en-US" dirty="0" err="1" smtClean="0"/>
              <a:t>ra</a:t>
            </a:r>
            <a:r>
              <a:rPr lang="en-US" dirty="0" smtClean="0"/>
              <a:t>, các </a:t>
            </a:r>
            <a:r>
              <a:rPr lang="en-US" dirty="0" err="1" smtClean="0"/>
              <a:t>mô</a:t>
            </a:r>
            <a:r>
              <a:rPr lang="en-US" dirty="0" smtClean="0"/>
              <a:t> hình LLM còn </a:t>
            </a:r>
            <a:r>
              <a:rPr lang="en-US" dirty="0" err="1" smtClean="0"/>
              <a:t>cho</a:t>
            </a:r>
            <a:r>
              <a:rPr lang="en-US" dirty="0" smtClean="0"/>
              <a:t> </a:t>
            </a:r>
            <a:r>
              <a:rPr lang="en-US" dirty="0" err="1" smtClean="0"/>
              <a:t>phép</a:t>
            </a:r>
            <a:r>
              <a:rPr lang="en-US" dirty="0" smtClean="0"/>
              <a:t> </a:t>
            </a:r>
            <a:r>
              <a:rPr lang="en-US" dirty="0" err="1" smtClean="0"/>
              <a:t>tích</a:t>
            </a:r>
            <a:r>
              <a:rPr lang="en-US" dirty="0" smtClean="0"/>
              <a:t> hợp cả </a:t>
            </a:r>
            <a:r>
              <a:rPr lang="en-US" dirty="0" err="1" smtClean="0"/>
              <a:t>tín</a:t>
            </a:r>
            <a:r>
              <a:rPr lang="en-US" dirty="0" smtClean="0"/>
              <a:t> </a:t>
            </a:r>
            <a:r>
              <a:rPr lang="en-US" dirty="0" err="1" smtClean="0"/>
              <a:t>hiệu</a:t>
            </a:r>
            <a:r>
              <a:rPr lang="en-US" dirty="0" smtClean="0"/>
              <a:t> </a:t>
            </a:r>
            <a:r>
              <a:rPr lang="en-US" dirty="0" err="1" smtClean="0"/>
              <a:t>cộng</a:t>
            </a:r>
            <a:r>
              <a:rPr lang="en-US" dirty="0" smtClean="0"/>
              <a:t> </a:t>
            </a:r>
            <a:r>
              <a:rPr lang="en-US" dirty="0" err="1" smtClean="0"/>
              <a:t>tác</a:t>
            </a:r>
            <a:r>
              <a:rPr lang="en-US" dirty="0" smtClean="0"/>
              <a:t> vào </a:t>
            </a:r>
            <a:r>
              <a:rPr lang="en-US" dirty="0" err="1" smtClean="0"/>
              <a:t>mô</a:t>
            </a:r>
            <a:r>
              <a:rPr lang="en-US" dirty="0" smtClean="0"/>
              <a:t> hình </a:t>
            </a:r>
            <a:r>
              <a:rPr lang="en-US" dirty="0" err="1" smtClean="0"/>
              <a:t>để</a:t>
            </a:r>
            <a:r>
              <a:rPr lang="en-US" dirty="0" smtClean="0"/>
              <a:t> </a:t>
            </a:r>
            <a:r>
              <a:rPr lang="en-US" dirty="0" err="1" smtClean="0"/>
              <a:t>kết</a:t>
            </a:r>
            <a:r>
              <a:rPr lang="en-US" dirty="0" smtClean="0"/>
              <a:t> hợp với các tri </a:t>
            </a:r>
            <a:r>
              <a:rPr lang="en-US" dirty="0" err="1" smtClean="0"/>
              <a:t>thức</a:t>
            </a:r>
            <a:r>
              <a:rPr lang="en-US" dirty="0" smtClean="0"/>
              <a:t> thế </a:t>
            </a:r>
            <a:r>
              <a:rPr lang="en-US" dirty="0" err="1" smtClean="0"/>
              <a:t>giới</a:t>
            </a:r>
            <a:r>
              <a:rPr lang="en-US" dirty="0" smtClean="0"/>
              <a:t>, </a:t>
            </a:r>
            <a:r>
              <a:rPr lang="en-US" dirty="0" err="1" smtClean="0"/>
              <a:t>cho</a:t>
            </a:r>
            <a:r>
              <a:rPr lang="en-US" dirty="0" smtClean="0"/>
              <a:t> </a:t>
            </a:r>
            <a:r>
              <a:rPr lang="en-US" dirty="0" err="1" smtClean="0"/>
              <a:t>ra</a:t>
            </a:r>
            <a:r>
              <a:rPr lang="en-US" dirty="0" smtClean="0"/>
              <a:t> </a:t>
            </a:r>
            <a:r>
              <a:rPr lang="en-US" dirty="0" err="1" smtClean="0"/>
              <a:t>kết</a:t>
            </a:r>
            <a:r>
              <a:rPr lang="en-US" dirty="0" smtClean="0"/>
              <a:t> </a:t>
            </a:r>
            <a:r>
              <a:rPr lang="en-US" dirty="0" err="1" smtClean="0"/>
              <a:t>quả</a:t>
            </a:r>
            <a:r>
              <a:rPr lang="en-US" dirty="0" smtClean="0"/>
              <a:t> tư vấn </a:t>
            </a:r>
            <a:r>
              <a:rPr lang="en-US" dirty="0" err="1" smtClean="0"/>
              <a:t>tốt</a:t>
            </a:r>
            <a:r>
              <a:rPr lang="en-US" dirty="0" smtClean="0"/>
              <a:t> </a:t>
            </a:r>
            <a:r>
              <a:rPr lang="en-US" dirty="0" err="1" smtClean="0"/>
              <a:t>hơn</a:t>
            </a:r>
            <a:r>
              <a:rPr lang="en-US" dirty="0" smtClean="0"/>
              <a:t>.</a:t>
            </a:r>
          </a:p>
          <a:p>
            <a:pPr marL="285750" indent="-285750" algn="just">
              <a:buFont typeface="Arial" panose="020B0604020202020204" pitchFamily="34" charset="0"/>
              <a:buChar char="•"/>
            </a:pPr>
            <a:r>
              <a:rPr lang="en-US" dirty="0" smtClean="0"/>
              <a:t>Tính mới: Các </a:t>
            </a:r>
            <a:r>
              <a:rPr lang="en-US" dirty="0" err="1" smtClean="0"/>
              <a:t>mô</a:t>
            </a:r>
            <a:r>
              <a:rPr lang="en-US" dirty="0" smtClean="0"/>
              <a:t> hình </a:t>
            </a:r>
            <a:r>
              <a:rPr lang="en-US" dirty="0" err="1" smtClean="0"/>
              <a:t>hiện</a:t>
            </a:r>
            <a:r>
              <a:rPr lang="en-US" dirty="0" smtClean="0"/>
              <a:t> có như </a:t>
            </a:r>
            <a:r>
              <a:rPr lang="en-US" dirty="0" err="1" smtClean="0"/>
              <a:t>CoLLM</a:t>
            </a:r>
            <a:r>
              <a:rPr lang="en-US" dirty="0" smtClean="0"/>
              <a:t> đã </a:t>
            </a:r>
            <a:r>
              <a:rPr lang="en-US" dirty="0" err="1" smtClean="0"/>
              <a:t>mở</a:t>
            </a:r>
            <a:r>
              <a:rPr lang="en-US" dirty="0" smtClean="0"/>
              <a:t> </a:t>
            </a:r>
            <a:r>
              <a:rPr lang="en-US" dirty="0" err="1" smtClean="0"/>
              <a:t>đường</a:t>
            </a:r>
            <a:r>
              <a:rPr lang="en-US" dirty="0" smtClean="0"/>
              <a:t> </a:t>
            </a:r>
            <a:r>
              <a:rPr lang="en-US" dirty="0" err="1" smtClean="0"/>
              <a:t>cho</a:t>
            </a:r>
            <a:r>
              <a:rPr lang="en-US" dirty="0" smtClean="0"/>
              <a:t> việc </a:t>
            </a:r>
            <a:r>
              <a:rPr lang="en-US" dirty="0" err="1" smtClean="0"/>
              <a:t>tích</a:t>
            </a:r>
            <a:r>
              <a:rPr lang="en-US" dirty="0" smtClean="0"/>
              <a:t> hợp embedding </a:t>
            </a:r>
            <a:r>
              <a:rPr lang="en-US" dirty="0" err="1" smtClean="0"/>
              <a:t>cộng</a:t>
            </a:r>
            <a:r>
              <a:rPr lang="en-US" dirty="0" smtClean="0"/>
              <a:t> </a:t>
            </a:r>
            <a:r>
              <a:rPr lang="en-US" dirty="0" err="1" smtClean="0"/>
              <a:t>tác</a:t>
            </a:r>
            <a:r>
              <a:rPr lang="en-US" dirty="0" smtClean="0"/>
              <a:t> vào LLM. </a:t>
            </a:r>
            <a:r>
              <a:rPr lang="en-US" dirty="0" err="1" smtClean="0"/>
              <a:t>Đề</a:t>
            </a:r>
            <a:r>
              <a:rPr lang="en-US" dirty="0" smtClean="0"/>
              <a:t> </a:t>
            </a:r>
            <a:r>
              <a:rPr lang="en-US" dirty="0" err="1" smtClean="0"/>
              <a:t>tài</a:t>
            </a:r>
            <a:r>
              <a:rPr lang="en-US" dirty="0" smtClean="0"/>
              <a:t> này tập </a:t>
            </a:r>
            <a:r>
              <a:rPr lang="en-US" dirty="0" err="1" smtClean="0"/>
              <a:t>trung</a:t>
            </a:r>
            <a:r>
              <a:rPr lang="en-US" dirty="0" smtClean="0"/>
              <a:t> </a:t>
            </a:r>
            <a:r>
              <a:rPr lang="en-US" dirty="0" err="1" smtClean="0"/>
              <a:t>giải</a:t>
            </a:r>
            <a:r>
              <a:rPr lang="en-US" dirty="0" smtClean="0"/>
              <a:t> </a:t>
            </a:r>
            <a:r>
              <a:rPr lang="en-US" dirty="0" err="1" smtClean="0"/>
              <a:t>quyết</a:t>
            </a:r>
            <a:r>
              <a:rPr lang="en-US" dirty="0" smtClean="0"/>
              <a:t> semantic gap bằng các cơ </a:t>
            </a:r>
            <a:r>
              <a:rPr lang="en-US" dirty="0" err="1" smtClean="0"/>
              <a:t>chế</a:t>
            </a:r>
            <a:r>
              <a:rPr lang="en-US" dirty="0" smtClean="0"/>
              <a:t> </a:t>
            </a:r>
            <a:r>
              <a:rPr lang="en-US" dirty="0" err="1" smtClean="0"/>
              <a:t>căn</a:t>
            </a:r>
            <a:r>
              <a:rPr lang="en-US" dirty="0" smtClean="0"/>
              <a:t> </a:t>
            </a:r>
            <a:r>
              <a:rPr lang="en-US" dirty="0" err="1" smtClean="0"/>
              <a:t>chỉnh</a:t>
            </a:r>
            <a:r>
              <a:rPr lang="en-US" dirty="0" smtClean="0"/>
              <a:t> </a:t>
            </a:r>
            <a:r>
              <a:rPr lang="en-US" dirty="0" err="1" smtClean="0"/>
              <a:t>khác</a:t>
            </a:r>
            <a:r>
              <a:rPr lang="en-US" dirty="0" smtClean="0"/>
              <a:t>. </a:t>
            </a:r>
            <a:r>
              <a:rPr lang="en-US" dirty="0" err="1" smtClean="0"/>
              <a:t>Ngoài</a:t>
            </a:r>
            <a:r>
              <a:rPr lang="en-US" dirty="0" smtClean="0"/>
              <a:t> </a:t>
            </a:r>
            <a:r>
              <a:rPr lang="en-US" dirty="0" err="1" smtClean="0"/>
              <a:t>ra</a:t>
            </a:r>
            <a:r>
              <a:rPr lang="en-US" dirty="0" smtClean="0"/>
              <a:t> có thể thay thế các </a:t>
            </a:r>
            <a:r>
              <a:rPr lang="en-US" dirty="0" err="1" smtClean="0"/>
              <a:t>mô</a:t>
            </a:r>
            <a:r>
              <a:rPr lang="en-US" dirty="0" smtClean="0"/>
              <a:t> hình LLMs </a:t>
            </a:r>
            <a:r>
              <a:rPr lang="en-US" dirty="0" err="1" smtClean="0"/>
              <a:t>nhằm</a:t>
            </a:r>
            <a:r>
              <a:rPr lang="en-US" dirty="0" smtClean="0"/>
              <a:t> </a:t>
            </a:r>
            <a:r>
              <a:rPr lang="en-US" dirty="0" err="1" smtClean="0"/>
              <a:t>cải</a:t>
            </a:r>
            <a:r>
              <a:rPr lang="en-US" dirty="0" smtClean="0"/>
              <a:t> </a:t>
            </a:r>
            <a:r>
              <a:rPr lang="en-US" dirty="0" err="1" smtClean="0"/>
              <a:t>thiện</a:t>
            </a:r>
            <a:r>
              <a:rPr lang="en-US" dirty="0" smtClean="0"/>
              <a:t> </a:t>
            </a:r>
            <a:r>
              <a:rPr lang="en-US" dirty="0" err="1" smtClean="0"/>
              <a:t>độ</a:t>
            </a:r>
            <a:r>
              <a:rPr lang="en-US" dirty="0" smtClean="0"/>
              <a:t> chính </a:t>
            </a:r>
            <a:r>
              <a:rPr lang="en-US" dirty="0" err="1" smtClean="0"/>
              <a:t>xác</a:t>
            </a:r>
            <a:r>
              <a:rPr lang="en-US" dirty="0" smtClean="0"/>
              <a:t> tư vấn</a:t>
            </a:r>
            <a:endParaRPr lang="en-US" dirty="0" smtClean="0"/>
          </a:p>
        </p:txBody>
      </p:sp>
    </p:spTree>
    <p:extLst>
      <p:ext uri="{BB962C8B-B14F-4D97-AF65-F5344CB8AC3E}">
        <p14:creationId xmlns:p14="http://schemas.microsoft.com/office/powerpoint/2010/main" val="3910244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5" name="TextBox 4"/>
          <p:cNvSpPr txBox="1"/>
          <p:nvPr/>
        </p:nvSpPr>
        <p:spPr>
          <a:xfrm>
            <a:off x="1502815" y="1485494"/>
            <a:ext cx="6485383" cy="1938992"/>
          </a:xfrm>
          <a:prstGeom prst="rect">
            <a:avLst/>
          </a:prstGeom>
          <a:noFill/>
        </p:spPr>
        <p:txBody>
          <a:bodyPr wrap="square" rtlCol="0">
            <a:spAutoFit/>
          </a:bodyPr>
          <a:lstStyle/>
          <a:p>
            <a:pPr algn="ctr"/>
            <a:r>
              <a:rPr lang="en-US" sz="6000" b="1" dirty="0" smtClean="0">
                <a:solidFill>
                  <a:srgbClr val="0070C0"/>
                </a:solidFill>
              </a:rPr>
              <a:t>KẾ HOẠCH NGHIÊN CỨU</a:t>
            </a:r>
            <a:endParaRPr lang="en-US" sz="6000" dirty="0">
              <a:solidFill>
                <a:srgbClr val="0070C0"/>
              </a:solidFill>
            </a:endParaRPr>
          </a:p>
        </p:txBody>
      </p:sp>
    </p:spTree>
    <p:extLst>
      <p:ext uri="{BB962C8B-B14F-4D97-AF65-F5344CB8AC3E}">
        <p14:creationId xmlns:p14="http://schemas.microsoft.com/office/powerpoint/2010/main" val="308092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KẾ HOẠCH NGHIÊN CỨU</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Kế</a:t>
            </a:r>
            <a:r>
              <a:rPr lang="en-US" sz="2400" dirty="0" smtClean="0">
                <a:solidFill>
                  <a:schemeClr val="tx1"/>
                </a:solidFill>
              </a:rPr>
              <a:t> </a:t>
            </a:r>
            <a:r>
              <a:rPr lang="en-US" sz="2400" dirty="0" err="1" smtClean="0">
                <a:solidFill>
                  <a:schemeClr val="tx1"/>
                </a:solidFill>
              </a:rPr>
              <a:t>hoạch</a:t>
            </a:r>
            <a:r>
              <a:rPr lang="en-US" sz="2400" dirty="0" smtClean="0">
                <a:solidFill>
                  <a:schemeClr val="tx1"/>
                </a:solidFill>
              </a:rPr>
              <a:t> </a:t>
            </a:r>
            <a:r>
              <a:rPr lang="en-US" sz="2400" dirty="0" err="1" smtClean="0">
                <a:solidFill>
                  <a:schemeClr val="tx1"/>
                </a:solidFill>
              </a:rPr>
              <a:t>nghiên</a:t>
            </a:r>
            <a:r>
              <a:rPr lang="en-US" sz="2400" dirty="0" smtClean="0">
                <a:solidFill>
                  <a:schemeClr val="tx1"/>
                </a:solidFill>
              </a:rPr>
              <a:t> </a:t>
            </a:r>
            <a:r>
              <a:rPr lang="en-US" sz="2400" dirty="0" err="1" smtClean="0">
                <a:solidFill>
                  <a:schemeClr val="tx1"/>
                </a:solidFill>
              </a:rPr>
              <a:t>cứu</a:t>
            </a:r>
            <a:endParaRPr lang="vi-VN" sz="2400" dirty="0">
              <a:solidFill>
                <a:schemeClr val="tx1"/>
              </a:solidFill>
            </a:endParaRPr>
          </a:p>
        </p:txBody>
      </p:sp>
      <p:pic>
        <p:nvPicPr>
          <p:cNvPr id="3" name="Picture 2"/>
          <p:cNvPicPr>
            <a:picLocks noChangeAspect="1"/>
          </p:cNvPicPr>
          <p:nvPr/>
        </p:nvPicPr>
        <p:blipFill>
          <a:blip r:embed="rId3"/>
          <a:stretch>
            <a:fillRect/>
          </a:stretch>
        </p:blipFill>
        <p:spPr>
          <a:xfrm>
            <a:off x="436900" y="1304935"/>
            <a:ext cx="4480551" cy="2612915"/>
          </a:xfrm>
          <a:prstGeom prst="rect">
            <a:avLst/>
          </a:prstGeom>
        </p:spPr>
      </p:pic>
      <p:pic>
        <p:nvPicPr>
          <p:cNvPr id="6" name="Picture 5"/>
          <p:cNvPicPr>
            <a:picLocks noChangeAspect="1"/>
          </p:cNvPicPr>
          <p:nvPr/>
        </p:nvPicPr>
        <p:blipFill>
          <a:blip r:embed="rId4"/>
          <a:stretch>
            <a:fillRect/>
          </a:stretch>
        </p:blipFill>
        <p:spPr>
          <a:xfrm>
            <a:off x="4789799" y="1304934"/>
            <a:ext cx="4011545" cy="2612915"/>
          </a:xfrm>
          <a:prstGeom prst="rect">
            <a:avLst/>
          </a:prstGeom>
        </p:spPr>
      </p:pic>
    </p:spTree>
    <p:extLst>
      <p:ext uri="{BB962C8B-B14F-4D97-AF65-F5344CB8AC3E}">
        <p14:creationId xmlns:p14="http://schemas.microsoft.com/office/powerpoint/2010/main" val="20298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415</TotalTime>
  <Words>4075</Words>
  <Application>Microsoft Office PowerPoint</Application>
  <PresentationFormat>On-screen Show (16:9)</PresentationFormat>
  <Paragraphs>202</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NGHIÊN CỨU TÍCH HỢP TRI THỨC NGỮ NGHĨA VÀ TÍN HIỆU CỘNG TÁC TRONG HỆ THỐNG TƯ VẤN</vt:lpstr>
      <vt:lpstr>Nội dung</vt:lpstr>
      <vt:lpstr>PowerPoint Presentation</vt:lpstr>
      <vt:lpstr>GIỚI THIỆU TỔNG QUAN</vt:lpstr>
      <vt:lpstr>GIỚI THIỆU TỔNG QUAN</vt:lpstr>
      <vt:lpstr>GIỚI THIỆU TỔNG QUAN</vt:lpstr>
      <vt:lpstr>GIỚI THIỆU TỔNG QUAN</vt:lpstr>
      <vt:lpstr>GIỚI THIỆU TỔNG QUAN</vt:lpstr>
      <vt:lpstr>PowerPoint Presentation</vt:lpstr>
      <vt:lpstr>NGHIÊN CỨU LIÊN QUAN</vt:lpstr>
      <vt:lpstr>NGHIÊN CỨU LIÊN QUAN</vt:lpstr>
      <vt:lpstr>NGHIÊN CỨU LIÊN QUAN</vt:lpstr>
      <vt:lpstr>NGHIÊN CỨU LIÊN QUAN</vt:lpstr>
      <vt:lpstr>PowerPoint Presentation</vt:lpstr>
      <vt:lpstr>ĐỐI TƯỢNG NGHIÊN CỨU</vt:lpstr>
      <vt:lpstr>MỤC TIÊU NGHIÊN CỨU</vt:lpstr>
      <vt:lpstr>PowerPoint Presentation</vt:lpstr>
      <vt:lpstr>KẾ HOẠCH NGHIÊN CỨU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GIỚI THIỆU Ý TƯỞNG CHẤM ĐIỂM BÀI THI LẬP TRÌNH</dc:title>
  <cp:lastModifiedBy>Dell</cp:lastModifiedBy>
  <cp:revision>25</cp:revision>
  <dcterms:modified xsi:type="dcterms:W3CDTF">2025-08-27T13:44:58Z</dcterms:modified>
</cp:coreProperties>
</file>