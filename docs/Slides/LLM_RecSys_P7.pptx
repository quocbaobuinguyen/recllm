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21"/>
  </p:notesMasterIdLst>
  <p:sldIdLst>
    <p:sldId id="256" r:id="rId2"/>
    <p:sldId id="257" r:id="rId3"/>
    <p:sldId id="288" r:id="rId4"/>
    <p:sldId id="301" r:id="rId5"/>
    <p:sldId id="303" r:id="rId6"/>
    <p:sldId id="304" r:id="rId7"/>
    <p:sldId id="302" r:id="rId8"/>
    <p:sldId id="305" r:id="rId9"/>
    <p:sldId id="300" r:id="rId10"/>
    <p:sldId id="269" r:id="rId11"/>
    <p:sldId id="292" r:id="rId12"/>
    <p:sldId id="275" r:id="rId13"/>
    <p:sldId id="273" r:id="rId14"/>
    <p:sldId id="306" r:id="rId15"/>
    <p:sldId id="309" r:id="rId16"/>
    <p:sldId id="307" r:id="rId17"/>
    <p:sldId id="308" r:id="rId18"/>
    <p:sldId id="310" r:id="rId19"/>
    <p:sldId id="311" r:id="rId20"/>
  </p:sldIdLst>
  <p:sldSz cx="9144000" cy="5143500" type="screen16x9"/>
  <p:notesSz cx="9144000" cy="51435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460" autoAdjust="0"/>
    <p:restoredTop sz="86388" autoAdjust="0"/>
  </p:normalViewPr>
  <p:slideViewPr>
    <p:cSldViewPr snapToGrid="0">
      <p:cViewPr>
        <p:scale>
          <a:sx n="125" d="100"/>
          <a:sy n="125" d="100"/>
        </p:scale>
        <p:origin x="3676" y="1160"/>
      </p:cViewPr>
      <p:guideLst>
        <p:guide orient="horz" pos="2880"/>
        <p:guide pos="2160"/>
      </p:guideLst>
    </p:cSldViewPr>
  </p:slideViewPr>
  <p:outlineViewPr>
    <p:cViewPr>
      <p:scale>
        <a:sx n="33" d="100"/>
        <a:sy n="33" d="100"/>
      </p:scale>
      <p:origin x="0" y="-2752"/>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2571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2571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2474913"/>
            <a:ext cx="7315200" cy="20256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886325"/>
            <a:ext cx="3962400" cy="2571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4886325"/>
            <a:ext cx="3962400" cy="2571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1: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3893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8414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8153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3955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9325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7720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5006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739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0985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253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803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6510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14283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1741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0120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74197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9171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40"/>
        <p:cNvGrpSpPr/>
        <p:nvPr/>
      </p:nvGrpSpPr>
      <p:grpSpPr>
        <a:xfrm>
          <a:off x="0" y="0"/>
          <a:ext cx="0" cy="0"/>
          <a:chOff x="0" y="0"/>
          <a:chExt cx="0" cy="0"/>
        </a:xfrm>
      </p:grpSpPr>
      <p:sp>
        <p:nvSpPr>
          <p:cNvPr id="41" name="Google Shape;41;p6"/>
          <p:cNvSpPr/>
          <p:nvPr/>
        </p:nvSpPr>
        <p:spPr>
          <a:xfrm>
            <a:off x="530543" y="635698"/>
            <a:ext cx="3465195" cy="3465195"/>
          </a:xfrm>
          <a:custGeom>
            <a:avLst/>
            <a:gdLst/>
            <a:ahLst/>
            <a:cxnLst/>
            <a:rect l="l" t="t" r="r" b="b"/>
            <a:pathLst>
              <a:path w="3465195" h="3465195" extrusionOk="0">
                <a:moveTo>
                  <a:pt x="1732481" y="0"/>
                </a:moveTo>
                <a:lnTo>
                  <a:pt x="1683988" y="665"/>
                </a:lnTo>
                <a:lnTo>
                  <a:pt x="1635824" y="2650"/>
                </a:lnTo>
                <a:lnTo>
                  <a:pt x="1588008" y="5938"/>
                </a:lnTo>
                <a:lnTo>
                  <a:pt x="1540555" y="10510"/>
                </a:lnTo>
                <a:lnTo>
                  <a:pt x="1493485" y="16350"/>
                </a:lnTo>
                <a:lnTo>
                  <a:pt x="1446813" y="23439"/>
                </a:lnTo>
                <a:lnTo>
                  <a:pt x="1400558" y="31762"/>
                </a:lnTo>
                <a:lnTo>
                  <a:pt x="1354737" y="41300"/>
                </a:lnTo>
                <a:lnTo>
                  <a:pt x="1309368" y="52036"/>
                </a:lnTo>
                <a:lnTo>
                  <a:pt x="1264466" y="63952"/>
                </a:lnTo>
                <a:lnTo>
                  <a:pt x="1220051" y="77032"/>
                </a:lnTo>
                <a:lnTo>
                  <a:pt x="1176139" y="91258"/>
                </a:lnTo>
                <a:lnTo>
                  <a:pt x="1132748" y="106612"/>
                </a:lnTo>
                <a:lnTo>
                  <a:pt x="1089895" y="123078"/>
                </a:lnTo>
                <a:lnTo>
                  <a:pt x="1047597" y="140637"/>
                </a:lnTo>
                <a:lnTo>
                  <a:pt x="1005872" y="159273"/>
                </a:lnTo>
                <a:lnTo>
                  <a:pt x="964737" y="178968"/>
                </a:lnTo>
                <a:lnTo>
                  <a:pt x="924210" y="199704"/>
                </a:lnTo>
                <a:lnTo>
                  <a:pt x="884307" y="221465"/>
                </a:lnTo>
                <a:lnTo>
                  <a:pt x="845047" y="244233"/>
                </a:lnTo>
                <a:lnTo>
                  <a:pt x="806447" y="267990"/>
                </a:lnTo>
                <a:lnTo>
                  <a:pt x="768523" y="292720"/>
                </a:lnTo>
                <a:lnTo>
                  <a:pt x="731294" y="318405"/>
                </a:lnTo>
                <a:lnTo>
                  <a:pt x="694776" y="345027"/>
                </a:lnTo>
                <a:lnTo>
                  <a:pt x="658988" y="372569"/>
                </a:lnTo>
                <a:lnTo>
                  <a:pt x="623946" y="401014"/>
                </a:lnTo>
                <a:lnTo>
                  <a:pt x="589668" y="430344"/>
                </a:lnTo>
                <a:lnTo>
                  <a:pt x="556171" y="460542"/>
                </a:lnTo>
                <a:lnTo>
                  <a:pt x="523473" y="491591"/>
                </a:lnTo>
                <a:lnTo>
                  <a:pt x="491591" y="523474"/>
                </a:lnTo>
                <a:lnTo>
                  <a:pt x="460542" y="556172"/>
                </a:lnTo>
                <a:lnTo>
                  <a:pt x="430343" y="589669"/>
                </a:lnTo>
                <a:lnTo>
                  <a:pt x="401013" y="623947"/>
                </a:lnTo>
                <a:lnTo>
                  <a:pt x="372568" y="658989"/>
                </a:lnTo>
                <a:lnTo>
                  <a:pt x="345026" y="694777"/>
                </a:lnTo>
                <a:lnTo>
                  <a:pt x="318404" y="731295"/>
                </a:lnTo>
                <a:lnTo>
                  <a:pt x="292720" y="768524"/>
                </a:lnTo>
                <a:lnTo>
                  <a:pt x="267990" y="806447"/>
                </a:lnTo>
                <a:lnTo>
                  <a:pt x="244233" y="845048"/>
                </a:lnTo>
                <a:lnTo>
                  <a:pt x="221465" y="884308"/>
                </a:lnTo>
                <a:lnTo>
                  <a:pt x="199704" y="924211"/>
                </a:lnTo>
                <a:lnTo>
                  <a:pt x="178967" y="964738"/>
                </a:lnTo>
                <a:lnTo>
                  <a:pt x="159273" y="1005873"/>
                </a:lnTo>
                <a:lnTo>
                  <a:pt x="140637" y="1047598"/>
                </a:lnTo>
                <a:lnTo>
                  <a:pt x="123078" y="1089896"/>
                </a:lnTo>
                <a:lnTo>
                  <a:pt x="106612" y="1132749"/>
                </a:lnTo>
                <a:lnTo>
                  <a:pt x="91258" y="1176140"/>
                </a:lnTo>
                <a:lnTo>
                  <a:pt x="77032" y="1220052"/>
                </a:lnTo>
                <a:lnTo>
                  <a:pt x="63952" y="1264467"/>
                </a:lnTo>
                <a:lnTo>
                  <a:pt x="52036" y="1309369"/>
                </a:lnTo>
                <a:lnTo>
                  <a:pt x="41300" y="1354739"/>
                </a:lnTo>
                <a:lnTo>
                  <a:pt x="31762" y="1400560"/>
                </a:lnTo>
                <a:lnTo>
                  <a:pt x="23439" y="1446815"/>
                </a:lnTo>
                <a:lnTo>
                  <a:pt x="16350" y="1493486"/>
                </a:lnTo>
                <a:lnTo>
                  <a:pt x="10510" y="1540557"/>
                </a:lnTo>
                <a:lnTo>
                  <a:pt x="5938" y="1588009"/>
                </a:lnTo>
                <a:lnTo>
                  <a:pt x="2650" y="1635826"/>
                </a:lnTo>
                <a:lnTo>
                  <a:pt x="665" y="1683989"/>
                </a:lnTo>
                <a:lnTo>
                  <a:pt x="0" y="1732483"/>
                </a:lnTo>
                <a:lnTo>
                  <a:pt x="665" y="1780975"/>
                </a:lnTo>
                <a:lnTo>
                  <a:pt x="2650" y="1829139"/>
                </a:lnTo>
                <a:lnTo>
                  <a:pt x="5938" y="1876955"/>
                </a:lnTo>
                <a:lnTo>
                  <a:pt x="10510" y="1924406"/>
                </a:lnTo>
                <a:lnTo>
                  <a:pt x="16350" y="1971476"/>
                </a:lnTo>
                <a:lnTo>
                  <a:pt x="23439" y="2018147"/>
                </a:lnTo>
                <a:lnTo>
                  <a:pt x="31762" y="2064402"/>
                </a:lnTo>
                <a:lnTo>
                  <a:pt x="41300" y="2110222"/>
                </a:lnTo>
                <a:lnTo>
                  <a:pt x="52036" y="2155592"/>
                </a:lnTo>
                <a:lnTo>
                  <a:pt x="63952" y="2200493"/>
                </a:lnTo>
                <a:lnTo>
                  <a:pt x="77032" y="2244908"/>
                </a:lnTo>
                <a:lnTo>
                  <a:pt x="91258" y="2288819"/>
                </a:lnTo>
                <a:lnTo>
                  <a:pt x="106612" y="2332210"/>
                </a:lnTo>
                <a:lnTo>
                  <a:pt x="123078" y="2375063"/>
                </a:lnTo>
                <a:lnTo>
                  <a:pt x="140637" y="2417360"/>
                </a:lnTo>
                <a:lnTo>
                  <a:pt x="159273" y="2459085"/>
                </a:lnTo>
                <a:lnTo>
                  <a:pt x="178967" y="2500220"/>
                </a:lnTo>
                <a:lnTo>
                  <a:pt x="199704" y="2540747"/>
                </a:lnTo>
                <a:lnTo>
                  <a:pt x="221465" y="2580649"/>
                </a:lnTo>
                <a:lnTo>
                  <a:pt x="244233" y="2619909"/>
                </a:lnTo>
                <a:lnTo>
                  <a:pt x="267990" y="2658509"/>
                </a:lnTo>
                <a:lnTo>
                  <a:pt x="292720" y="2696432"/>
                </a:lnTo>
                <a:lnTo>
                  <a:pt x="318404" y="2733661"/>
                </a:lnTo>
                <a:lnTo>
                  <a:pt x="345026" y="2770179"/>
                </a:lnTo>
                <a:lnTo>
                  <a:pt x="372568" y="2805967"/>
                </a:lnTo>
                <a:lnTo>
                  <a:pt x="401013" y="2841008"/>
                </a:lnTo>
                <a:lnTo>
                  <a:pt x="430343" y="2875286"/>
                </a:lnTo>
                <a:lnTo>
                  <a:pt x="460542" y="2908783"/>
                </a:lnTo>
                <a:lnTo>
                  <a:pt x="491591" y="2941481"/>
                </a:lnTo>
                <a:lnTo>
                  <a:pt x="523473" y="2973363"/>
                </a:lnTo>
                <a:lnTo>
                  <a:pt x="556171" y="3004412"/>
                </a:lnTo>
                <a:lnTo>
                  <a:pt x="589668" y="3034611"/>
                </a:lnTo>
                <a:lnTo>
                  <a:pt x="623946" y="3063941"/>
                </a:lnTo>
                <a:lnTo>
                  <a:pt x="658988" y="3092386"/>
                </a:lnTo>
                <a:lnTo>
                  <a:pt x="694776" y="3119928"/>
                </a:lnTo>
                <a:lnTo>
                  <a:pt x="731294" y="3146550"/>
                </a:lnTo>
                <a:lnTo>
                  <a:pt x="768523" y="3172234"/>
                </a:lnTo>
                <a:lnTo>
                  <a:pt x="806447" y="3196964"/>
                </a:lnTo>
                <a:lnTo>
                  <a:pt x="845047" y="3220721"/>
                </a:lnTo>
                <a:lnTo>
                  <a:pt x="884307" y="3243489"/>
                </a:lnTo>
                <a:lnTo>
                  <a:pt x="924210" y="3265250"/>
                </a:lnTo>
                <a:lnTo>
                  <a:pt x="964737" y="3285986"/>
                </a:lnTo>
                <a:lnTo>
                  <a:pt x="1005872" y="3305681"/>
                </a:lnTo>
                <a:lnTo>
                  <a:pt x="1047597" y="3324317"/>
                </a:lnTo>
                <a:lnTo>
                  <a:pt x="1089895" y="3341876"/>
                </a:lnTo>
                <a:lnTo>
                  <a:pt x="1132748" y="3358342"/>
                </a:lnTo>
                <a:lnTo>
                  <a:pt x="1176139" y="3373696"/>
                </a:lnTo>
                <a:lnTo>
                  <a:pt x="1220051" y="3387922"/>
                </a:lnTo>
                <a:lnTo>
                  <a:pt x="1264466" y="3401002"/>
                </a:lnTo>
                <a:lnTo>
                  <a:pt x="1309368" y="3412918"/>
                </a:lnTo>
                <a:lnTo>
                  <a:pt x="1354737" y="3423654"/>
                </a:lnTo>
                <a:lnTo>
                  <a:pt x="1400558" y="3433192"/>
                </a:lnTo>
                <a:lnTo>
                  <a:pt x="1446813" y="3441515"/>
                </a:lnTo>
                <a:lnTo>
                  <a:pt x="1493485" y="3448604"/>
                </a:lnTo>
                <a:lnTo>
                  <a:pt x="1540555" y="3454444"/>
                </a:lnTo>
                <a:lnTo>
                  <a:pt x="1588008" y="3459016"/>
                </a:lnTo>
                <a:lnTo>
                  <a:pt x="1635824" y="3462304"/>
                </a:lnTo>
                <a:lnTo>
                  <a:pt x="1683988" y="3464289"/>
                </a:lnTo>
                <a:lnTo>
                  <a:pt x="1732481" y="3464954"/>
                </a:lnTo>
                <a:lnTo>
                  <a:pt x="1780974" y="3464289"/>
                </a:lnTo>
                <a:lnTo>
                  <a:pt x="1829137" y="3462304"/>
                </a:lnTo>
                <a:lnTo>
                  <a:pt x="1876953" y="3459016"/>
                </a:lnTo>
                <a:lnTo>
                  <a:pt x="1924405" y="3454444"/>
                </a:lnTo>
                <a:lnTo>
                  <a:pt x="1971475" y="3448604"/>
                </a:lnTo>
                <a:lnTo>
                  <a:pt x="2018146" y="3441515"/>
                </a:lnTo>
                <a:lnTo>
                  <a:pt x="2064400" y="3433192"/>
                </a:lnTo>
                <a:lnTo>
                  <a:pt x="2110221" y="3423654"/>
                </a:lnTo>
                <a:lnTo>
                  <a:pt x="2155590" y="3412918"/>
                </a:lnTo>
                <a:lnTo>
                  <a:pt x="2200491" y="3401002"/>
                </a:lnTo>
                <a:lnTo>
                  <a:pt x="2244906" y="3387922"/>
                </a:lnTo>
                <a:lnTo>
                  <a:pt x="2288818" y="3373696"/>
                </a:lnTo>
                <a:lnTo>
                  <a:pt x="2332209" y="3358342"/>
                </a:lnTo>
                <a:lnTo>
                  <a:pt x="2375061" y="3341876"/>
                </a:lnTo>
                <a:lnTo>
                  <a:pt x="2417359" y="3324317"/>
                </a:lnTo>
                <a:lnTo>
                  <a:pt x="2459084" y="3305681"/>
                </a:lnTo>
                <a:lnTo>
                  <a:pt x="2500218" y="3285986"/>
                </a:lnTo>
                <a:lnTo>
                  <a:pt x="2540745" y="3265250"/>
                </a:lnTo>
                <a:lnTo>
                  <a:pt x="2580647" y="3243489"/>
                </a:lnTo>
                <a:lnTo>
                  <a:pt x="2619907" y="3220721"/>
                </a:lnTo>
                <a:lnTo>
                  <a:pt x="2658507" y="3196964"/>
                </a:lnTo>
                <a:lnTo>
                  <a:pt x="2696431" y="3172234"/>
                </a:lnTo>
                <a:lnTo>
                  <a:pt x="2733660" y="3146550"/>
                </a:lnTo>
                <a:lnTo>
                  <a:pt x="2770177" y="3119928"/>
                </a:lnTo>
                <a:lnTo>
                  <a:pt x="2805965" y="3092386"/>
                </a:lnTo>
                <a:lnTo>
                  <a:pt x="2841007" y="3063941"/>
                </a:lnTo>
                <a:lnTo>
                  <a:pt x="2875284" y="3034611"/>
                </a:lnTo>
                <a:lnTo>
                  <a:pt x="2908781" y="3004412"/>
                </a:lnTo>
                <a:lnTo>
                  <a:pt x="2941479" y="2973363"/>
                </a:lnTo>
                <a:lnTo>
                  <a:pt x="2973361" y="2941481"/>
                </a:lnTo>
                <a:lnTo>
                  <a:pt x="3004410" y="2908783"/>
                </a:lnTo>
                <a:lnTo>
                  <a:pt x="3034609" y="2875286"/>
                </a:lnTo>
                <a:lnTo>
                  <a:pt x="3063939" y="2841008"/>
                </a:lnTo>
                <a:lnTo>
                  <a:pt x="3092384" y="2805967"/>
                </a:lnTo>
                <a:lnTo>
                  <a:pt x="3119926" y="2770179"/>
                </a:lnTo>
                <a:lnTo>
                  <a:pt x="3146548" y="2733661"/>
                </a:lnTo>
                <a:lnTo>
                  <a:pt x="3172232" y="2696432"/>
                </a:lnTo>
                <a:lnTo>
                  <a:pt x="3196962" y="2658509"/>
                </a:lnTo>
                <a:lnTo>
                  <a:pt x="3220719" y="2619909"/>
                </a:lnTo>
                <a:lnTo>
                  <a:pt x="3243487" y="2580649"/>
                </a:lnTo>
                <a:lnTo>
                  <a:pt x="3265248" y="2540747"/>
                </a:lnTo>
                <a:lnTo>
                  <a:pt x="3285984" y="2500220"/>
                </a:lnTo>
                <a:lnTo>
                  <a:pt x="3305679" y="2459085"/>
                </a:lnTo>
                <a:lnTo>
                  <a:pt x="3324315" y="2417360"/>
                </a:lnTo>
                <a:lnTo>
                  <a:pt x="3341874" y="2375063"/>
                </a:lnTo>
                <a:lnTo>
                  <a:pt x="3358339" y="2332210"/>
                </a:lnTo>
                <a:lnTo>
                  <a:pt x="3373694" y="2288819"/>
                </a:lnTo>
                <a:lnTo>
                  <a:pt x="3387919" y="2244908"/>
                </a:lnTo>
                <a:lnTo>
                  <a:pt x="3400999" y="2200493"/>
                </a:lnTo>
                <a:lnTo>
                  <a:pt x="3412916" y="2155592"/>
                </a:lnTo>
                <a:lnTo>
                  <a:pt x="3423652" y="2110222"/>
                </a:lnTo>
                <a:lnTo>
                  <a:pt x="3433190" y="2064402"/>
                </a:lnTo>
                <a:lnTo>
                  <a:pt x="3441512" y="2018147"/>
                </a:lnTo>
                <a:lnTo>
                  <a:pt x="3448602" y="1971476"/>
                </a:lnTo>
                <a:lnTo>
                  <a:pt x="3454442" y="1924406"/>
                </a:lnTo>
                <a:lnTo>
                  <a:pt x="3459014" y="1876955"/>
                </a:lnTo>
                <a:lnTo>
                  <a:pt x="3462301" y="1829139"/>
                </a:lnTo>
                <a:lnTo>
                  <a:pt x="3464286" y="1780975"/>
                </a:lnTo>
                <a:lnTo>
                  <a:pt x="3464952" y="1732483"/>
                </a:lnTo>
                <a:lnTo>
                  <a:pt x="3464286" y="1683989"/>
                </a:lnTo>
                <a:lnTo>
                  <a:pt x="3462301" y="1635826"/>
                </a:lnTo>
                <a:lnTo>
                  <a:pt x="3459014" y="1588009"/>
                </a:lnTo>
                <a:lnTo>
                  <a:pt x="3454442" y="1540557"/>
                </a:lnTo>
                <a:lnTo>
                  <a:pt x="3448602" y="1493486"/>
                </a:lnTo>
                <a:lnTo>
                  <a:pt x="3441512" y="1446815"/>
                </a:lnTo>
                <a:lnTo>
                  <a:pt x="3433190" y="1400560"/>
                </a:lnTo>
                <a:lnTo>
                  <a:pt x="3423652" y="1354739"/>
                </a:lnTo>
                <a:lnTo>
                  <a:pt x="3412916" y="1309369"/>
                </a:lnTo>
                <a:lnTo>
                  <a:pt x="3400999" y="1264467"/>
                </a:lnTo>
                <a:lnTo>
                  <a:pt x="3387919" y="1220052"/>
                </a:lnTo>
                <a:lnTo>
                  <a:pt x="3373694" y="1176140"/>
                </a:lnTo>
                <a:lnTo>
                  <a:pt x="3358339" y="1132749"/>
                </a:lnTo>
                <a:lnTo>
                  <a:pt x="3341874" y="1089896"/>
                </a:lnTo>
                <a:lnTo>
                  <a:pt x="3324315" y="1047598"/>
                </a:lnTo>
                <a:lnTo>
                  <a:pt x="3305679" y="1005873"/>
                </a:lnTo>
                <a:lnTo>
                  <a:pt x="3285984" y="964738"/>
                </a:lnTo>
                <a:lnTo>
                  <a:pt x="3265248" y="924211"/>
                </a:lnTo>
                <a:lnTo>
                  <a:pt x="3243487" y="884308"/>
                </a:lnTo>
                <a:lnTo>
                  <a:pt x="3220719" y="845048"/>
                </a:lnTo>
                <a:lnTo>
                  <a:pt x="3196962" y="806447"/>
                </a:lnTo>
                <a:lnTo>
                  <a:pt x="3172232" y="768524"/>
                </a:lnTo>
                <a:lnTo>
                  <a:pt x="3146548" y="731295"/>
                </a:lnTo>
                <a:lnTo>
                  <a:pt x="3119926" y="694777"/>
                </a:lnTo>
                <a:lnTo>
                  <a:pt x="3092384" y="658989"/>
                </a:lnTo>
                <a:lnTo>
                  <a:pt x="3063939" y="623947"/>
                </a:lnTo>
                <a:lnTo>
                  <a:pt x="3034609" y="589669"/>
                </a:lnTo>
                <a:lnTo>
                  <a:pt x="3004410" y="556172"/>
                </a:lnTo>
                <a:lnTo>
                  <a:pt x="2973361" y="523474"/>
                </a:lnTo>
                <a:lnTo>
                  <a:pt x="2941479" y="491591"/>
                </a:lnTo>
                <a:lnTo>
                  <a:pt x="2908781" y="460542"/>
                </a:lnTo>
                <a:lnTo>
                  <a:pt x="2875284" y="430344"/>
                </a:lnTo>
                <a:lnTo>
                  <a:pt x="2841007" y="401014"/>
                </a:lnTo>
                <a:lnTo>
                  <a:pt x="2805965" y="372569"/>
                </a:lnTo>
                <a:lnTo>
                  <a:pt x="2770177" y="345027"/>
                </a:lnTo>
                <a:lnTo>
                  <a:pt x="2733660" y="318405"/>
                </a:lnTo>
                <a:lnTo>
                  <a:pt x="2696431" y="292720"/>
                </a:lnTo>
                <a:lnTo>
                  <a:pt x="2658507" y="267990"/>
                </a:lnTo>
                <a:lnTo>
                  <a:pt x="2619907" y="244233"/>
                </a:lnTo>
                <a:lnTo>
                  <a:pt x="2580647" y="221465"/>
                </a:lnTo>
                <a:lnTo>
                  <a:pt x="2540745" y="199704"/>
                </a:lnTo>
                <a:lnTo>
                  <a:pt x="2500218" y="178968"/>
                </a:lnTo>
                <a:lnTo>
                  <a:pt x="2459084" y="159273"/>
                </a:lnTo>
                <a:lnTo>
                  <a:pt x="2417359" y="140637"/>
                </a:lnTo>
                <a:lnTo>
                  <a:pt x="2375061" y="123078"/>
                </a:lnTo>
                <a:lnTo>
                  <a:pt x="2332209" y="106612"/>
                </a:lnTo>
                <a:lnTo>
                  <a:pt x="2288818" y="91258"/>
                </a:lnTo>
                <a:lnTo>
                  <a:pt x="2244906" y="77032"/>
                </a:lnTo>
                <a:lnTo>
                  <a:pt x="2200491" y="63952"/>
                </a:lnTo>
                <a:lnTo>
                  <a:pt x="2155590" y="52036"/>
                </a:lnTo>
                <a:lnTo>
                  <a:pt x="2110221" y="41300"/>
                </a:lnTo>
                <a:lnTo>
                  <a:pt x="2064400" y="31762"/>
                </a:lnTo>
                <a:lnTo>
                  <a:pt x="2018146" y="23439"/>
                </a:lnTo>
                <a:lnTo>
                  <a:pt x="1971475" y="16350"/>
                </a:lnTo>
                <a:lnTo>
                  <a:pt x="1924405" y="10510"/>
                </a:lnTo>
                <a:lnTo>
                  <a:pt x="1876953" y="5938"/>
                </a:lnTo>
                <a:lnTo>
                  <a:pt x="1829137" y="2650"/>
                </a:lnTo>
                <a:lnTo>
                  <a:pt x="1780974" y="665"/>
                </a:lnTo>
                <a:lnTo>
                  <a:pt x="1732481" y="0"/>
                </a:lnTo>
                <a:close/>
              </a:path>
            </a:pathLst>
          </a:custGeom>
          <a:solidFill>
            <a:srgbClr val="C0504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514197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1"/>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a:solidFill>
                  <a:srgbClr val="888888"/>
                </a:solidFill>
                <a:latin typeface="Calibri"/>
                <a:ea typeface="Calibri"/>
                <a:cs typeface="Calibri"/>
                <a:sym typeface="Calibri"/>
              </a:defRPr>
            </a:lvl1pPr>
            <a:lvl2pPr marL="0" marR="0" lvl="1" indent="0" algn="r" rtl="0">
              <a:spcBef>
                <a:spcPts val="0"/>
              </a:spcBef>
              <a:buNone/>
              <a:defRPr sz="1800">
                <a:solidFill>
                  <a:srgbClr val="888888"/>
                </a:solidFill>
                <a:latin typeface="Calibri"/>
                <a:ea typeface="Calibri"/>
                <a:cs typeface="Calibri"/>
                <a:sym typeface="Calibri"/>
              </a:defRPr>
            </a:lvl2pPr>
            <a:lvl3pPr marL="0" marR="0" lvl="2" indent="0" algn="r" rtl="0">
              <a:spcBef>
                <a:spcPts val="0"/>
              </a:spcBef>
              <a:buNone/>
              <a:defRPr sz="1800">
                <a:solidFill>
                  <a:srgbClr val="888888"/>
                </a:solidFill>
                <a:latin typeface="Calibri"/>
                <a:ea typeface="Calibri"/>
                <a:cs typeface="Calibri"/>
                <a:sym typeface="Calibri"/>
              </a:defRPr>
            </a:lvl3pPr>
            <a:lvl4pPr marL="0" marR="0" lvl="3" indent="0" algn="r" rtl="0">
              <a:spcBef>
                <a:spcPts val="0"/>
              </a:spcBef>
              <a:buNone/>
              <a:defRPr sz="1800">
                <a:solidFill>
                  <a:srgbClr val="888888"/>
                </a:solidFill>
                <a:latin typeface="Calibri"/>
                <a:ea typeface="Calibri"/>
                <a:cs typeface="Calibri"/>
                <a:sym typeface="Calibri"/>
              </a:defRPr>
            </a:lvl4pPr>
            <a:lvl5pPr marL="0" marR="0" lvl="4" indent="0" algn="r" rtl="0">
              <a:spcBef>
                <a:spcPts val="0"/>
              </a:spcBef>
              <a:buNone/>
              <a:defRPr sz="1800">
                <a:solidFill>
                  <a:srgbClr val="888888"/>
                </a:solidFill>
                <a:latin typeface="Calibri"/>
                <a:ea typeface="Calibri"/>
                <a:cs typeface="Calibri"/>
                <a:sym typeface="Calibri"/>
              </a:defRPr>
            </a:lvl5pPr>
            <a:lvl6pPr marL="0" marR="0" lvl="5" indent="0" algn="r" rtl="0">
              <a:spcBef>
                <a:spcPts val="0"/>
              </a:spcBef>
              <a:buNone/>
              <a:defRPr sz="1800">
                <a:solidFill>
                  <a:srgbClr val="888888"/>
                </a:solidFill>
                <a:latin typeface="Calibri"/>
                <a:ea typeface="Calibri"/>
                <a:cs typeface="Calibri"/>
                <a:sym typeface="Calibri"/>
              </a:defRPr>
            </a:lvl6pPr>
            <a:lvl7pPr marL="0" marR="0" lvl="6" indent="0" algn="r" rtl="0">
              <a:spcBef>
                <a:spcPts val="0"/>
              </a:spcBef>
              <a:buNone/>
              <a:defRPr sz="1800">
                <a:solidFill>
                  <a:srgbClr val="888888"/>
                </a:solidFill>
                <a:latin typeface="Calibri"/>
                <a:ea typeface="Calibri"/>
                <a:cs typeface="Calibri"/>
                <a:sym typeface="Calibri"/>
              </a:defRPr>
            </a:lvl7pPr>
            <a:lvl8pPr marL="0" marR="0" lvl="7" indent="0" algn="r" rtl="0">
              <a:spcBef>
                <a:spcPts val="0"/>
              </a:spcBef>
              <a:buNone/>
              <a:defRPr sz="1800">
                <a:solidFill>
                  <a:srgbClr val="888888"/>
                </a:solidFill>
                <a:latin typeface="Calibri"/>
                <a:ea typeface="Calibri"/>
                <a:cs typeface="Calibri"/>
                <a:sym typeface="Calibri"/>
              </a:defRPr>
            </a:lvl8pPr>
            <a:lvl9pPr marL="0" marR="0" lvl="8" indent="0" algn="r" rtl="0">
              <a:spcBef>
                <a:spcPts val="0"/>
              </a:spcBef>
              <a:buNone/>
              <a:defRPr sz="18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b="0" u="none"/>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7"/>
          <p:cNvSpPr/>
          <p:nvPr/>
        </p:nvSpPr>
        <p:spPr>
          <a:xfrm>
            <a:off x="0" y="-19050"/>
            <a:ext cx="9144000" cy="5142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1" name="Google Shape;51;p7"/>
          <p:cNvSpPr txBox="1">
            <a:spLocks noGrp="1"/>
          </p:cNvSpPr>
          <p:nvPr>
            <p:ph type="title"/>
          </p:nvPr>
        </p:nvSpPr>
        <p:spPr>
          <a:xfrm>
            <a:off x="446421" y="716800"/>
            <a:ext cx="8145000" cy="1227880"/>
          </a:xfrm>
          <a:prstGeom prst="rect">
            <a:avLst/>
          </a:prstGeom>
          <a:noFill/>
          <a:ln>
            <a:noFill/>
          </a:ln>
        </p:spPr>
        <p:txBody>
          <a:bodyPr spcFirstLastPara="1" wrap="square" lIns="0" tIns="55225" rIns="0" bIns="0" anchor="t" anchorCtr="0">
            <a:spAutoFit/>
          </a:bodyPr>
          <a:lstStyle/>
          <a:p>
            <a:pPr marL="12700" marR="5080" lvl="0" indent="2540" algn="ctr">
              <a:lnSpc>
                <a:spcPct val="99700"/>
              </a:lnSpc>
              <a:spcBef>
                <a:spcPts val="540"/>
              </a:spcBef>
            </a:pPr>
            <a:r>
              <a:rPr lang="vi-VN" sz="2400" b="1" dirty="0">
                <a:solidFill>
                  <a:srgbClr val="FFFFFF"/>
                </a:solidFill>
              </a:rPr>
              <a:t>CĂN CHỈNH VÀ TÍCH HỢP THÔNG TIN CỘNG TÁC NHẰM NÂNG CAO HIỆU QUẢ CHO HỆ THỐNG TƯ VẤN DỰA TRÊN MÔ HÌNH NGÔN NGỮ LỚN</a:t>
            </a:r>
            <a:endParaRPr sz="2400" dirty="0">
              <a:latin typeface="Arial"/>
              <a:ea typeface="Arial"/>
              <a:cs typeface="Arial"/>
              <a:sym typeface="Arial"/>
            </a:endParaRPr>
          </a:p>
        </p:txBody>
      </p:sp>
      <p:pic>
        <p:nvPicPr>
          <p:cNvPr id="52" name="Google Shape;52;p7"/>
          <p:cNvPicPr preferRelativeResize="0"/>
          <p:nvPr/>
        </p:nvPicPr>
        <p:blipFill rotWithShape="1">
          <a:blip r:embed="rId4">
            <a:alphaModFix/>
          </a:blip>
          <a:srcRect/>
          <a:stretch/>
        </p:blipFill>
        <p:spPr>
          <a:xfrm>
            <a:off x="23734" y="3782921"/>
            <a:ext cx="1474120" cy="1474120"/>
          </a:xfrm>
          <a:prstGeom prst="rect">
            <a:avLst/>
          </a:prstGeom>
          <a:noFill/>
          <a:ln>
            <a:noFill/>
          </a:ln>
        </p:spPr>
      </p:pic>
      <p:sp>
        <p:nvSpPr>
          <p:cNvPr id="54" name="Google Shape;54;p7"/>
          <p:cNvSpPr txBox="1"/>
          <p:nvPr/>
        </p:nvSpPr>
        <p:spPr>
          <a:xfrm>
            <a:off x="2693617" y="2073227"/>
            <a:ext cx="7049855" cy="855983"/>
          </a:xfrm>
          <a:prstGeom prst="rect">
            <a:avLst/>
          </a:prstGeom>
          <a:noFill/>
          <a:ln>
            <a:noFill/>
          </a:ln>
        </p:spPr>
        <p:txBody>
          <a:bodyPr spcFirstLastPara="1" wrap="square" lIns="0" tIns="55225" rIns="0" bIns="0" anchor="t" anchorCtr="0">
            <a:spAutoFit/>
          </a:bodyPr>
          <a:lstStyle/>
          <a:p>
            <a:pPr marL="109220" lvl="0" algn="just">
              <a:spcBef>
                <a:spcPts val="434"/>
              </a:spcBef>
            </a:pPr>
            <a:r>
              <a:rPr lang="en-US" sz="1400" b="0" i="0" dirty="0" smtClean="0">
                <a:solidFill>
                  <a:schemeClr val="lt1"/>
                </a:solidFill>
                <a:latin typeface="Arial"/>
                <a:ea typeface="Arial"/>
                <a:cs typeface="Arial"/>
                <a:sym typeface="Arial"/>
              </a:rPr>
              <a:t>		</a:t>
            </a:r>
            <a:r>
              <a:rPr lang="vi-VN" sz="1400" b="0" i="0" dirty="0" smtClean="0">
                <a:solidFill>
                  <a:schemeClr val="lt1"/>
                </a:solidFill>
                <a:latin typeface="Arial"/>
                <a:ea typeface="Arial"/>
                <a:cs typeface="Arial"/>
                <a:sym typeface="Arial"/>
              </a:rPr>
              <a:t>Học </a:t>
            </a:r>
            <a:r>
              <a:rPr lang="vi-VN" sz="1400" b="0" i="0" dirty="0">
                <a:solidFill>
                  <a:schemeClr val="lt1"/>
                </a:solidFill>
                <a:latin typeface="Arial"/>
                <a:ea typeface="Arial"/>
                <a:cs typeface="Arial"/>
                <a:sym typeface="Arial"/>
              </a:rPr>
              <a:t>viên thực hiện: 	</a:t>
            </a:r>
            <a:r>
              <a:rPr lang="vi-VN" dirty="0" smtClean="0">
                <a:solidFill>
                  <a:schemeClr val="lt1"/>
                </a:solidFill>
              </a:rPr>
              <a:t>Bùi </a:t>
            </a:r>
            <a:r>
              <a:rPr lang="vi-VN" dirty="0">
                <a:solidFill>
                  <a:schemeClr val="lt1"/>
                </a:solidFill>
              </a:rPr>
              <a:t>Nguyên Quốc </a:t>
            </a:r>
            <a:r>
              <a:rPr lang="vi-VN" dirty="0" smtClean="0">
                <a:solidFill>
                  <a:schemeClr val="lt1"/>
                </a:solidFill>
              </a:rPr>
              <a:t>Bảo</a:t>
            </a:r>
            <a:endParaRPr lang="en-US" dirty="0" smtClean="0">
              <a:solidFill>
                <a:schemeClr val="lt1"/>
              </a:solidFill>
            </a:endParaRPr>
          </a:p>
          <a:p>
            <a:pPr marL="109220" lvl="0" algn="just">
              <a:spcBef>
                <a:spcPts val="434"/>
              </a:spcBef>
            </a:pPr>
            <a:r>
              <a:rPr lang="en-US" dirty="0">
                <a:solidFill>
                  <a:schemeClr val="lt1"/>
                </a:solidFill>
              </a:rPr>
              <a:t>	</a:t>
            </a:r>
            <a:r>
              <a:rPr lang="en-US" dirty="0" smtClean="0">
                <a:solidFill>
                  <a:schemeClr val="lt1"/>
                </a:solidFill>
              </a:rPr>
              <a:t>	MSHV:		24C12002</a:t>
            </a:r>
          </a:p>
          <a:p>
            <a:pPr marL="109220" lvl="0" algn="just">
              <a:spcBef>
                <a:spcPts val="434"/>
              </a:spcBef>
            </a:pPr>
            <a:r>
              <a:rPr lang="en-US" dirty="0">
                <a:solidFill>
                  <a:schemeClr val="lt1"/>
                </a:solidFill>
              </a:rPr>
              <a:t>	</a:t>
            </a:r>
            <a:r>
              <a:rPr lang="en-US" dirty="0" smtClean="0">
                <a:solidFill>
                  <a:schemeClr val="lt1"/>
                </a:solidFill>
              </a:rPr>
              <a:t>	</a:t>
            </a:r>
            <a:r>
              <a:rPr lang="en-US" dirty="0" err="1" smtClean="0">
                <a:solidFill>
                  <a:schemeClr val="lt1"/>
                </a:solidFill>
              </a:rPr>
              <a:t>Ngành</a:t>
            </a:r>
            <a:r>
              <a:rPr lang="en-US" dirty="0" smtClean="0">
                <a:solidFill>
                  <a:schemeClr val="lt1"/>
                </a:solidFill>
              </a:rPr>
              <a:t> </a:t>
            </a:r>
            <a:r>
              <a:rPr lang="en-US" dirty="0" err="1" smtClean="0">
                <a:solidFill>
                  <a:schemeClr val="lt1"/>
                </a:solidFill>
              </a:rPr>
              <a:t>đào</a:t>
            </a:r>
            <a:r>
              <a:rPr lang="en-US" dirty="0" smtClean="0">
                <a:solidFill>
                  <a:schemeClr val="lt1"/>
                </a:solidFill>
              </a:rPr>
              <a:t> </a:t>
            </a:r>
            <a:r>
              <a:rPr lang="en-US" dirty="0" err="1" smtClean="0">
                <a:solidFill>
                  <a:schemeClr val="lt1"/>
                </a:solidFill>
              </a:rPr>
              <a:t>tạo</a:t>
            </a:r>
            <a:r>
              <a:rPr lang="en-US" dirty="0" smtClean="0">
                <a:solidFill>
                  <a:schemeClr val="lt1"/>
                </a:solidFill>
              </a:rPr>
              <a:t>:	</a:t>
            </a:r>
            <a:r>
              <a:rPr lang="en-US" dirty="0" err="1" smtClean="0">
                <a:solidFill>
                  <a:schemeClr val="lt1"/>
                </a:solidFill>
              </a:rPr>
              <a:t>Hệ</a:t>
            </a:r>
            <a:r>
              <a:rPr lang="en-US" dirty="0" smtClean="0">
                <a:solidFill>
                  <a:schemeClr val="lt1"/>
                </a:solidFill>
              </a:rPr>
              <a:t> </a:t>
            </a:r>
            <a:r>
              <a:rPr lang="en-US" dirty="0" err="1">
                <a:solidFill>
                  <a:schemeClr val="lt1"/>
                </a:solidFill>
              </a:rPr>
              <a:t>T</a:t>
            </a:r>
            <a:r>
              <a:rPr lang="en-US" dirty="0" err="1" smtClean="0">
                <a:solidFill>
                  <a:schemeClr val="lt1"/>
                </a:solidFill>
              </a:rPr>
              <a:t>hống</a:t>
            </a:r>
            <a:r>
              <a:rPr lang="en-US" dirty="0" smtClean="0">
                <a:solidFill>
                  <a:schemeClr val="lt1"/>
                </a:solidFill>
              </a:rPr>
              <a:t> </a:t>
            </a:r>
            <a:r>
              <a:rPr lang="en-US" dirty="0" err="1">
                <a:solidFill>
                  <a:schemeClr val="lt1"/>
                </a:solidFill>
              </a:rPr>
              <a:t>T</a:t>
            </a:r>
            <a:r>
              <a:rPr lang="en-US" dirty="0" err="1" smtClean="0">
                <a:solidFill>
                  <a:schemeClr val="lt1"/>
                </a:solidFill>
              </a:rPr>
              <a:t>hông</a:t>
            </a:r>
            <a:r>
              <a:rPr lang="en-US" dirty="0" smtClean="0">
                <a:solidFill>
                  <a:schemeClr val="lt1"/>
                </a:solidFill>
              </a:rPr>
              <a:t> Tin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a:t>Nội dung</a:t>
            </a:r>
            <a:endParaRPr dirty="0"/>
          </a:p>
        </p:txBody>
      </p:sp>
      <p:sp>
        <p:nvSpPr>
          <p:cNvPr id="60" name="Google Shape;60;p8"/>
          <p:cNvSpPr txBox="1"/>
          <p:nvPr/>
        </p:nvSpPr>
        <p:spPr>
          <a:xfrm>
            <a:off x="914400" y="971550"/>
            <a:ext cx="7086600" cy="2195473"/>
          </a:xfrm>
          <a:prstGeom prst="rect">
            <a:avLst/>
          </a:prstGeom>
          <a:noFill/>
          <a:ln>
            <a:noFill/>
          </a:ln>
        </p:spPr>
        <p:txBody>
          <a:bodyPr spcFirstLastPara="1" wrap="square" lIns="0" tIns="152400" rIns="0" bIns="0" anchor="t" anchorCtr="0">
            <a:spAutoFit/>
          </a:bodyPr>
          <a:lstStyle/>
          <a:p>
            <a:pPr marL="360045" lvl="0" indent="-347345">
              <a:spcBef>
                <a:spcPts val="1130"/>
              </a:spcBef>
              <a:buClr>
                <a:srgbClr val="F79646"/>
              </a:buClr>
              <a:buSzPts val="2400"/>
              <a:buFont typeface="Arial"/>
              <a:buChar char="❖"/>
            </a:pPr>
            <a:r>
              <a:rPr lang="en-US" sz="2400" dirty="0" smtClean="0"/>
              <a:t>Tập </a:t>
            </a:r>
            <a:r>
              <a:rPr lang="en-US" sz="2400" dirty="0" err="1" smtClean="0"/>
              <a:t>dữ</a:t>
            </a:r>
            <a:r>
              <a:rPr lang="en-US" sz="2400" dirty="0" smtClean="0"/>
              <a:t> </a:t>
            </a:r>
            <a:r>
              <a:rPr lang="en-US" sz="2400" dirty="0" err="1" smtClean="0"/>
              <a:t>liệu</a:t>
            </a:r>
            <a:r>
              <a:rPr lang="en-US" sz="2400" dirty="0" smtClean="0"/>
              <a:t> </a:t>
            </a:r>
            <a:r>
              <a:rPr lang="en-US" sz="2400" dirty="0" err="1" smtClean="0"/>
              <a:t>huấn</a:t>
            </a:r>
            <a:r>
              <a:rPr lang="en-US" sz="2400" dirty="0" smtClean="0"/>
              <a:t> </a:t>
            </a:r>
            <a:r>
              <a:rPr lang="en-US" sz="2400" dirty="0" err="1" smtClean="0"/>
              <a:t>luyện</a:t>
            </a:r>
            <a:r>
              <a:rPr lang="en-US" sz="2400" dirty="0" smtClean="0"/>
              <a:t> ML 1M – 20M</a:t>
            </a:r>
            <a:endParaRPr lang="en-US" sz="2400" dirty="0" smtClean="0"/>
          </a:p>
          <a:p>
            <a:pPr marL="360045" lvl="0" indent="-347345">
              <a:spcBef>
                <a:spcPts val="1130"/>
              </a:spcBef>
              <a:buClr>
                <a:srgbClr val="F79646"/>
              </a:buClr>
              <a:buSzPts val="2400"/>
              <a:buFont typeface="Arial"/>
              <a:buChar char="❖"/>
            </a:pPr>
            <a:r>
              <a:rPr lang="en-US" sz="2400" dirty="0" smtClean="0"/>
              <a:t>Pipeline </a:t>
            </a:r>
            <a:r>
              <a:rPr lang="en-US" sz="2400" dirty="0" err="1" smtClean="0"/>
              <a:t>đề</a:t>
            </a:r>
            <a:r>
              <a:rPr lang="en-US" sz="2400" dirty="0" smtClean="0"/>
              <a:t> </a:t>
            </a:r>
            <a:r>
              <a:rPr lang="en-US" sz="2400" dirty="0" err="1" smtClean="0"/>
              <a:t>xuất</a:t>
            </a:r>
            <a:r>
              <a:rPr lang="en-US" sz="2400" dirty="0" smtClean="0"/>
              <a:t> </a:t>
            </a:r>
            <a:r>
              <a:rPr lang="en-US" sz="2400" dirty="0" err="1" smtClean="0"/>
              <a:t>sử</a:t>
            </a:r>
            <a:r>
              <a:rPr lang="en-US" sz="2400" dirty="0" smtClean="0"/>
              <a:t> </a:t>
            </a:r>
            <a:r>
              <a:rPr lang="en-US" sz="2400" dirty="0" err="1" smtClean="0"/>
              <a:t>dụng</a:t>
            </a:r>
            <a:r>
              <a:rPr lang="en-US" sz="2400" dirty="0" smtClean="0"/>
              <a:t> </a:t>
            </a:r>
            <a:r>
              <a:rPr lang="en-US" sz="2400" dirty="0" err="1" smtClean="0"/>
              <a:t>Qformer</a:t>
            </a:r>
            <a:r>
              <a:rPr lang="en-US" sz="2400" dirty="0"/>
              <a:t> </a:t>
            </a:r>
            <a:r>
              <a:rPr lang="en-US" sz="2400" dirty="0" smtClean="0"/>
              <a:t>- </a:t>
            </a:r>
            <a:r>
              <a:rPr lang="en-US" sz="2400" dirty="0" err="1" smtClean="0"/>
              <a:t>InstructBLIP</a:t>
            </a:r>
            <a:endParaRPr lang="en-US" sz="2400" dirty="0" smtClean="0"/>
          </a:p>
          <a:p>
            <a:pPr marL="360045" lvl="0" indent="-347345">
              <a:spcBef>
                <a:spcPts val="1130"/>
              </a:spcBef>
              <a:buClr>
                <a:srgbClr val="F79646"/>
              </a:buClr>
              <a:buSzPts val="2400"/>
              <a:buFont typeface="Arial"/>
              <a:buChar char="❖"/>
            </a:pPr>
            <a:r>
              <a:rPr lang="en-US" sz="2400" dirty="0" err="1" smtClean="0">
                <a:solidFill>
                  <a:schemeClr val="dk1"/>
                </a:solidFill>
              </a:rPr>
              <a:t>Quá</a:t>
            </a:r>
            <a:r>
              <a:rPr lang="en-US" sz="2400" dirty="0" smtClean="0">
                <a:solidFill>
                  <a:schemeClr val="dk1"/>
                </a:solidFill>
              </a:rPr>
              <a:t> </a:t>
            </a:r>
            <a:r>
              <a:rPr lang="en-US" sz="2400" dirty="0" err="1" smtClean="0">
                <a:solidFill>
                  <a:schemeClr val="dk1"/>
                </a:solidFill>
              </a:rPr>
              <a:t>trình</a:t>
            </a:r>
            <a:r>
              <a:rPr lang="en-US" sz="2400" dirty="0" smtClean="0">
                <a:solidFill>
                  <a:schemeClr val="dk1"/>
                </a:solidFill>
              </a:rPr>
              <a:t> </a:t>
            </a:r>
            <a:r>
              <a:rPr lang="en-US" sz="2400" dirty="0" err="1" smtClean="0">
                <a:solidFill>
                  <a:schemeClr val="dk1"/>
                </a:solidFill>
              </a:rPr>
              <a:t>huấn</a:t>
            </a:r>
            <a:r>
              <a:rPr lang="en-US" sz="2400" dirty="0" smtClean="0">
                <a:solidFill>
                  <a:schemeClr val="dk1"/>
                </a:solidFill>
              </a:rPr>
              <a:t> </a:t>
            </a:r>
            <a:r>
              <a:rPr lang="en-US" sz="2400" dirty="0" err="1" smtClean="0">
                <a:solidFill>
                  <a:schemeClr val="dk1"/>
                </a:solidFill>
              </a:rPr>
              <a:t>luyện</a:t>
            </a:r>
            <a:endParaRPr lang="vi-VN" sz="2400" dirty="0" smtClean="0">
              <a:solidFill>
                <a:schemeClr val="dk1"/>
              </a:solidFill>
            </a:endParaRPr>
          </a:p>
          <a:p>
            <a:pPr marL="360045" lvl="0" indent="-347345">
              <a:spcBef>
                <a:spcPts val="1130"/>
              </a:spcBef>
              <a:buClr>
                <a:srgbClr val="F79646"/>
              </a:buClr>
              <a:buSzPts val="2400"/>
              <a:buFont typeface="Arial"/>
              <a:buChar char="❖"/>
            </a:pPr>
            <a:r>
              <a:rPr lang="en-US" sz="2400" dirty="0" err="1" smtClean="0">
                <a:solidFill>
                  <a:schemeClr val="dk1"/>
                </a:solidFill>
              </a:rPr>
              <a:t>Kế</a:t>
            </a:r>
            <a:r>
              <a:rPr lang="en-US" sz="2400" dirty="0" smtClean="0">
                <a:solidFill>
                  <a:schemeClr val="dk1"/>
                </a:solidFill>
              </a:rPr>
              <a:t> </a:t>
            </a:r>
            <a:r>
              <a:rPr lang="en-US" sz="2400" dirty="0" err="1" smtClean="0">
                <a:solidFill>
                  <a:schemeClr val="dk1"/>
                </a:solidFill>
              </a:rPr>
              <a:t>hoạch</a:t>
            </a:r>
            <a:r>
              <a:rPr lang="en-US" sz="2400" dirty="0" smtClean="0">
                <a:solidFill>
                  <a:schemeClr val="dk1"/>
                </a:solidFill>
              </a:rPr>
              <a:t> tiếp </a:t>
            </a:r>
            <a:r>
              <a:rPr lang="en-US" sz="2400" dirty="0" err="1" smtClean="0">
                <a:solidFill>
                  <a:schemeClr val="dk1"/>
                </a:solidFill>
              </a:rPr>
              <a:t>theo</a:t>
            </a:r>
            <a:endParaRPr lang="en-US" sz="2400" dirty="0" smtClean="0">
              <a:solidFill>
                <a:schemeClr val="dk1"/>
              </a:solidFill>
            </a:endParaRPr>
          </a:p>
        </p:txBody>
      </p:sp>
      <p:sp>
        <p:nvSpPr>
          <p:cNvPr id="61" name="Google Shape;61;p8"/>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11"/>
          </a:xfrm>
          <a:prstGeom prst="rect">
            <a:avLst/>
          </a:prstGeom>
          <a:noFill/>
          <a:ln>
            <a:noFill/>
          </a:ln>
        </p:spPr>
        <p:txBody>
          <a:bodyPr spcFirstLastPara="1" wrap="square" lIns="0" tIns="12700" rIns="0" bIns="0" anchor="t" anchorCtr="0">
            <a:spAutoFit/>
          </a:bodyPr>
          <a:lstStyle/>
          <a:p>
            <a:pPr marL="12700" algn="ctr"/>
            <a:r>
              <a:rPr lang="en-US" sz="2800" dirty="0"/>
              <a:t>Tập </a:t>
            </a:r>
            <a:r>
              <a:rPr lang="en-US" sz="2800" dirty="0" err="1"/>
              <a:t>dữ</a:t>
            </a:r>
            <a:r>
              <a:rPr lang="en-US" sz="2800" dirty="0"/>
              <a:t> </a:t>
            </a:r>
            <a:r>
              <a:rPr lang="en-US" sz="2800" dirty="0" err="1"/>
              <a:t>liệu</a:t>
            </a:r>
            <a:r>
              <a:rPr lang="en-US" sz="2800" dirty="0"/>
              <a:t> </a:t>
            </a:r>
            <a:r>
              <a:rPr lang="en-US" sz="2800" dirty="0" err="1"/>
              <a:t>huấn</a:t>
            </a:r>
            <a:r>
              <a:rPr lang="en-US" sz="2800" dirty="0"/>
              <a:t> </a:t>
            </a:r>
            <a:r>
              <a:rPr lang="en-US" sz="2800" dirty="0" err="1"/>
              <a:t>luyện</a:t>
            </a:r>
            <a:r>
              <a:rPr lang="en-US" sz="2800" dirty="0"/>
              <a:t> ML </a:t>
            </a:r>
            <a:r>
              <a:rPr lang="en-US" sz="2800" dirty="0" smtClean="0"/>
              <a:t>1M / 20M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Tập </a:t>
            </a:r>
            <a:r>
              <a:rPr lang="en-US" sz="2000" dirty="0" err="1" smtClean="0">
                <a:solidFill>
                  <a:schemeClr val="tx1">
                    <a:lumMod val="50000"/>
                    <a:lumOff val="50000"/>
                  </a:schemeClr>
                </a:solidFill>
              </a:rPr>
              <a:t>dữ</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liệu</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MovieLens</a:t>
            </a:r>
            <a:r>
              <a:rPr lang="en-US" sz="2000" dirty="0" smtClean="0">
                <a:solidFill>
                  <a:schemeClr val="tx1">
                    <a:lumMod val="50000"/>
                    <a:lumOff val="50000"/>
                  </a:schemeClr>
                </a:solidFill>
              </a:rPr>
              <a:t> 1M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Giới</a:t>
            </a:r>
            <a:r>
              <a:rPr lang="en-US" sz="2400" dirty="0" smtClean="0">
                <a:solidFill>
                  <a:schemeClr val="tx1"/>
                </a:solidFill>
              </a:rPr>
              <a:t> </a:t>
            </a:r>
            <a:r>
              <a:rPr lang="en-US" sz="2400" dirty="0" err="1" smtClean="0">
                <a:solidFill>
                  <a:schemeClr val="tx1"/>
                </a:solidFill>
              </a:rPr>
              <a:t>thiệu</a:t>
            </a:r>
            <a:r>
              <a:rPr lang="en-US" sz="2400" dirty="0" smtClean="0">
                <a:solidFill>
                  <a:schemeClr val="tx1"/>
                </a:solidFill>
              </a:rPr>
              <a:t> tập </a:t>
            </a:r>
            <a:r>
              <a:rPr lang="en-US" sz="2400" dirty="0" err="1" smtClean="0">
                <a:solidFill>
                  <a:schemeClr val="tx1"/>
                </a:solidFill>
              </a:rPr>
              <a:t>dữ</a:t>
            </a:r>
            <a:r>
              <a:rPr lang="en-US" sz="2400" dirty="0" smtClean="0">
                <a:solidFill>
                  <a:schemeClr val="tx1"/>
                </a:solidFill>
              </a:rPr>
              <a:t> </a:t>
            </a:r>
            <a:r>
              <a:rPr lang="en-US" sz="2400" dirty="0" err="1" smtClean="0">
                <a:solidFill>
                  <a:schemeClr val="tx1"/>
                </a:solidFill>
              </a:rPr>
              <a:t>liệu</a:t>
            </a:r>
            <a:r>
              <a:rPr lang="en-US" sz="2400" dirty="0">
                <a:solidFill>
                  <a:schemeClr val="tx1"/>
                </a:solidFill>
              </a:rPr>
              <a:t> </a:t>
            </a:r>
            <a:r>
              <a:rPr lang="en-US" sz="2400" dirty="0" smtClean="0">
                <a:solidFill>
                  <a:schemeClr val="tx1"/>
                </a:solidFill>
              </a:rPr>
              <a:t>ML 1M</a:t>
            </a:r>
            <a:endParaRPr lang="vi-VN" sz="2400" dirty="0">
              <a:solidFill>
                <a:schemeClr val="tx1"/>
              </a:solidFill>
            </a:endParaRPr>
          </a:p>
        </p:txBody>
      </p:sp>
      <p:pic>
        <p:nvPicPr>
          <p:cNvPr id="13" name="Picture 12"/>
          <p:cNvPicPr>
            <a:picLocks noChangeAspect="1"/>
          </p:cNvPicPr>
          <p:nvPr/>
        </p:nvPicPr>
        <p:blipFill>
          <a:blip r:embed="rId3"/>
          <a:stretch>
            <a:fillRect/>
          </a:stretch>
        </p:blipFill>
        <p:spPr>
          <a:xfrm>
            <a:off x="1189567" y="2174824"/>
            <a:ext cx="7083922" cy="1205872"/>
          </a:xfrm>
          <a:prstGeom prst="rect">
            <a:avLst/>
          </a:prstGeom>
        </p:spPr>
      </p:pic>
    </p:spTree>
    <p:extLst>
      <p:ext uri="{BB962C8B-B14F-4D97-AF65-F5344CB8AC3E}">
        <p14:creationId xmlns:p14="http://schemas.microsoft.com/office/powerpoint/2010/main" val="3164270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11"/>
          </a:xfrm>
          <a:prstGeom prst="rect">
            <a:avLst/>
          </a:prstGeom>
          <a:noFill/>
          <a:ln>
            <a:noFill/>
          </a:ln>
        </p:spPr>
        <p:txBody>
          <a:bodyPr spcFirstLastPara="1" wrap="square" lIns="0" tIns="12700" rIns="0" bIns="0" anchor="t" anchorCtr="0">
            <a:spAutoFit/>
          </a:bodyPr>
          <a:lstStyle/>
          <a:p>
            <a:pPr marL="12700" algn="ctr"/>
            <a:r>
              <a:rPr lang="en-US" sz="2800" dirty="0"/>
              <a:t>Tập </a:t>
            </a:r>
            <a:r>
              <a:rPr lang="en-US" sz="2800" dirty="0" err="1"/>
              <a:t>dữ</a:t>
            </a:r>
            <a:r>
              <a:rPr lang="en-US" sz="2800" dirty="0"/>
              <a:t> </a:t>
            </a:r>
            <a:r>
              <a:rPr lang="en-US" sz="2800" dirty="0" err="1"/>
              <a:t>liệu</a:t>
            </a:r>
            <a:r>
              <a:rPr lang="en-US" sz="2800" dirty="0"/>
              <a:t> </a:t>
            </a:r>
            <a:r>
              <a:rPr lang="en-US" sz="2800" dirty="0" err="1"/>
              <a:t>huấn</a:t>
            </a:r>
            <a:r>
              <a:rPr lang="en-US" sz="2800" dirty="0"/>
              <a:t> </a:t>
            </a:r>
            <a:r>
              <a:rPr lang="en-US" sz="2800" dirty="0" err="1"/>
              <a:t>luyện</a:t>
            </a:r>
            <a:r>
              <a:rPr lang="en-US" sz="2800" dirty="0"/>
              <a:t> ML </a:t>
            </a:r>
            <a:r>
              <a:rPr lang="en-US" sz="2800" dirty="0" smtClean="0"/>
              <a:t>1M / 20M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654121" y="1292118"/>
            <a:ext cx="5136093"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Dữ</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liệu</a:t>
            </a:r>
            <a:r>
              <a:rPr lang="en-US" sz="2000" dirty="0" smtClean="0">
                <a:solidFill>
                  <a:schemeClr val="tx1">
                    <a:lumMod val="50000"/>
                    <a:lumOff val="50000"/>
                  </a:schemeClr>
                </a:solidFill>
              </a:rPr>
              <a:t> đánh giá</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Giới</a:t>
            </a:r>
            <a:r>
              <a:rPr lang="en-US" sz="2400" dirty="0" smtClean="0">
                <a:solidFill>
                  <a:schemeClr val="tx1"/>
                </a:solidFill>
              </a:rPr>
              <a:t> </a:t>
            </a:r>
            <a:r>
              <a:rPr lang="en-US" sz="2400" dirty="0" err="1" smtClean="0">
                <a:solidFill>
                  <a:schemeClr val="tx1"/>
                </a:solidFill>
              </a:rPr>
              <a:t>thiệu</a:t>
            </a:r>
            <a:r>
              <a:rPr lang="en-US" sz="2400" dirty="0" smtClean="0">
                <a:solidFill>
                  <a:schemeClr val="tx1"/>
                </a:solidFill>
              </a:rPr>
              <a:t> tập </a:t>
            </a:r>
            <a:r>
              <a:rPr lang="en-US" sz="2400" dirty="0" err="1" smtClean="0">
                <a:solidFill>
                  <a:schemeClr val="tx1"/>
                </a:solidFill>
              </a:rPr>
              <a:t>dữ</a:t>
            </a:r>
            <a:r>
              <a:rPr lang="en-US" sz="2400" dirty="0" smtClean="0">
                <a:solidFill>
                  <a:schemeClr val="tx1"/>
                </a:solidFill>
              </a:rPr>
              <a:t> </a:t>
            </a:r>
            <a:r>
              <a:rPr lang="en-US" sz="2400" dirty="0" err="1" smtClean="0">
                <a:solidFill>
                  <a:schemeClr val="tx1"/>
                </a:solidFill>
              </a:rPr>
              <a:t>liệu</a:t>
            </a:r>
            <a:r>
              <a:rPr lang="en-US" sz="2400" dirty="0">
                <a:solidFill>
                  <a:schemeClr val="tx1"/>
                </a:solidFill>
              </a:rPr>
              <a:t> </a:t>
            </a:r>
            <a:r>
              <a:rPr lang="en-US" sz="2400" dirty="0" smtClean="0">
                <a:solidFill>
                  <a:schemeClr val="tx1"/>
                </a:solidFill>
              </a:rPr>
              <a:t>ML 1M</a:t>
            </a:r>
            <a:endParaRPr lang="vi-VN" sz="2400" dirty="0">
              <a:solidFill>
                <a:schemeClr val="tx1"/>
              </a:solidFill>
            </a:endParaRPr>
          </a:p>
        </p:txBody>
      </p:sp>
      <p:pic>
        <p:nvPicPr>
          <p:cNvPr id="14" name="Picture 13"/>
          <p:cNvPicPr>
            <a:picLocks noChangeAspect="1"/>
          </p:cNvPicPr>
          <p:nvPr/>
        </p:nvPicPr>
        <p:blipFill>
          <a:blip r:embed="rId3"/>
          <a:stretch>
            <a:fillRect/>
          </a:stretch>
        </p:blipFill>
        <p:spPr>
          <a:xfrm>
            <a:off x="5427526" y="1452418"/>
            <a:ext cx="2974527" cy="3365340"/>
          </a:xfrm>
          <a:prstGeom prst="rect">
            <a:avLst/>
          </a:prstGeom>
        </p:spPr>
      </p:pic>
      <p:pic>
        <p:nvPicPr>
          <p:cNvPr id="16" name="Picture 15"/>
          <p:cNvPicPr>
            <a:picLocks noChangeAspect="1"/>
          </p:cNvPicPr>
          <p:nvPr/>
        </p:nvPicPr>
        <p:blipFill>
          <a:blip r:embed="rId4"/>
          <a:stretch>
            <a:fillRect/>
          </a:stretch>
        </p:blipFill>
        <p:spPr>
          <a:xfrm>
            <a:off x="734828" y="2778479"/>
            <a:ext cx="3921843" cy="2060371"/>
          </a:xfrm>
          <a:prstGeom prst="rect">
            <a:avLst/>
          </a:prstGeom>
        </p:spPr>
      </p:pic>
      <p:sp>
        <p:nvSpPr>
          <p:cNvPr id="20" name="TextBox 19"/>
          <p:cNvSpPr txBox="1"/>
          <p:nvPr/>
        </p:nvSpPr>
        <p:spPr>
          <a:xfrm>
            <a:off x="717890" y="1781798"/>
            <a:ext cx="3707510" cy="738664"/>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Điểm</a:t>
            </a:r>
            <a:r>
              <a:rPr lang="en-US" dirty="0" smtClean="0"/>
              <a:t> 4 được đánh nhiều </a:t>
            </a:r>
            <a:r>
              <a:rPr lang="en-US" dirty="0" err="1" smtClean="0"/>
              <a:t>nhất</a:t>
            </a:r>
            <a:r>
              <a:rPr lang="en-US" dirty="0" smtClean="0"/>
              <a:t>, </a:t>
            </a:r>
            <a:r>
              <a:rPr lang="en-US" dirty="0" err="1" smtClean="0"/>
              <a:t>điểm</a:t>
            </a:r>
            <a:r>
              <a:rPr lang="en-US" dirty="0" smtClean="0"/>
              <a:t> 1, 2 thì </a:t>
            </a:r>
            <a:r>
              <a:rPr lang="en-US" dirty="0" err="1" smtClean="0"/>
              <a:t>không</a:t>
            </a:r>
            <a:r>
              <a:rPr lang="en-US" dirty="0" smtClean="0"/>
              <a:t> =&gt; người </a:t>
            </a:r>
            <a:r>
              <a:rPr lang="en-US" dirty="0" err="1" smtClean="0"/>
              <a:t>dùng</a:t>
            </a:r>
            <a:r>
              <a:rPr lang="en-US" dirty="0" smtClean="0"/>
              <a:t> có </a:t>
            </a:r>
            <a:r>
              <a:rPr lang="en-US" dirty="0" err="1" smtClean="0"/>
              <a:t>xu</a:t>
            </a:r>
            <a:r>
              <a:rPr lang="en-US" dirty="0" smtClean="0"/>
              <a:t> </a:t>
            </a:r>
            <a:r>
              <a:rPr lang="en-US" dirty="0" err="1" smtClean="0"/>
              <a:t>hướng</a:t>
            </a:r>
            <a:r>
              <a:rPr lang="en-US" dirty="0" smtClean="0"/>
              <a:t> đánh giá khi thích </a:t>
            </a:r>
            <a:r>
              <a:rPr lang="en-US" dirty="0" err="1" smtClean="0"/>
              <a:t>phim</a:t>
            </a:r>
            <a:endParaRPr lang="en-US" dirty="0"/>
          </a:p>
        </p:txBody>
      </p:sp>
    </p:spTree>
    <p:extLst>
      <p:ext uri="{BB962C8B-B14F-4D97-AF65-F5344CB8AC3E}">
        <p14:creationId xmlns:p14="http://schemas.microsoft.com/office/powerpoint/2010/main" val="256339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11"/>
          </a:xfrm>
          <a:prstGeom prst="rect">
            <a:avLst/>
          </a:prstGeom>
          <a:noFill/>
          <a:ln>
            <a:noFill/>
          </a:ln>
        </p:spPr>
        <p:txBody>
          <a:bodyPr spcFirstLastPara="1" wrap="square" lIns="0" tIns="12700" rIns="0" bIns="0" anchor="t" anchorCtr="0">
            <a:spAutoFit/>
          </a:bodyPr>
          <a:lstStyle/>
          <a:p>
            <a:pPr marL="12700" algn="ctr"/>
            <a:r>
              <a:rPr lang="en-US" sz="2800" dirty="0"/>
              <a:t>Tập </a:t>
            </a:r>
            <a:r>
              <a:rPr lang="en-US" sz="2800" dirty="0" err="1"/>
              <a:t>dữ</a:t>
            </a:r>
            <a:r>
              <a:rPr lang="en-US" sz="2800" dirty="0"/>
              <a:t> </a:t>
            </a:r>
            <a:r>
              <a:rPr lang="en-US" sz="2800" dirty="0" err="1"/>
              <a:t>liệu</a:t>
            </a:r>
            <a:r>
              <a:rPr lang="en-US" sz="2800" dirty="0"/>
              <a:t> </a:t>
            </a:r>
            <a:r>
              <a:rPr lang="en-US" sz="2800" dirty="0" err="1"/>
              <a:t>huấn</a:t>
            </a:r>
            <a:r>
              <a:rPr lang="en-US" sz="2800" dirty="0"/>
              <a:t> </a:t>
            </a:r>
            <a:r>
              <a:rPr lang="en-US" sz="2800" dirty="0" err="1"/>
              <a:t>luyện</a:t>
            </a:r>
            <a:r>
              <a:rPr lang="en-US" sz="2800" dirty="0"/>
              <a:t> ML </a:t>
            </a:r>
            <a:r>
              <a:rPr lang="en-US" sz="2800" dirty="0" smtClean="0"/>
              <a:t>1M / 20M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654121" y="1292118"/>
            <a:ext cx="5136093"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Dữ</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liệu</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bộ</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phim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Giới</a:t>
            </a:r>
            <a:r>
              <a:rPr lang="en-US" sz="2400" dirty="0" smtClean="0">
                <a:solidFill>
                  <a:schemeClr val="tx1"/>
                </a:solidFill>
              </a:rPr>
              <a:t> </a:t>
            </a:r>
            <a:r>
              <a:rPr lang="en-US" sz="2400" dirty="0" err="1" smtClean="0">
                <a:solidFill>
                  <a:schemeClr val="tx1"/>
                </a:solidFill>
              </a:rPr>
              <a:t>thiệu</a:t>
            </a:r>
            <a:r>
              <a:rPr lang="en-US" sz="2400" dirty="0" smtClean="0">
                <a:solidFill>
                  <a:schemeClr val="tx1"/>
                </a:solidFill>
              </a:rPr>
              <a:t> tập </a:t>
            </a:r>
            <a:r>
              <a:rPr lang="en-US" sz="2400" dirty="0" err="1" smtClean="0">
                <a:solidFill>
                  <a:schemeClr val="tx1"/>
                </a:solidFill>
              </a:rPr>
              <a:t>dữ</a:t>
            </a:r>
            <a:r>
              <a:rPr lang="en-US" sz="2400" dirty="0" smtClean="0">
                <a:solidFill>
                  <a:schemeClr val="tx1"/>
                </a:solidFill>
              </a:rPr>
              <a:t> </a:t>
            </a:r>
            <a:r>
              <a:rPr lang="en-US" sz="2400" dirty="0" err="1" smtClean="0">
                <a:solidFill>
                  <a:schemeClr val="tx1"/>
                </a:solidFill>
              </a:rPr>
              <a:t>liệu</a:t>
            </a:r>
            <a:r>
              <a:rPr lang="en-US" sz="2400" dirty="0">
                <a:solidFill>
                  <a:schemeClr val="tx1"/>
                </a:solidFill>
              </a:rPr>
              <a:t> </a:t>
            </a:r>
            <a:r>
              <a:rPr lang="en-US" sz="2400" dirty="0" smtClean="0">
                <a:solidFill>
                  <a:schemeClr val="tx1"/>
                </a:solidFill>
              </a:rPr>
              <a:t>ML 1M</a:t>
            </a:r>
            <a:endParaRPr lang="vi-VN" sz="2400" dirty="0">
              <a:solidFill>
                <a:schemeClr val="tx1"/>
              </a:solidFill>
            </a:endParaRPr>
          </a:p>
        </p:txBody>
      </p:sp>
      <p:pic>
        <p:nvPicPr>
          <p:cNvPr id="10" name="Picture 9"/>
          <p:cNvPicPr>
            <a:picLocks noChangeAspect="1"/>
          </p:cNvPicPr>
          <p:nvPr/>
        </p:nvPicPr>
        <p:blipFill>
          <a:blip r:embed="rId3"/>
          <a:stretch>
            <a:fillRect/>
          </a:stretch>
        </p:blipFill>
        <p:spPr>
          <a:xfrm>
            <a:off x="4671793" y="1413933"/>
            <a:ext cx="4319807" cy="2995214"/>
          </a:xfrm>
          <a:prstGeom prst="rect">
            <a:avLst/>
          </a:prstGeom>
        </p:spPr>
      </p:pic>
      <p:pic>
        <p:nvPicPr>
          <p:cNvPr id="11" name="Picture 10"/>
          <p:cNvPicPr>
            <a:picLocks noChangeAspect="1"/>
          </p:cNvPicPr>
          <p:nvPr/>
        </p:nvPicPr>
        <p:blipFill>
          <a:blip r:embed="rId4"/>
          <a:stretch>
            <a:fillRect/>
          </a:stretch>
        </p:blipFill>
        <p:spPr>
          <a:xfrm>
            <a:off x="1032895" y="2824608"/>
            <a:ext cx="3260125" cy="1840436"/>
          </a:xfrm>
          <a:prstGeom prst="rect">
            <a:avLst/>
          </a:prstGeom>
        </p:spPr>
      </p:pic>
      <p:sp>
        <p:nvSpPr>
          <p:cNvPr id="12" name="TextBox 11"/>
          <p:cNvSpPr txBox="1"/>
          <p:nvPr/>
        </p:nvSpPr>
        <p:spPr>
          <a:xfrm>
            <a:off x="717890" y="1781798"/>
            <a:ext cx="3707510" cy="307777"/>
          </a:xfrm>
          <a:prstGeom prst="rect">
            <a:avLst/>
          </a:prstGeom>
          <a:noFill/>
        </p:spPr>
        <p:txBody>
          <a:bodyPr wrap="square" rtlCol="0">
            <a:spAutoFit/>
          </a:bodyPr>
          <a:lstStyle/>
          <a:p>
            <a:pPr marL="285750" indent="-285750" algn="just">
              <a:buFont typeface="Arial" panose="020B0604020202020204" pitchFamily="34" charset="0"/>
              <a:buChar char="•"/>
            </a:pPr>
            <a:endParaRPr lang="en-US" dirty="0"/>
          </a:p>
        </p:txBody>
      </p:sp>
      <p:sp>
        <p:nvSpPr>
          <p:cNvPr id="14" name="TextBox 13"/>
          <p:cNvSpPr txBox="1"/>
          <p:nvPr/>
        </p:nvSpPr>
        <p:spPr>
          <a:xfrm>
            <a:off x="717890" y="1781798"/>
            <a:ext cx="3707510" cy="1169551"/>
          </a:xfrm>
          <a:prstGeom prst="rect">
            <a:avLst/>
          </a:prstGeom>
          <a:noFill/>
        </p:spPr>
        <p:txBody>
          <a:bodyPr wrap="square" rtlCol="0">
            <a:spAutoFit/>
          </a:bodyPr>
          <a:lstStyle/>
          <a:p>
            <a:pPr marL="285750" lvl="0" indent="-285750" algn="just">
              <a:buFont typeface="Arial" panose="020B0604020202020204" pitchFamily="34" charset="0"/>
              <a:buChar char="•"/>
            </a:pPr>
            <a:r>
              <a:rPr lang="en-US" altLang="en-US" dirty="0" smtClean="0">
                <a:solidFill>
                  <a:srgbClr val="333333"/>
                </a:solidFill>
                <a:latin typeface="-apple-system"/>
              </a:rPr>
              <a:t>Có </a:t>
            </a:r>
            <a:r>
              <a:rPr lang="en-US" altLang="en-US" dirty="0">
                <a:solidFill>
                  <a:srgbClr val="333333"/>
                </a:solidFill>
                <a:latin typeface="-apple-system"/>
              </a:rPr>
              <a:t>3883 </a:t>
            </a:r>
            <a:r>
              <a:rPr lang="en-US" altLang="en-US" dirty="0" err="1">
                <a:solidFill>
                  <a:srgbClr val="333333"/>
                </a:solidFill>
                <a:latin typeface="-apple-system"/>
              </a:rPr>
              <a:t>bộ</a:t>
            </a:r>
            <a:r>
              <a:rPr lang="en-US" altLang="en-US" dirty="0">
                <a:solidFill>
                  <a:srgbClr val="333333"/>
                </a:solidFill>
                <a:latin typeface="-apple-system"/>
              </a:rPr>
              <a:t> </a:t>
            </a:r>
            <a:r>
              <a:rPr lang="en-US" altLang="en-US" dirty="0" err="1">
                <a:solidFill>
                  <a:srgbClr val="333333"/>
                </a:solidFill>
                <a:latin typeface="-apple-system"/>
              </a:rPr>
              <a:t>phim</a:t>
            </a:r>
            <a:r>
              <a:rPr lang="en-US" altLang="en-US" dirty="0">
                <a:solidFill>
                  <a:srgbClr val="333333"/>
                </a:solidFill>
                <a:latin typeface="-apple-system"/>
              </a:rPr>
              <a:t> với </a:t>
            </a:r>
            <a:r>
              <a:rPr lang="en-US" altLang="en-US" dirty="0" err="1">
                <a:solidFill>
                  <a:srgbClr val="333333"/>
                </a:solidFill>
                <a:latin typeface="-apple-system"/>
              </a:rPr>
              <a:t>đầy</a:t>
            </a:r>
            <a:r>
              <a:rPr lang="en-US" altLang="en-US" dirty="0">
                <a:solidFill>
                  <a:srgbClr val="333333"/>
                </a:solidFill>
                <a:latin typeface="-apple-system"/>
              </a:rPr>
              <a:t> đủ </a:t>
            </a:r>
            <a:r>
              <a:rPr lang="en-US" altLang="en-US" dirty="0" err="1">
                <a:solidFill>
                  <a:srgbClr val="333333"/>
                </a:solidFill>
                <a:latin typeface="-apple-system"/>
              </a:rPr>
              <a:t>thông</a:t>
            </a:r>
            <a:r>
              <a:rPr lang="en-US" altLang="en-US" dirty="0">
                <a:solidFill>
                  <a:srgbClr val="333333"/>
                </a:solidFill>
                <a:latin typeface="-apple-system"/>
              </a:rPr>
              <a:t> tin về </a:t>
            </a:r>
            <a:r>
              <a:rPr lang="en-US" altLang="en-US" dirty="0" err="1">
                <a:solidFill>
                  <a:srgbClr val="333333"/>
                </a:solidFill>
                <a:latin typeface="-apple-system"/>
              </a:rPr>
              <a:t>tiêu</a:t>
            </a:r>
            <a:r>
              <a:rPr lang="en-US" altLang="en-US" dirty="0">
                <a:solidFill>
                  <a:srgbClr val="333333"/>
                </a:solidFill>
                <a:latin typeface="-apple-system"/>
              </a:rPr>
              <a:t> </a:t>
            </a:r>
            <a:r>
              <a:rPr lang="en-US" altLang="en-US" dirty="0" err="1">
                <a:solidFill>
                  <a:srgbClr val="333333"/>
                </a:solidFill>
                <a:latin typeface="-apple-system"/>
              </a:rPr>
              <a:t>đề</a:t>
            </a:r>
            <a:r>
              <a:rPr lang="en-US" altLang="en-US" dirty="0">
                <a:solidFill>
                  <a:srgbClr val="333333"/>
                </a:solidFill>
                <a:latin typeface="-apple-system"/>
              </a:rPr>
              <a:t> (</a:t>
            </a:r>
            <a:r>
              <a:rPr lang="en-US" altLang="en-US" sz="1050" dirty="0">
                <a:solidFill>
                  <a:srgbClr val="E83E8C"/>
                </a:solidFill>
                <a:latin typeface="Menlo"/>
              </a:rPr>
              <a:t>Title</a:t>
            </a:r>
            <a:r>
              <a:rPr lang="en-US" altLang="en-US" dirty="0">
                <a:solidFill>
                  <a:srgbClr val="333333"/>
                </a:solidFill>
                <a:latin typeface="-apple-system"/>
              </a:rPr>
              <a:t>) và các thể </a:t>
            </a:r>
            <a:r>
              <a:rPr lang="en-US" altLang="en-US" dirty="0" err="1">
                <a:solidFill>
                  <a:srgbClr val="333333"/>
                </a:solidFill>
                <a:latin typeface="-apple-system"/>
              </a:rPr>
              <a:t>loại</a:t>
            </a:r>
            <a:r>
              <a:rPr lang="en-US" altLang="en-US" dirty="0">
                <a:solidFill>
                  <a:srgbClr val="333333"/>
                </a:solidFill>
                <a:latin typeface="-apple-system"/>
              </a:rPr>
              <a:t> (</a:t>
            </a:r>
            <a:r>
              <a:rPr lang="en-US" altLang="en-US" sz="1050" dirty="0">
                <a:solidFill>
                  <a:srgbClr val="E83E8C"/>
                </a:solidFill>
                <a:latin typeface="Menlo"/>
              </a:rPr>
              <a:t>Genres</a:t>
            </a:r>
            <a:r>
              <a:rPr lang="en-US" altLang="en-US" dirty="0">
                <a:solidFill>
                  <a:srgbClr val="333333"/>
                </a:solidFill>
                <a:latin typeface="-apple-system"/>
              </a:rPr>
              <a:t>).</a:t>
            </a:r>
            <a:r>
              <a:rPr lang="en-US" altLang="en-US" sz="500" dirty="0">
                <a:solidFill>
                  <a:schemeClr val="tx1"/>
                </a:solidFill>
              </a:rPr>
              <a:t> </a:t>
            </a:r>
            <a:endParaRPr lang="en-US" altLang="en-US" sz="2400" dirty="0">
              <a:solidFill>
                <a:schemeClr val="tx1"/>
              </a:solidFill>
              <a:latin typeface="Arial" panose="020B0604020202020204" pitchFamily="34" charset="0"/>
            </a:endParaRPr>
          </a:p>
          <a:p>
            <a:pPr marL="285750" lvl="0" indent="-285750" algn="just">
              <a:buFont typeface="Arial" panose="020B0604020202020204" pitchFamily="34" charset="0"/>
              <a:buChar char="•"/>
            </a:pPr>
            <a:r>
              <a:rPr lang="en-US" altLang="en-US" dirty="0"/>
              <a:t>T</a:t>
            </a:r>
            <a:r>
              <a:rPr lang="en-US" altLang="en-US" dirty="0" smtClean="0">
                <a:solidFill>
                  <a:srgbClr val="333333"/>
                </a:solidFill>
                <a:latin typeface="-apple-system"/>
              </a:rPr>
              <a:t>hể </a:t>
            </a:r>
            <a:r>
              <a:rPr lang="en-US" altLang="en-US" dirty="0" err="1">
                <a:solidFill>
                  <a:srgbClr val="333333"/>
                </a:solidFill>
                <a:latin typeface="-apple-system"/>
              </a:rPr>
              <a:t>loại</a:t>
            </a:r>
            <a:r>
              <a:rPr lang="en-US" altLang="en-US" dirty="0">
                <a:solidFill>
                  <a:srgbClr val="333333"/>
                </a:solidFill>
                <a:latin typeface="-apple-system"/>
              </a:rPr>
              <a:t> </a:t>
            </a:r>
            <a:r>
              <a:rPr lang="en-US" altLang="en-US" sz="1050" dirty="0">
                <a:solidFill>
                  <a:srgbClr val="E83E8C"/>
                </a:solidFill>
                <a:latin typeface="Menlo"/>
              </a:rPr>
              <a:t>Drama</a:t>
            </a:r>
            <a:r>
              <a:rPr lang="en-US" altLang="en-US" dirty="0">
                <a:solidFill>
                  <a:srgbClr val="333333"/>
                </a:solidFill>
                <a:latin typeface="-apple-system"/>
              </a:rPr>
              <a:t> và </a:t>
            </a:r>
            <a:r>
              <a:rPr lang="en-US" altLang="en-US" sz="1050" dirty="0">
                <a:solidFill>
                  <a:srgbClr val="E83E8C"/>
                </a:solidFill>
                <a:latin typeface="Menlo"/>
              </a:rPr>
              <a:t>Comedy</a:t>
            </a:r>
            <a:r>
              <a:rPr lang="en-US" altLang="en-US" dirty="0">
                <a:solidFill>
                  <a:srgbClr val="333333"/>
                </a:solidFill>
                <a:latin typeface="-apple-system"/>
              </a:rPr>
              <a:t> có nhiều </a:t>
            </a:r>
            <a:r>
              <a:rPr lang="en-US" altLang="en-US" dirty="0" err="1">
                <a:solidFill>
                  <a:srgbClr val="333333"/>
                </a:solidFill>
                <a:latin typeface="-apple-system"/>
              </a:rPr>
              <a:t>bộ</a:t>
            </a:r>
            <a:r>
              <a:rPr lang="en-US" altLang="en-US" dirty="0">
                <a:solidFill>
                  <a:srgbClr val="333333"/>
                </a:solidFill>
                <a:latin typeface="-apple-system"/>
              </a:rPr>
              <a:t> </a:t>
            </a:r>
            <a:r>
              <a:rPr lang="en-US" altLang="en-US" dirty="0" err="1">
                <a:solidFill>
                  <a:srgbClr val="333333"/>
                </a:solidFill>
                <a:latin typeface="-apple-system"/>
              </a:rPr>
              <a:t>phim</a:t>
            </a:r>
            <a:r>
              <a:rPr lang="en-US" altLang="en-US" dirty="0">
                <a:solidFill>
                  <a:srgbClr val="333333"/>
                </a:solidFill>
                <a:latin typeface="-apple-system"/>
              </a:rPr>
              <a:t> </a:t>
            </a:r>
            <a:r>
              <a:rPr lang="en-US" altLang="en-US" dirty="0" err="1">
                <a:solidFill>
                  <a:srgbClr val="333333"/>
                </a:solidFill>
                <a:latin typeface="-apple-system"/>
              </a:rPr>
              <a:t>nhất</a:t>
            </a:r>
            <a:r>
              <a:rPr lang="en-US" altLang="en-US" sz="500" dirty="0">
                <a:solidFill>
                  <a:schemeClr val="tx1"/>
                </a:solidFill>
              </a:rPr>
              <a:t> </a:t>
            </a:r>
            <a:endParaRPr lang="en-US" altLang="en-US" sz="2400" dirty="0">
              <a:solidFill>
                <a:schemeClr val="tx1"/>
              </a:solidFill>
              <a:latin typeface="Arial" panose="020B0604020202020204" pitchFamily="34" charset="0"/>
            </a:endParaRPr>
          </a:p>
          <a:p>
            <a:pPr marL="285750" indent="-285750" algn="just">
              <a:buFont typeface="Arial" panose="020B0604020202020204" pitchFamily="34" charset="0"/>
              <a:buChar char="•"/>
            </a:pPr>
            <a:endParaRPr lang="en-US" dirty="0"/>
          </a:p>
        </p:txBody>
      </p:sp>
    </p:spTree>
    <p:extLst>
      <p:ext uri="{BB962C8B-B14F-4D97-AF65-F5344CB8AC3E}">
        <p14:creationId xmlns:p14="http://schemas.microsoft.com/office/powerpoint/2010/main" val="1559245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11"/>
          </a:xfrm>
          <a:prstGeom prst="rect">
            <a:avLst/>
          </a:prstGeom>
          <a:noFill/>
          <a:ln>
            <a:noFill/>
          </a:ln>
        </p:spPr>
        <p:txBody>
          <a:bodyPr spcFirstLastPara="1" wrap="square" lIns="0" tIns="12700" rIns="0" bIns="0" anchor="t" anchorCtr="0">
            <a:spAutoFit/>
          </a:bodyPr>
          <a:lstStyle/>
          <a:p>
            <a:pPr marL="12700" algn="ctr"/>
            <a:r>
              <a:rPr lang="en-US" sz="2800" dirty="0"/>
              <a:t>Tập </a:t>
            </a:r>
            <a:r>
              <a:rPr lang="en-US" sz="2800" dirty="0" err="1"/>
              <a:t>dữ</a:t>
            </a:r>
            <a:r>
              <a:rPr lang="en-US" sz="2800" dirty="0"/>
              <a:t> </a:t>
            </a:r>
            <a:r>
              <a:rPr lang="en-US" sz="2800" dirty="0" err="1"/>
              <a:t>liệu</a:t>
            </a:r>
            <a:r>
              <a:rPr lang="en-US" sz="2800" dirty="0"/>
              <a:t> </a:t>
            </a:r>
            <a:r>
              <a:rPr lang="en-US" sz="2800" dirty="0" err="1"/>
              <a:t>huấn</a:t>
            </a:r>
            <a:r>
              <a:rPr lang="en-US" sz="2800" dirty="0"/>
              <a:t> </a:t>
            </a:r>
            <a:r>
              <a:rPr lang="en-US" sz="2800" dirty="0" err="1"/>
              <a:t>luyện</a:t>
            </a:r>
            <a:r>
              <a:rPr lang="en-US" sz="2800" dirty="0"/>
              <a:t> ML </a:t>
            </a:r>
            <a:r>
              <a:rPr lang="en-US" sz="2800" dirty="0" smtClean="0"/>
              <a:t>1M / 20M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654121" y="1292118"/>
            <a:ext cx="5136093"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Dữ</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liệu</a:t>
            </a:r>
            <a:r>
              <a:rPr lang="en-US" sz="2000" dirty="0" smtClean="0">
                <a:solidFill>
                  <a:schemeClr val="tx1">
                    <a:lumMod val="50000"/>
                    <a:lumOff val="50000"/>
                  </a:schemeClr>
                </a:solidFill>
              </a:rPr>
              <a:t> người </a:t>
            </a:r>
            <a:r>
              <a:rPr lang="en-US" sz="2000" dirty="0" err="1" smtClean="0">
                <a:solidFill>
                  <a:schemeClr val="tx1">
                    <a:lumMod val="50000"/>
                    <a:lumOff val="50000"/>
                  </a:schemeClr>
                </a:solidFill>
              </a:rPr>
              <a:t>dùng</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Giới</a:t>
            </a:r>
            <a:r>
              <a:rPr lang="en-US" sz="2400" dirty="0" smtClean="0">
                <a:solidFill>
                  <a:schemeClr val="tx1"/>
                </a:solidFill>
              </a:rPr>
              <a:t> </a:t>
            </a:r>
            <a:r>
              <a:rPr lang="en-US" sz="2400" dirty="0" err="1" smtClean="0">
                <a:solidFill>
                  <a:schemeClr val="tx1"/>
                </a:solidFill>
              </a:rPr>
              <a:t>thiệu</a:t>
            </a:r>
            <a:r>
              <a:rPr lang="en-US" sz="2400" dirty="0" smtClean="0">
                <a:solidFill>
                  <a:schemeClr val="tx1"/>
                </a:solidFill>
              </a:rPr>
              <a:t> tập </a:t>
            </a:r>
            <a:r>
              <a:rPr lang="en-US" sz="2400" dirty="0" err="1" smtClean="0">
                <a:solidFill>
                  <a:schemeClr val="tx1"/>
                </a:solidFill>
              </a:rPr>
              <a:t>dữ</a:t>
            </a:r>
            <a:r>
              <a:rPr lang="en-US" sz="2400" dirty="0" smtClean="0">
                <a:solidFill>
                  <a:schemeClr val="tx1"/>
                </a:solidFill>
              </a:rPr>
              <a:t> </a:t>
            </a:r>
            <a:r>
              <a:rPr lang="en-US" sz="2400" dirty="0" err="1" smtClean="0">
                <a:solidFill>
                  <a:schemeClr val="tx1"/>
                </a:solidFill>
              </a:rPr>
              <a:t>liệu</a:t>
            </a:r>
            <a:r>
              <a:rPr lang="en-US" sz="2400" dirty="0">
                <a:solidFill>
                  <a:schemeClr val="tx1"/>
                </a:solidFill>
              </a:rPr>
              <a:t> </a:t>
            </a:r>
            <a:r>
              <a:rPr lang="en-US" sz="2400" dirty="0" smtClean="0">
                <a:solidFill>
                  <a:schemeClr val="tx1"/>
                </a:solidFill>
              </a:rPr>
              <a:t>ML 1M</a:t>
            </a:r>
            <a:endParaRPr lang="vi-VN" sz="2400" dirty="0">
              <a:solidFill>
                <a:schemeClr val="tx1"/>
              </a:solidFill>
            </a:endParaRPr>
          </a:p>
        </p:txBody>
      </p:sp>
      <p:sp>
        <p:nvSpPr>
          <p:cNvPr id="12" name="TextBox 11"/>
          <p:cNvSpPr txBox="1"/>
          <p:nvPr/>
        </p:nvSpPr>
        <p:spPr>
          <a:xfrm>
            <a:off x="717890" y="1781798"/>
            <a:ext cx="3707510" cy="307777"/>
          </a:xfrm>
          <a:prstGeom prst="rect">
            <a:avLst/>
          </a:prstGeom>
          <a:noFill/>
        </p:spPr>
        <p:txBody>
          <a:bodyPr wrap="square" rtlCol="0">
            <a:spAutoFit/>
          </a:bodyPr>
          <a:lstStyle/>
          <a:p>
            <a:pPr marL="285750" indent="-285750" algn="just">
              <a:buFont typeface="Arial" panose="020B0604020202020204" pitchFamily="34" charset="0"/>
              <a:buChar char="•"/>
            </a:pPr>
            <a:endParaRPr lang="en-US" dirty="0"/>
          </a:p>
        </p:txBody>
      </p:sp>
      <p:sp>
        <p:nvSpPr>
          <p:cNvPr id="14" name="TextBox 13"/>
          <p:cNvSpPr txBox="1"/>
          <p:nvPr/>
        </p:nvSpPr>
        <p:spPr>
          <a:xfrm>
            <a:off x="717890" y="1781798"/>
            <a:ext cx="3707510" cy="738664"/>
          </a:xfrm>
          <a:prstGeom prst="rect">
            <a:avLst/>
          </a:prstGeom>
          <a:noFill/>
        </p:spPr>
        <p:txBody>
          <a:bodyPr wrap="square" rtlCol="0">
            <a:spAutoFit/>
          </a:bodyPr>
          <a:lstStyle/>
          <a:p>
            <a:pPr marL="285750" lvl="0" indent="-285750" algn="just">
              <a:buFont typeface="Arial" panose="020B0604020202020204" pitchFamily="34" charset="0"/>
              <a:buChar char="•"/>
            </a:pPr>
            <a:r>
              <a:rPr lang="en-US" dirty="0"/>
              <a:t>C</a:t>
            </a:r>
            <a:r>
              <a:rPr lang="vi-VN" dirty="0" smtClean="0"/>
              <a:t>ó </a:t>
            </a:r>
            <a:r>
              <a:rPr lang="vi-VN" dirty="0"/>
              <a:t>6040 người dùng cùng với đầy đủ các thông tin về giới tính, tuổi, nghề nghiệp và Zip-code</a:t>
            </a:r>
            <a:endParaRPr lang="en-US" dirty="0"/>
          </a:p>
        </p:txBody>
      </p:sp>
      <p:pic>
        <p:nvPicPr>
          <p:cNvPr id="2" name="Picture 1"/>
          <p:cNvPicPr>
            <a:picLocks noChangeAspect="1"/>
          </p:cNvPicPr>
          <p:nvPr/>
        </p:nvPicPr>
        <p:blipFill>
          <a:blip r:embed="rId3"/>
          <a:stretch>
            <a:fillRect/>
          </a:stretch>
        </p:blipFill>
        <p:spPr>
          <a:xfrm>
            <a:off x="1632368" y="2894455"/>
            <a:ext cx="2793032" cy="1731680"/>
          </a:xfrm>
          <a:prstGeom prst="rect">
            <a:avLst/>
          </a:prstGeom>
        </p:spPr>
      </p:pic>
      <p:pic>
        <p:nvPicPr>
          <p:cNvPr id="3" name="Picture 2"/>
          <p:cNvPicPr>
            <a:picLocks noChangeAspect="1"/>
          </p:cNvPicPr>
          <p:nvPr/>
        </p:nvPicPr>
        <p:blipFill>
          <a:blip r:embed="rId4"/>
          <a:stretch>
            <a:fillRect/>
          </a:stretch>
        </p:blipFill>
        <p:spPr>
          <a:xfrm>
            <a:off x="4743884" y="1724212"/>
            <a:ext cx="4109754" cy="2577715"/>
          </a:xfrm>
          <a:prstGeom prst="rect">
            <a:avLst/>
          </a:prstGeom>
        </p:spPr>
      </p:pic>
    </p:spTree>
    <p:extLst>
      <p:ext uri="{BB962C8B-B14F-4D97-AF65-F5344CB8AC3E}">
        <p14:creationId xmlns:p14="http://schemas.microsoft.com/office/powerpoint/2010/main" val="1092183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11"/>
          </a:xfrm>
          <a:prstGeom prst="rect">
            <a:avLst/>
          </a:prstGeom>
          <a:noFill/>
          <a:ln>
            <a:noFill/>
          </a:ln>
        </p:spPr>
        <p:txBody>
          <a:bodyPr spcFirstLastPara="1" wrap="square" lIns="0" tIns="12700" rIns="0" bIns="0" anchor="t" anchorCtr="0">
            <a:spAutoFit/>
          </a:bodyPr>
          <a:lstStyle/>
          <a:p>
            <a:pPr marL="12700" algn="ctr"/>
            <a:r>
              <a:rPr lang="en-US" sz="2800" dirty="0"/>
              <a:t>Tập </a:t>
            </a:r>
            <a:r>
              <a:rPr lang="en-US" sz="2800" dirty="0" err="1"/>
              <a:t>dữ</a:t>
            </a:r>
            <a:r>
              <a:rPr lang="en-US" sz="2800" dirty="0"/>
              <a:t> </a:t>
            </a:r>
            <a:r>
              <a:rPr lang="en-US" sz="2800" dirty="0" err="1"/>
              <a:t>liệu</a:t>
            </a:r>
            <a:r>
              <a:rPr lang="en-US" sz="2800" dirty="0"/>
              <a:t> </a:t>
            </a:r>
            <a:r>
              <a:rPr lang="en-US" sz="2800" dirty="0" err="1"/>
              <a:t>huấn</a:t>
            </a:r>
            <a:r>
              <a:rPr lang="en-US" sz="2800" dirty="0"/>
              <a:t> </a:t>
            </a:r>
            <a:r>
              <a:rPr lang="en-US" sz="2800" dirty="0" err="1"/>
              <a:t>luyện</a:t>
            </a:r>
            <a:r>
              <a:rPr lang="en-US" sz="2800" dirty="0"/>
              <a:t> ML </a:t>
            </a:r>
            <a:r>
              <a:rPr lang="en-US" sz="2800" dirty="0" smtClean="0"/>
              <a:t>1M / 20M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Tập </a:t>
            </a:r>
            <a:r>
              <a:rPr lang="en-US" sz="2000" dirty="0" err="1" smtClean="0">
                <a:solidFill>
                  <a:schemeClr val="tx1">
                    <a:lumMod val="50000"/>
                    <a:lumOff val="50000"/>
                  </a:schemeClr>
                </a:solidFill>
              </a:rPr>
              <a:t>dữ</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liệu</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MovieLens</a:t>
            </a:r>
            <a:r>
              <a:rPr lang="en-US" sz="2000" dirty="0" smtClean="0">
                <a:solidFill>
                  <a:schemeClr val="tx1">
                    <a:lumMod val="50000"/>
                    <a:lumOff val="50000"/>
                  </a:schemeClr>
                </a:solidFill>
              </a:rPr>
              <a:t> 1M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Giới</a:t>
            </a:r>
            <a:r>
              <a:rPr lang="en-US" sz="2400" dirty="0" smtClean="0">
                <a:solidFill>
                  <a:schemeClr val="tx1"/>
                </a:solidFill>
              </a:rPr>
              <a:t> </a:t>
            </a:r>
            <a:r>
              <a:rPr lang="en-US" sz="2400" dirty="0" err="1" smtClean="0">
                <a:solidFill>
                  <a:schemeClr val="tx1"/>
                </a:solidFill>
              </a:rPr>
              <a:t>thiệu</a:t>
            </a:r>
            <a:r>
              <a:rPr lang="en-US" sz="2400" dirty="0" smtClean="0">
                <a:solidFill>
                  <a:schemeClr val="tx1"/>
                </a:solidFill>
              </a:rPr>
              <a:t> tập </a:t>
            </a:r>
            <a:r>
              <a:rPr lang="en-US" sz="2400" dirty="0" err="1" smtClean="0">
                <a:solidFill>
                  <a:schemeClr val="tx1"/>
                </a:solidFill>
              </a:rPr>
              <a:t>dữ</a:t>
            </a:r>
            <a:r>
              <a:rPr lang="en-US" sz="2400" dirty="0" smtClean="0">
                <a:solidFill>
                  <a:schemeClr val="tx1"/>
                </a:solidFill>
              </a:rPr>
              <a:t> </a:t>
            </a:r>
            <a:r>
              <a:rPr lang="en-US" sz="2400" dirty="0" err="1" smtClean="0">
                <a:solidFill>
                  <a:schemeClr val="tx1"/>
                </a:solidFill>
              </a:rPr>
              <a:t>liệu</a:t>
            </a:r>
            <a:r>
              <a:rPr lang="en-US" sz="2400" dirty="0">
                <a:solidFill>
                  <a:schemeClr val="tx1"/>
                </a:solidFill>
              </a:rPr>
              <a:t> </a:t>
            </a:r>
            <a:r>
              <a:rPr lang="en-US" sz="2400" dirty="0" smtClean="0">
                <a:solidFill>
                  <a:schemeClr val="tx1"/>
                </a:solidFill>
              </a:rPr>
              <a:t>ML 1M</a:t>
            </a:r>
            <a:endParaRPr lang="vi-VN" sz="2400" dirty="0">
              <a:solidFill>
                <a:schemeClr val="tx1"/>
              </a:solidFill>
            </a:endParaRPr>
          </a:p>
        </p:txBody>
      </p:sp>
      <p:pic>
        <p:nvPicPr>
          <p:cNvPr id="3" name="Picture 2"/>
          <p:cNvPicPr>
            <a:picLocks noChangeAspect="1"/>
          </p:cNvPicPr>
          <p:nvPr/>
        </p:nvPicPr>
        <p:blipFill>
          <a:blip r:embed="rId3"/>
          <a:stretch>
            <a:fillRect/>
          </a:stretch>
        </p:blipFill>
        <p:spPr>
          <a:xfrm>
            <a:off x="4917451" y="1810560"/>
            <a:ext cx="3422674" cy="2607272"/>
          </a:xfrm>
          <a:prstGeom prst="rect">
            <a:avLst/>
          </a:prstGeom>
        </p:spPr>
      </p:pic>
      <p:pic>
        <p:nvPicPr>
          <p:cNvPr id="7" name="Picture 6"/>
          <p:cNvPicPr>
            <a:picLocks noChangeAspect="1"/>
          </p:cNvPicPr>
          <p:nvPr/>
        </p:nvPicPr>
        <p:blipFill>
          <a:blip r:embed="rId4"/>
          <a:stretch>
            <a:fillRect/>
          </a:stretch>
        </p:blipFill>
        <p:spPr>
          <a:xfrm>
            <a:off x="317501" y="2345839"/>
            <a:ext cx="4538690" cy="1039809"/>
          </a:xfrm>
          <a:prstGeom prst="rect">
            <a:avLst/>
          </a:prstGeom>
        </p:spPr>
      </p:pic>
    </p:spTree>
    <p:extLst>
      <p:ext uri="{BB962C8B-B14F-4D97-AF65-F5344CB8AC3E}">
        <p14:creationId xmlns:p14="http://schemas.microsoft.com/office/powerpoint/2010/main" val="758566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11"/>
          </a:xfrm>
          <a:prstGeom prst="rect">
            <a:avLst/>
          </a:prstGeom>
          <a:noFill/>
          <a:ln>
            <a:noFill/>
          </a:ln>
        </p:spPr>
        <p:txBody>
          <a:bodyPr spcFirstLastPara="1" wrap="square" lIns="0" tIns="12700" rIns="0" bIns="0" anchor="t" anchorCtr="0">
            <a:spAutoFit/>
          </a:bodyPr>
          <a:lstStyle/>
          <a:p>
            <a:pPr marL="12700" algn="ctr"/>
            <a:r>
              <a:rPr lang="en-US" sz="2800" dirty="0"/>
              <a:t>Tập </a:t>
            </a:r>
            <a:r>
              <a:rPr lang="en-US" sz="2800" dirty="0" err="1"/>
              <a:t>dữ</a:t>
            </a:r>
            <a:r>
              <a:rPr lang="en-US" sz="2800" dirty="0"/>
              <a:t> </a:t>
            </a:r>
            <a:r>
              <a:rPr lang="en-US" sz="2800" dirty="0" err="1"/>
              <a:t>liệu</a:t>
            </a:r>
            <a:r>
              <a:rPr lang="en-US" sz="2800" dirty="0"/>
              <a:t> </a:t>
            </a:r>
            <a:r>
              <a:rPr lang="en-US" sz="2800" dirty="0" err="1"/>
              <a:t>huấn</a:t>
            </a:r>
            <a:r>
              <a:rPr lang="en-US" sz="2800" dirty="0"/>
              <a:t> </a:t>
            </a:r>
            <a:r>
              <a:rPr lang="en-US" sz="2800" dirty="0" err="1"/>
              <a:t>luyện</a:t>
            </a:r>
            <a:r>
              <a:rPr lang="en-US" sz="2800" dirty="0"/>
              <a:t> ML </a:t>
            </a:r>
            <a:r>
              <a:rPr lang="en-US" sz="2800" dirty="0" smtClean="0"/>
              <a:t>1M / 20M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Tập </a:t>
            </a:r>
            <a:r>
              <a:rPr lang="en-US" sz="2000" dirty="0" err="1" smtClean="0">
                <a:solidFill>
                  <a:schemeClr val="tx1">
                    <a:lumMod val="50000"/>
                    <a:lumOff val="50000"/>
                  </a:schemeClr>
                </a:solidFill>
              </a:rPr>
              <a:t>dữ</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liệu</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MovieLens</a:t>
            </a:r>
            <a:r>
              <a:rPr lang="en-US" sz="2000" dirty="0" smtClean="0">
                <a:solidFill>
                  <a:schemeClr val="tx1">
                    <a:lumMod val="50000"/>
                    <a:lumOff val="50000"/>
                  </a:schemeClr>
                </a:solidFill>
              </a:rPr>
              <a:t> 1M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Giới</a:t>
            </a:r>
            <a:r>
              <a:rPr lang="en-US" sz="2400" dirty="0" smtClean="0">
                <a:solidFill>
                  <a:schemeClr val="tx1"/>
                </a:solidFill>
              </a:rPr>
              <a:t> </a:t>
            </a:r>
            <a:r>
              <a:rPr lang="en-US" sz="2400" dirty="0" err="1" smtClean="0">
                <a:solidFill>
                  <a:schemeClr val="tx1"/>
                </a:solidFill>
              </a:rPr>
              <a:t>thiệu</a:t>
            </a:r>
            <a:r>
              <a:rPr lang="en-US" sz="2400" dirty="0" smtClean="0">
                <a:solidFill>
                  <a:schemeClr val="tx1"/>
                </a:solidFill>
              </a:rPr>
              <a:t> tập </a:t>
            </a:r>
            <a:r>
              <a:rPr lang="en-US" sz="2400" dirty="0" err="1" smtClean="0">
                <a:solidFill>
                  <a:schemeClr val="tx1"/>
                </a:solidFill>
              </a:rPr>
              <a:t>dữ</a:t>
            </a:r>
            <a:r>
              <a:rPr lang="en-US" sz="2400" dirty="0" smtClean="0">
                <a:solidFill>
                  <a:schemeClr val="tx1"/>
                </a:solidFill>
              </a:rPr>
              <a:t> </a:t>
            </a:r>
            <a:r>
              <a:rPr lang="en-US" sz="2400" dirty="0" err="1" smtClean="0">
                <a:solidFill>
                  <a:schemeClr val="tx1"/>
                </a:solidFill>
              </a:rPr>
              <a:t>liệu</a:t>
            </a:r>
            <a:r>
              <a:rPr lang="en-US" sz="2400" dirty="0">
                <a:solidFill>
                  <a:schemeClr val="tx1"/>
                </a:solidFill>
              </a:rPr>
              <a:t> </a:t>
            </a:r>
            <a:r>
              <a:rPr lang="en-US" sz="2400" dirty="0" smtClean="0">
                <a:solidFill>
                  <a:schemeClr val="tx1"/>
                </a:solidFill>
              </a:rPr>
              <a:t>ML 1M</a:t>
            </a:r>
            <a:endParaRPr lang="vi-VN" sz="2400" dirty="0">
              <a:solidFill>
                <a:schemeClr val="tx1"/>
              </a:solidFill>
            </a:endParaRPr>
          </a:p>
        </p:txBody>
      </p:sp>
      <p:pic>
        <p:nvPicPr>
          <p:cNvPr id="2" name="Picture 1"/>
          <p:cNvPicPr>
            <a:picLocks noChangeAspect="1"/>
          </p:cNvPicPr>
          <p:nvPr/>
        </p:nvPicPr>
        <p:blipFill>
          <a:blip r:embed="rId3"/>
          <a:stretch>
            <a:fillRect/>
          </a:stretch>
        </p:blipFill>
        <p:spPr>
          <a:xfrm>
            <a:off x="452817" y="1781798"/>
            <a:ext cx="4165750" cy="1309522"/>
          </a:xfrm>
          <a:prstGeom prst="rect">
            <a:avLst/>
          </a:prstGeom>
        </p:spPr>
      </p:pic>
      <p:pic>
        <p:nvPicPr>
          <p:cNvPr id="5" name="Picture 4"/>
          <p:cNvPicPr>
            <a:picLocks noChangeAspect="1"/>
          </p:cNvPicPr>
          <p:nvPr/>
        </p:nvPicPr>
        <p:blipFill>
          <a:blip r:embed="rId4"/>
          <a:stretch>
            <a:fillRect/>
          </a:stretch>
        </p:blipFill>
        <p:spPr>
          <a:xfrm>
            <a:off x="576306" y="3044057"/>
            <a:ext cx="3992183" cy="1370451"/>
          </a:xfrm>
          <a:prstGeom prst="rect">
            <a:avLst/>
          </a:prstGeom>
        </p:spPr>
      </p:pic>
      <p:pic>
        <p:nvPicPr>
          <p:cNvPr id="6" name="Picture 5"/>
          <p:cNvPicPr>
            <a:picLocks noChangeAspect="1"/>
          </p:cNvPicPr>
          <p:nvPr/>
        </p:nvPicPr>
        <p:blipFill>
          <a:blip r:embed="rId5"/>
          <a:stretch>
            <a:fillRect/>
          </a:stretch>
        </p:blipFill>
        <p:spPr>
          <a:xfrm>
            <a:off x="4568489" y="2178094"/>
            <a:ext cx="4215049" cy="1885680"/>
          </a:xfrm>
          <a:prstGeom prst="rect">
            <a:avLst/>
          </a:prstGeom>
        </p:spPr>
      </p:pic>
    </p:spTree>
    <p:extLst>
      <p:ext uri="{BB962C8B-B14F-4D97-AF65-F5344CB8AC3E}">
        <p14:creationId xmlns:p14="http://schemas.microsoft.com/office/powerpoint/2010/main" val="4233988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11"/>
          </a:xfrm>
          <a:prstGeom prst="rect">
            <a:avLst/>
          </a:prstGeom>
          <a:noFill/>
          <a:ln>
            <a:noFill/>
          </a:ln>
        </p:spPr>
        <p:txBody>
          <a:bodyPr spcFirstLastPara="1" wrap="square" lIns="0" tIns="12700" rIns="0" bIns="0" anchor="t" anchorCtr="0">
            <a:spAutoFit/>
          </a:bodyPr>
          <a:lstStyle/>
          <a:p>
            <a:pPr marL="12700" algn="ctr"/>
            <a:r>
              <a:rPr lang="en-US" sz="2800" dirty="0"/>
              <a:t>Tập </a:t>
            </a:r>
            <a:r>
              <a:rPr lang="en-US" sz="2800" dirty="0" err="1"/>
              <a:t>dữ</a:t>
            </a:r>
            <a:r>
              <a:rPr lang="en-US" sz="2800" dirty="0"/>
              <a:t> </a:t>
            </a:r>
            <a:r>
              <a:rPr lang="en-US" sz="2800" dirty="0" err="1"/>
              <a:t>liệu</a:t>
            </a:r>
            <a:r>
              <a:rPr lang="en-US" sz="2800" dirty="0"/>
              <a:t> </a:t>
            </a:r>
            <a:r>
              <a:rPr lang="en-US" sz="2800" dirty="0" err="1"/>
              <a:t>huấn</a:t>
            </a:r>
            <a:r>
              <a:rPr lang="en-US" sz="2800" dirty="0"/>
              <a:t> </a:t>
            </a:r>
            <a:r>
              <a:rPr lang="en-US" sz="2800" dirty="0" err="1"/>
              <a:t>luyện</a:t>
            </a:r>
            <a:r>
              <a:rPr lang="en-US" sz="2800" dirty="0"/>
              <a:t> ML </a:t>
            </a:r>
            <a:r>
              <a:rPr lang="en-US" sz="2800" dirty="0" smtClean="0"/>
              <a:t>1M / 20M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Tập </a:t>
            </a:r>
            <a:r>
              <a:rPr lang="en-US" sz="2000" dirty="0" err="1" smtClean="0">
                <a:solidFill>
                  <a:schemeClr val="tx1">
                    <a:lumMod val="50000"/>
                    <a:lumOff val="50000"/>
                  </a:schemeClr>
                </a:solidFill>
              </a:rPr>
              <a:t>dữ</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liệu</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MovieLens</a:t>
            </a:r>
            <a:r>
              <a:rPr lang="en-US" sz="2000" dirty="0" smtClean="0">
                <a:solidFill>
                  <a:schemeClr val="tx1">
                    <a:lumMod val="50000"/>
                    <a:lumOff val="50000"/>
                  </a:schemeClr>
                </a:solidFill>
              </a:rPr>
              <a:t> 1M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Giới</a:t>
            </a:r>
            <a:r>
              <a:rPr lang="en-US" sz="2400" dirty="0" smtClean="0">
                <a:solidFill>
                  <a:schemeClr val="tx1"/>
                </a:solidFill>
              </a:rPr>
              <a:t> </a:t>
            </a:r>
            <a:r>
              <a:rPr lang="en-US" sz="2400" dirty="0" err="1" smtClean="0">
                <a:solidFill>
                  <a:schemeClr val="tx1"/>
                </a:solidFill>
              </a:rPr>
              <a:t>thiệu</a:t>
            </a:r>
            <a:r>
              <a:rPr lang="en-US" sz="2400" dirty="0" smtClean="0">
                <a:solidFill>
                  <a:schemeClr val="tx1"/>
                </a:solidFill>
              </a:rPr>
              <a:t> tập </a:t>
            </a:r>
            <a:r>
              <a:rPr lang="en-US" sz="2400" dirty="0" err="1" smtClean="0">
                <a:solidFill>
                  <a:schemeClr val="tx1"/>
                </a:solidFill>
              </a:rPr>
              <a:t>dữ</a:t>
            </a:r>
            <a:r>
              <a:rPr lang="en-US" sz="2400" dirty="0" smtClean="0">
                <a:solidFill>
                  <a:schemeClr val="tx1"/>
                </a:solidFill>
              </a:rPr>
              <a:t> </a:t>
            </a:r>
            <a:r>
              <a:rPr lang="en-US" sz="2400" dirty="0" err="1" smtClean="0">
                <a:solidFill>
                  <a:schemeClr val="tx1"/>
                </a:solidFill>
              </a:rPr>
              <a:t>liệu</a:t>
            </a:r>
            <a:r>
              <a:rPr lang="en-US" sz="2400" dirty="0">
                <a:solidFill>
                  <a:schemeClr val="tx1"/>
                </a:solidFill>
              </a:rPr>
              <a:t> </a:t>
            </a:r>
            <a:r>
              <a:rPr lang="en-US" sz="2400" dirty="0" smtClean="0">
                <a:solidFill>
                  <a:schemeClr val="tx1"/>
                </a:solidFill>
              </a:rPr>
              <a:t>ML 1M</a:t>
            </a:r>
            <a:endParaRPr lang="vi-VN" sz="2400" dirty="0">
              <a:solidFill>
                <a:schemeClr val="tx1"/>
              </a:solidFill>
            </a:endParaRPr>
          </a:p>
        </p:txBody>
      </p:sp>
      <p:pic>
        <p:nvPicPr>
          <p:cNvPr id="6" name="Picture 5"/>
          <p:cNvPicPr>
            <a:picLocks noChangeAspect="1"/>
          </p:cNvPicPr>
          <p:nvPr/>
        </p:nvPicPr>
        <p:blipFill>
          <a:blip r:embed="rId3"/>
          <a:stretch>
            <a:fillRect/>
          </a:stretch>
        </p:blipFill>
        <p:spPr>
          <a:xfrm>
            <a:off x="773205" y="2076292"/>
            <a:ext cx="4175561" cy="1852064"/>
          </a:xfrm>
          <a:prstGeom prst="rect">
            <a:avLst/>
          </a:prstGeom>
        </p:spPr>
      </p:pic>
      <p:pic>
        <p:nvPicPr>
          <p:cNvPr id="11" name="Picture 10"/>
          <p:cNvPicPr>
            <a:picLocks noChangeAspect="1"/>
          </p:cNvPicPr>
          <p:nvPr/>
        </p:nvPicPr>
        <p:blipFill>
          <a:blip r:embed="rId4"/>
          <a:stretch>
            <a:fillRect/>
          </a:stretch>
        </p:blipFill>
        <p:spPr>
          <a:xfrm>
            <a:off x="4948766" y="2076292"/>
            <a:ext cx="3305141" cy="1866160"/>
          </a:xfrm>
          <a:prstGeom prst="rect">
            <a:avLst/>
          </a:prstGeom>
        </p:spPr>
      </p:pic>
    </p:spTree>
    <p:extLst>
      <p:ext uri="{BB962C8B-B14F-4D97-AF65-F5344CB8AC3E}">
        <p14:creationId xmlns:p14="http://schemas.microsoft.com/office/powerpoint/2010/main" val="73279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529264" y="949680"/>
            <a:ext cx="6264519" cy="1015663"/>
          </a:xfrm>
          <a:prstGeom prst="rect">
            <a:avLst/>
          </a:prstGeom>
          <a:noFill/>
        </p:spPr>
        <p:txBody>
          <a:bodyPr wrap="square" rtlCol="0">
            <a:spAutoFit/>
          </a:bodyPr>
          <a:lstStyle/>
          <a:p>
            <a:pPr algn="ctr"/>
            <a:r>
              <a:rPr lang="en-US" sz="6000" b="1" dirty="0" smtClean="0">
                <a:solidFill>
                  <a:srgbClr val="0070C0"/>
                </a:solidFill>
              </a:rPr>
              <a:t>Pipeline</a:t>
            </a:r>
            <a:endParaRPr lang="vi-VN" sz="6000" b="1" dirty="0" smtClean="0">
              <a:solidFill>
                <a:srgbClr val="0070C0"/>
              </a:solidFill>
            </a:endParaRPr>
          </a:p>
        </p:txBody>
      </p:sp>
    </p:spTree>
    <p:extLst>
      <p:ext uri="{BB962C8B-B14F-4D97-AF65-F5344CB8AC3E}">
        <p14:creationId xmlns:p14="http://schemas.microsoft.com/office/powerpoint/2010/main" val="118934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smtClean="0"/>
              <a:t>Kiến </a:t>
            </a:r>
            <a:r>
              <a:rPr lang="en-US" sz="2800" dirty="0" err="1" smtClean="0"/>
              <a:t>trúc</a:t>
            </a:r>
            <a:r>
              <a:rPr lang="en-US" sz="2800" dirty="0" smtClean="0"/>
              <a:t> </a:t>
            </a:r>
            <a:r>
              <a:rPr lang="en-US" sz="2800" dirty="0" err="1" smtClean="0"/>
              <a:t>đề</a:t>
            </a:r>
            <a:r>
              <a:rPr lang="en-US" sz="2800" dirty="0" smtClean="0"/>
              <a:t> </a:t>
            </a:r>
            <a:r>
              <a:rPr lang="en-US" sz="2800" dirty="0" err="1" smtClean="0"/>
              <a:t>xuất</a:t>
            </a:r>
            <a:endParaRPr sz="2800" dirty="0"/>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7668534"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Backbone collaborative filterin</a:t>
            </a:r>
            <a:r>
              <a:rPr lang="en-US" sz="2000" dirty="0" smtClean="0">
                <a:solidFill>
                  <a:schemeClr val="tx1">
                    <a:lumMod val="50000"/>
                    <a:lumOff val="50000"/>
                  </a:schemeClr>
                </a:solidFill>
              </a:rPr>
              <a:t>g + bridge Q-Former + 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smtClean="0">
                <a:solidFill>
                  <a:schemeClr val="tx1"/>
                </a:solidFill>
              </a:rPr>
              <a:t>Kiến </a:t>
            </a:r>
            <a:r>
              <a:rPr lang="en-US" sz="2400" dirty="0" err="1" smtClean="0">
                <a:solidFill>
                  <a:schemeClr val="tx1"/>
                </a:solidFill>
              </a:rPr>
              <a:t>trúc</a:t>
            </a:r>
            <a:r>
              <a:rPr lang="en-US" sz="2400" dirty="0" smtClean="0">
                <a:solidFill>
                  <a:schemeClr val="tx1"/>
                </a:solidFill>
              </a:rPr>
              <a:t> </a:t>
            </a:r>
            <a:r>
              <a:rPr lang="en-US" sz="2400" dirty="0" err="1" smtClean="0">
                <a:solidFill>
                  <a:schemeClr val="tx1"/>
                </a:solidFill>
              </a:rPr>
              <a:t>mô</a:t>
            </a:r>
            <a:r>
              <a:rPr lang="en-US" sz="2400" dirty="0" smtClean="0">
                <a:solidFill>
                  <a:schemeClr val="tx1"/>
                </a:solidFill>
              </a:rPr>
              <a:t> hình </a:t>
            </a:r>
            <a:r>
              <a:rPr lang="en-US" sz="2400" dirty="0" err="1" smtClean="0">
                <a:solidFill>
                  <a:schemeClr val="tx1"/>
                </a:solidFill>
              </a:rPr>
              <a:t>đề</a:t>
            </a:r>
            <a:r>
              <a:rPr lang="en-US" sz="2400" dirty="0" smtClean="0">
                <a:solidFill>
                  <a:schemeClr val="tx1"/>
                </a:solidFill>
              </a:rPr>
              <a:t> </a:t>
            </a:r>
            <a:r>
              <a:rPr lang="en-US" sz="2400" dirty="0" err="1" smtClean="0">
                <a:solidFill>
                  <a:schemeClr val="tx1"/>
                </a:solidFill>
              </a:rPr>
              <a:t>xuất</a:t>
            </a:r>
            <a:endParaRPr lang="vi-VN" sz="2400" dirty="0">
              <a:solidFill>
                <a:schemeClr val="tx1"/>
              </a:solidFill>
            </a:endParaRPr>
          </a:p>
        </p:txBody>
      </p:sp>
      <p:sp>
        <p:nvSpPr>
          <p:cNvPr id="15" name="TextBox 14"/>
          <p:cNvSpPr txBox="1"/>
          <p:nvPr/>
        </p:nvSpPr>
        <p:spPr>
          <a:xfrm>
            <a:off x="4108514" y="4370765"/>
            <a:ext cx="1558440" cy="246221"/>
          </a:xfrm>
          <a:prstGeom prst="rect">
            <a:avLst/>
          </a:prstGeom>
          <a:noFill/>
        </p:spPr>
        <p:txBody>
          <a:bodyPr wrap="none" rtlCol="0">
            <a:spAutoFit/>
          </a:bodyPr>
          <a:lstStyle/>
          <a:p>
            <a:pPr algn="ctr"/>
            <a:r>
              <a:rPr lang="en-US" sz="1000" dirty="0" smtClean="0"/>
              <a:t>Hình:</a:t>
            </a:r>
            <a:r>
              <a:rPr lang="vi-VN" sz="1000" dirty="0" smtClean="0"/>
              <a:t> </a:t>
            </a:r>
            <a:r>
              <a:rPr lang="en-US" sz="1000" dirty="0" smtClean="0"/>
              <a:t>Kiến </a:t>
            </a:r>
            <a:r>
              <a:rPr lang="en-US" sz="1000" dirty="0" err="1" smtClean="0"/>
              <a:t>trúc</a:t>
            </a:r>
            <a:r>
              <a:rPr lang="en-US" sz="1000" dirty="0" smtClean="0"/>
              <a:t> </a:t>
            </a:r>
            <a:r>
              <a:rPr lang="en-US" sz="1000" dirty="0" err="1" smtClean="0"/>
              <a:t>mô</a:t>
            </a:r>
            <a:r>
              <a:rPr lang="en-US" sz="1000" dirty="0" smtClean="0"/>
              <a:t> hình</a:t>
            </a:r>
            <a:endParaRPr lang="en-US" sz="1000" dirty="0"/>
          </a:p>
        </p:txBody>
      </p:sp>
      <p:pic>
        <p:nvPicPr>
          <p:cNvPr id="4" name="Picture 3"/>
          <p:cNvPicPr>
            <a:picLocks noChangeAspect="1"/>
          </p:cNvPicPr>
          <p:nvPr/>
        </p:nvPicPr>
        <p:blipFill>
          <a:blip r:embed="rId3"/>
          <a:stretch>
            <a:fillRect/>
          </a:stretch>
        </p:blipFill>
        <p:spPr>
          <a:xfrm>
            <a:off x="1052030" y="1715270"/>
            <a:ext cx="7615234" cy="2643877"/>
          </a:xfrm>
          <a:prstGeom prst="rect">
            <a:avLst/>
          </a:prstGeom>
        </p:spPr>
      </p:pic>
    </p:spTree>
    <p:extLst>
      <p:ext uri="{BB962C8B-B14F-4D97-AF65-F5344CB8AC3E}">
        <p14:creationId xmlns:p14="http://schemas.microsoft.com/office/powerpoint/2010/main" val="2114692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2017284" y="1741947"/>
            <a:ext cx="5156200" cy="1938992"/>
          </a:xfrm>
          <a:prstGeom prst="rect">
            <a:avLst/>
          </a:prstGeom>
          <a:noFill/>
        </p:spPr>
        <p:txBody>
          <a:bodyPr wrap="square" rtlCol="0">
            <a:spAutoFit/>
          </a:bodyPr>
          <a:lstStyle/>
          <a:p>
            <a:pPr algn="ctr"/>
            <a:r>
              <a:rPr lang="en-US" sz="6000" b="1" dirty="0" err="1" smtClean="0">
                <a:solidFill>
                  <a:srgbClr val="0070C0"/>
                </a:solidFill>
              </a:rPr>
              <a:t>Huấn</a:t>
            </a:r>
            <a:r>
              <a:rPr lang="en-US" sz="6000" b="1" dirty="0" smtClean="0">
                <a:solidFill>
                  <a:srgbClr val="0070C0"/>
                </a:solidFill>
              </a:rPr>
              <a:t> </a:t>
            </a:r>
            <a:r>
              <a:rPr lang="en-US" sz="6000" b="1" dirty="0" err="1" smtClean="0">
                <a:solidFill>
                  <a:srgbClr val="0070C0"/>
                </a:solidFill>
              </a:rPr>
              <a:t>luyện</a:t>
            </a:r>
            <a:r>
              <a:rPr lang="en-US" sz="6000" b="1" dirty="0" smtClean="0">
                <a:solidFill>
                  <a:srgbClr val="0070C0"/>
                </a:solidFill>
              </a:rPr>
              <a:t> </a:t>
            </a:r>
            <a:r>
              <a:rPr lang="en-US" sz="6000" b="1" dirty="0" err="1" smtClean="0">
                <a:solidFill>
                  <a:srgbClr val="0070C0"/>
                </a:solidFill>
              </a:rPr>
              <a:t>mô</a:t>
            </a:r>
            <a:r>
              <a:rPr lang="en-US" sz="6000" b="1" dirty="0" smtClean="0">
                <a:solidFill>
                  <a:srgbClr val="0070C0"/>
                </a:solidFill>
              </a:rPr>
              <a:t> hình</a:t>
            </a:r>
            <a:endParaRPr lang="en-US" sz="6000" dirty="0">
              <a:solidFill>
                <a:srgbClr val="0070C0"/>
              </a:solidFill>
            </a:endParaRPr>
          </a:p>
        </p:txBody>
      </p:sp>
    </p:spTree>
    <p:extLst>
      <p:ext uri="{BB962C8B-B14F-4D97-AF65-F5344CB8AC3E}">
        <p14:creationId xmlns:p14="http://schemas.microsoft.com/office/powerpoint/2010/main" val="19187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3 </a:t>
            </a:r>
            <a:r>
              <a:rPr lang="en-US" sz="2000" dirty="0" err="1" smtClean="0">
                <a:solidFill>
                  <a:schemeClr val="tx1">
                    <a:lumMod val="50000"/>
                    <a:lumOff val="50000"/>
                  </a:schemeClr>
                </a:solidFill>
              </a:rPr>
              <a:t>giai</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đoạn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pic>
        <p:nvPicPr>
          <p:cNvPr id="3" name="Picture 2"/>
          <p:cNvPicPr>
            <a:picLocks noChangeAspect="1"/>
          </p:cNvPicPr>
          <p:nvPr/>
        </p:nvPicPr>
        <p:blipFill>
          <a:blip r:embed="rId3"/>
          <a:stretch>
            <a:fillRect/>
          </a:stretch>
        </p:blipFill>
        <p:spPr>
          <a:xfrm>
            <a:off x="744763" y="1612719"/>
            <a:ext cx="7388420" cy="2942893"/>
          </a:xfrm>
          <a:prstGeom prst="rect">
            <a:avLst/>
          </a:prstGeom>
        </p:spPr>
      </p:pic>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1457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1: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r>
              <a:rPr lang="en-US" sz="2000" dirty="0" smtClean="0">
                <a:solidFill>
                  <a:schemeClr val="tx1">
                    <a:lumMod val="50000"/>
                    <a:lumOff val="50000"/>
                  </a:schemeClr>
                </a:solidFill>
              </a:rPr>
              <a:t> Matrix Factorization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 name="Picture 1"/>
          <p:cNvPicPr>
            <a:picLocks noChangeAspect="1"/>
          </p:cNvPicPr>
          <p:nvPr/>
        </p:nvPicPr>
        <p:blipFill>
          <a:blip r:embed="rId3"/>
          <a:stretch>
            <a:fillRect/>
          </a:stretch>
        </p:blipFill>
        <p:spPr>
          <a:xfrm>
            <a:off x="850463" y="1691093"/>
            <a:ext cx="8133975" cy="1812656"/>
          </a:xfrm>
          <a:prstGeom prst="rect">
            <a:avLst/>
          </a:prstGeom>
        </p:spPr>
      </p:pic>
      <p:pic>
        <p:nvPicPr>
          <p:cNvPr id="4" name="Picture 3"/>
          <p:cNvPicPr>
            <a:picLocks noChangeAspect="1"/>
          </p:cNvPicPr>
          <p:nvPr/>
        </p:nvPicPr>
        <p:blipFill>
          <a:blip r:embed="rId4"/>
          <a:stretch>
            <a:fillRect/>
          </a:stretch>
        </p:blipFill>
        <p:spPr>
          <a:xfrm>
            <a:off x="838107" y="3316238"/>
            <a:ext cx="5808236" cy="1302512"/>
          </a:xfrm>
          <a:prstGeom prst="rect">
            <a:avLst/>
          </a:prstGeom>
        </p:spPr>
      </p:pic>
      <p:sp>
        <p:nvSpPr>
          <p:cNvPr id="7" name="Rectangle 6"/>
          <p:cNvSpPr/>
          <p:nvPr/>
        </p:nvSpPr>
        <p:spPr>
          <a:xfrm>
            <a:off x="3170582" y="3505829"/>
            <a:ext cx="3453738" cy="461665"/>
          </a:xfrm>
          <a:prstGeom prst="rect">
            <a:avLst/>
          </a:prstGeom>
        </p:spPr>
        <p:txBody>
          <a:bodyPr wrap="square">
            <a:spAutoFit/>
          </a:bodyPr>
          <a:lstStyle/>
          <a:p>
            <a:r>
              <a:rPr lang="vi-VN" sz="800" dirty="0"/>
              <a:t>Accuracy phụ thuộc vào ngưỡng phân loại, nên kết quả có thể thay đổi khi đổi threshold</a:t>
            </a:r>
            <a:r>
              <a:rPr lang="vi-VN" sz="800" dirty="0" smtClean="0"/>
              <a:t>.</a:t>
            </a:r>
            <a:r>
              <a:rPr lang="en-US" sz="800" dirty="0" smtClean="0"/>
              <a:t> </a:t>
            </a:r>
            <a:r>
              <a:rPr lang="vi-VN" sz="800" dirty="0"/>
              <a:t>AUC phù hợp hơn cho recommender vì đo khả năng xếp hạng mẫu dương cao hơn mẫu âm</a:t>
            </a:r>
            <a:endParaRPr lang="en-US" sz="800" dirty="0"/>
          </a:p>
        </p:txBody>
      </p:sp>
    </p:spTree>
    <p:extLst>
      <p:ext uri="{BB962C8B-B14F-4D97-AF65-F5344CB8AC3E}">
        <p14:creationId xmlns:p14="http://schemas.microsoft.com/office/powerpoint/2010/main" val="847957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1: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r>
              <a:rPr lang="en-US" sz="2000" dirty="0" smtClean="0">
                <a:solidFill>
                  <a:schemeClr val="tx1">
                    <a:lumMod val="50000"/>
                    <a:lumOff val="50000"/>
                  </a:schemeClr>
                </a:solidFill>
              </a:rPr>
              <a:t> Matrix Factorization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3" name="Picture 2"/>
          <p:cNvPicPr>
            <a:picLocks noChangeAspect="1"/>
          </p:cNvPicPr>
          <p:nvPr/>
        </p:nvPicPr>
        <p:blipFill>
          <a:blip r:embed="rId3"/>
          <a:stretch>
            <a:fillRect/>
          </a:stretch>
        </p:blipFill>
        <p:spPr>
          <a:xfrm>
            <a:off x="1765300" y="1698683"/>
            <a:ext cx="5613400" cy="2822602"/>
          </a:xfrm>
          <a:prstGeom prst="rect">
            <a:avLst/>
          </a:prstGeom>
        </p:spPr>
      </p:pic>
    </p:spTree>
    <p:extLst>
      <p:ext uri="{BB962C8B-B14F-4D97-AF65-F5344CB8AC3E}">
        <p14:creationId xmlns:p14="http://schemas.microsoft.com/office/powerpoint/2010/main" val="904297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2: Freeze MF +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r>
              <a:rPr lang="en-US" sz="2000" dirty="0" smtClean="0">
                <a:solidFill>
                  <a:schemeClr val="tx1">
                    <a:lumMod val="50000"/>
                    <a:lumOff val="50000"/>
                  </a:schemeClr>
                </a:solidFill>
              </a:rPr>
              <a:t> Q-Former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3" name="Picture 2"/>
          <p:cNvPicPr>
            <a:picLocks noChangeAspect="1"/>
          </p:cNvPicPr>
          <p:nvPr/>
        </p:nvPicPr>
        <p:blipFill>
          <a:blip r:embed="rId3"/>
          <a:stretch>
            <a:fillRect/>
          </a:stretch>
        </p:blipFill>
        <p:spPr>
          <a:xfrm>
            <a:off x="987809" y="1781798"/>
            <a:ext cx="6924541" cy="2357672"/>
          </a:xfrm>
          <a:prstGeom prst="rect">
            <a:avLst/>
          </a:prstGeom>
        </p:spPr>
      </p:pic>
    </p:spTree>
    <p:extLst>
      <p:ext uri="{BB962C8B-B14F-4D97-AF65-F5344CB8AC3E}">
        <p14:creationId xmlns:p14="http://schemas.microsoft.com/office/powerpoint/2010/main" val="571790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2: Freeze MF +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r>
              <a:rPr lang="en-US" sz="2000" dirty="0" smtClean="0">
                <a:solidFill>
                  <a:schemeClr val="tx1">
                    <a:lumMod val="50000"/>
                    <a:lumOff val="50000"/>
                  </a:schemeClr>
                </a:solidFill>
              </a:rPr>
              <a:t> Q-Former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p:cNvSpPr/>
          <p:nvPr/>
        </p:nvSpPr>
        <p:spPr>
          <a:xfrm>
            <a:off x="576306" y="1896448"/>
            <a:ext cx="4572000" cy="1815882"/>
          </a:xfrm>
          <a:prstGeom prst="rect">
            <a:avLst/>
          </a:prstGeom>
        </p:spPr>
        <p:txBody>
          <a:bodyPr>
            <a:spAutoFit/>
          </a:bodyPr>
          <a:lstStyle/>
          <a:p>
            <a:pPr>
              <a:buFont typeface="Arial" panose="020B0604020202020204" pitchFamily="34" charset="0"/>
              <a:buChar char="•"/>
            </a:pPr>
            <a:r>
              <a:rPr lang="vi-VN" b="1" dirty="0" smtClean="0"/>
              <a:t>User–Item </a:t>
            </a:r>
            <a:r>
              <a:rPr lang="vi-VN" b="1" dirty="0"/>
              <a:t>loss</a:t>
            </a:r>
            <a:r>
              <a:rPr lang="vi-VN" dirty="0"/>
              <a:t>: ép user gần item dương, xa item âm để giữ collaborative signal.</a:t>
            </a:r>
          </a:p>
          <a:p>
            <a:pPr>
              <a:buFont typeface="Arial" panose="020B0604020202020204" pitchFamily="34" charset="0"/>
              <a:buChar char="•"/>
            </a:pPr>
            <a:r>
              <a:rPr lang="vi-VN" b="1" dirty="0"/>
              <a:t>Item–Text loss</a:t>
            </a:r>
            <a:r>
              <a:rPr lang="vi-VN" dirty="0"/>
              <a:t>: ép embedding item gần text/metadata của chính nó để bridge module học semantic alignment.</a:t>
            </a:r>
          </a:p>
          <a:p>
            <a:pPr>
              <a:buFont typeface="Arial" panose="020B0604020202020204" pitchFamily="34" charset="0"/>
              <a:buChar char="•"/>
            </a:pPr>
            <a:r>
              <a:rPr lang="vi-VN" b="1" dirty="0"/>
              <a:t>Tổng loss</a:t>
            </a:r>
            <a:r>
              <a:rPr lang="vi-VN" dirty="0"/>
              <a:t>: kết hợp 2 mục tiêu để representation vừa giữ tính cá nhân hóa, vừa phù hợp với không gian biểu diễn của LLM.</a:t>
            </a:r>
          </a:p>
        </p:txBody>
      </p:sp>
      <p:pic>
        <p:nvPicPr>
          <p:cNvPr id="11" name="Picture 10"/>
          <p:cNvPicPr>
            <a:picLocks noChangeAspect="1"/>
          </p:cNvPicPr>
          <p:nvPr/>
        </p:nvPicPr>
        <p:blipFill>
          <a:blip r:embed="rId3"/>
          <a:stretch>
            <a:fillRect/>
          </a:stretch>
        </p:blipFill>
        <p:spPr>
          <a:xfrm>
            <a:off x="4485754" y="3835071"/>
            <a:ext cx="4688338" cy="754352"/>
          </a:xfrm>
          <a:prstGeom prst="rect">
            <a:avLst/>
          </a:prstGeom>
        </p:spPr>
      </p:pic>
      <p:pic>
        <p:nvPicPr>
          <p:cNvPr id="12" name="Picture 11"/>
          <p:cNvPicPr>
            <a:picLocks noChangeAspect="1"/>
          </p:cNvPicPr>
          <p:nvPr/>
        </p:nvPicPr>
        <p:blipFill>
          <a:blip r:embed="rId4"/>
          <a:stretch>
            <a:fillRect/>
          </a:stretch>
        </p:blipFill>
        <p:spPr>
          <a:xfrm>
            <a:off x="5370138" y="1691730"/>
            <a:ext cx="3582122" cy="2064330"/>
          </a:xfrm>
          <a:prstGeom prst="rect">
            <a:avLst/>
          </a:prstGeom>
        </p:spPr>
      </p:pic>
    </p:spTree>
    <p:extLst>
      <p:ext uri="{BB962C8B-B14F-4D97-AF65-F5344CB8AC3E}">
        <p14:creationId xmlns:p14="http://schemas.microsoft.com/office/powerpoint/2010/main" val="3495444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2: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Qformer</a:t>
            </a:r>
            <a:r>
              <a:rPr lang="en-US" sz="2000" dirty="0" smtClean="0">
                <a:solidFill>
                  <a:schemeClr val="tx1">
                    <a:lumMod val="50000"/>
                    <a:lumOff val="50000"/>
                  </a:schemeClr>
                </a:solidFill>
              </a:rPr>
              <a:t> </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 name="Picture 1"/>
          <p:cNvPicPr>
            <a:picLocks noChangeAspect="1"/>
          </p:cNvPicPr>
          <p:nvPr/>
        </p:nvPicPr>
        <p:blipFill>
          <a:blip r:embed="rId3"/>
          <a:stretch>
            <a:fillRect/>
          </a:stretch>
        </p:blipFill>
        <p:spPr>
          <a:xfrm>
            <a:off x="4459067" y="575326"/>
            <a:ext cx="4327503" cy="3000444"/>
          </a:xfrm>
          <a:prstGeom prst="rect">
            <a:avLst/>
          </a:prstGeom>
        </p:spPr>
      </p:pic>
      <p:sp>
        <p:nvSpPr>
          <p:cNvPr id="4" name="Rectangle 3"/>
          <p:cNvSpPr/>
          <p:nvPr/>
        </p:nvSpPr>
        <p:spPr>
          <a:xfrm>
            <a:off x="660400" y="1936490"/>
            <a:ext cx="3702050" cy="2462213"/>
          </a:xfrm>
          <a:prstGeom prst="rect">
            <a:avLst/>
          </a:prstGeom>
        </p:spPr>
        <p:txBody>
          <a:bodyPr wrap="square">
            <a:spAutoFit/>
          </a:bodyPr>
          <a:lstStyle/>
          <a:p>
            <a:r>
              <a:rPr lang="en-US" dirty="0" err="1" smtClean="0"/>
              <a:t>Kết</a:t>
            </a:r>
            <a:r>
              <a:rPr lang="en-US" dirty="0" smtClean="0"/>
              <a:t> </a:t>
            </a:r>
            <a:r>
              <a:rPr lang="en-US" dirty="0" err="1" smtClean="0"/>
              <a:t>quả</a:t>
            </a:r>
            <a:r>
              <a:rPr lang="en-US" dirty="0" smtClean="0"/>
              <a:t> </a:t>
            </a:r>
            <a:r>
              <a:rPr lang="en-US" dirty="0" err="1" smtClean="0"/>
              <a:t>huấn</a:t>
            </a:r>
            <a:r>
              <a:rPr lang="en-US" dirty="0" smtClean="0"/>
              <a:t> </a:t>
            </a:r>
            <a:r>
              <a:rPr lang="en-US" dirty="0" err="1" smtClean="0"/>
              <a:t>luyện</a:t>
            </a:r>
            <a:r>
              <a:rPr lang="en-US" dirty="0" smtClean="0"/>
              <a:t>:</a:t>
            </a:r>
            <a:br>
              <a:rPr lang="en-US" dirty="0" smtClean="0"/>
            </a:br>
            <a:r>
              <a:rPr lang="en-US" dirty="0" smtClean="0"/>
              <a:t/>
            </a:r>
            <a:br>
              <a:rPr lang="en-US" dirty="0" smtClean="0"/>
            </a:br>
            <a:r>
              <a:rPr lang="en-US" dirty="0" smtClean="0"/>
              <a:t>- Q-Former gặp overfitting, loss </a:t>
            </a:r>
            <a:r>
              <a:rPr lang="en-US" dirty="0" err="1" smtClean="0"/>
              <a:t>tổng</a:t>
            </a:r>
            <a:r>
              <a:rPr lang="en-US" dirty="0" smtClean="0"/>
              <a:t> trên train </a:t>
            </a:r>
            <a:r>
              <a:rPr lang="en-US" dirty="0" err="1" smtClean="0"/>
              <a:t>giảm</a:t>
            </a:r>
            <a:r>
              <a:rPr lang="en-US" dirty="0" smtClean="0"/>
              <a:t> </a:t>
            </a:r>
            <a:r>
              <a:rPr lang="en-US" dirty="0" err="1" smtClean="0"/>
              <a:t>nhưng</a:t>
            </a:r>
            <a:r>
              <a:rPr lang="en-US" dirty="0" smtClean="0"/>
              <a:t> trên </a:t>
            </a:r>
            <a:r>
              <a:rPr lang="en-US" dirty="0" err="1" smtClean="0"/>
              <a:t>val</a:t>
            </a:r>
            <a:r>
              <a:rPr lang="en-US" dirty="0" smtClean="0"/>
              <a:t> </a:t>
            </a:r>
            <a:r>
              <a:rPr lang="en-US" dirty="0" err="1" smtClean="0"/>
              <a:t>giảm</a:t>
            </a:r>
            <a:r>
              <a:rPr lang="en-US" dirty="0" smtClean="0"/>
              <a:t> </a:t>
            </a:r>
            <a:r>
              <a:rPr lang="en-US" dirty="0" err="1" smtClean="0"/>
              <a:t>ko</a:t>
            </a:r>
            <a:r>
              <a:rPr lang="en-US" dirty="0" smtClean="0"/>
              <a:t> </a:t>
            </a:r>
            <a:r>
              <a:rPr lang="en-US" dirty="0" err="1" smtClean="0"/>
              <a:t>đáng</a:t>
            </a:r>
            <a:r>
              <a:rPr lang="en-US" dirty="0" smtClean="0"/>
              <a:t> </a:t>
            </a:r>
            <a:r>
              <a:rPr lang="en-US" dirty="0" err="1" smtClean="0"/>
              <a:t>kể</a:t>
            </a:r>
            <a:endParaRPr lang="en-US" dirty="0" smtClean="0"/>
          </a:p>
          <a:p>
            <a:endParaRPr lang="en-US" dirty="0"/>
          </a:p>
          <a:p>
            <a:r>
              <a:rPr lang="en-US" dirty="0" smtClean="0"/>
              <a:t>- Đã </a:t>
            </a:r>
            <a:r>
              <a:rPr lang="en-US" dirty="0" err="1" smtClean="0"/>
              <a:t>thêm</a:t>
            </a:r>
            <a:r>
              <a:rPr lang="en-US" dirty="0" smtClean="0"/>
              <a:t> các </a:t>
            </a:r>
            <a:r>
              <a:rPr lang="en-US" dirty="0" err="1" smtClean="0"/>
              <a:t>kĩ</a:t>
            </a:r>
            <a:r>
              <a:rPr lang="en-US" dirty="0" smtClean="0"/>
              <a:t> </a:t>
            </a:r>
            <a:r>
              <a:rPr lang="en-US" dirty="0" err="1" smtClean="0"/>
              <a:t>thuật</a:t>
            </a:r>
            <a:r>
              <a:rPr lang="en-US" dirty="0" smtClean="0"/>
              <a:t> </a:t>
            </a:r>
            <a:r>
              <a:rPr lang="en-US" dirty="0" err="1" smtClean="0"/>
              <a:t>chống</a:t>
            </a:r>
            <a:r>
              <a:rPr lang="en-US" dirty="0" smtClean="0"/>
              <a:t> overfitting như regularization vs dropout, </a:t>
            </a:r>
            <a:r>
              <a:rPr lang="en-US" dirty="0" err="1" smtClean="0"/>
              <a:t>không</a:t>
            </a:r>
            <a:r>
              <a:rPr lang="en-US" dirty="0" smtClean="0"/>
              <a:t> </a:t>
            </a:r>
            <a:r>
              <a:rPr lang="en-US" dirty="0" err="1" smtClean="0"/>
              <a:t>cải</a:t>
            </a:r>
            <a:r>
              <a:rPr lang="en-US" dirty="0" smtClean="0"/>
              <a:t> </a:t>
            </a:r>
            <a:r>
              <a:rPr lang="en-US" dirty="0" err="1" smtClean="0"/>
              <a:t>thiện</a:t>
            </a:r>
            <a:r>
              <a:rPr lang="en-US" dirty="0" smtClean="0"/>
              <a:t> </a:t>
            </a:r>
            <a:r>
              <a:rPr lang="en-US" dirty="0" err="1" smtClean="0"/>
              <a:t>đáng</a:t>
            </a:r>
            <a:r>
              <a:rPr lang="en-US" dirty="0" smtClean="0"/>
              <a:t> </a:t>
            </a:r>
            <a:r>
              <a:rPr lang="en-US" dirty="0" err="1" smtClean="0"/>
              <a:t>kể</a:t>
            </a:r>
            <a:r>
              <a:rPr lang="en-US" dirty="0" smtClean="0"/>
              <a:t>. </a:t>
            </a:r>
            <a:r>
              <a:rPr lang="en-US" dirty="0" err="1" smtClean="0"/>
              <a:t>Nguyên</a:t>
            </a:r>
            <a:r>
              <a:rPr lang="en-US" dirty="0" smtClean="0"/>
              <a:t> nhắn chính có thể </a:t>
            </a:r>
            <a:r>
              <a:rPr lang="en-US" dirty="0" err="1" smtClean="0"/>
              <a:t>đến</a:t>
            </a:r>
            <a:r>
              <a:rPr lang="en-US" dirty="0" smtClean="0"/>
              <a:t> </a:t>
            </a:r>
            <a:r>
              <a:rPr lang="en-US" dirty="0" err="1" smtClean="0"/>
              <a:t>từ</a:t>
            </a:r>
            <a:r>
              <a:rPr lang="en-US" dirty="0" smtClean="0"/>
              <a:t> instruction prompt </a:t>
            </a:r>
            <a:r>
              <a:rPr lang="en-US" dirty="0" err="1" smtClean="0"/>
              <a:t>quá</a:t>
            </a:r>
            <a:r>
              <a:rPr lang="en-US" dirty="0" smtClean="0"/>
              <a:t> cố </a:t>
            </a:r>
            <a:r>
              <a:rPr lang="en-US" dirty="0" err="1" smtClean="0"/>
              <a:t>định</a:t>
            </a:r>
            <a:r>
              <a:rPr lang="en-US" dirty="0" smtClean="0"/>
              <a:t> và item text </a:t>
            </a:r>
            <a:r>
              <a:rPr lang="en-US" dirty="0" err="1" smtClean="0"/>
              <a:t>không</a:t>
            </a:r>
            <a:r>
              <a:rPr lang="en-US" dirty="0" smtClean="0"/>
              <a:t> có </a:t>
            </a:r>
            <a:r>
              <a:rPr lang="en-US" dirty="0" err="1" smtClean="0"/>
              <a:t>đa</a:t>
            </a:r>
            <a:r>
              <a:rPr lang="en-US" dirty="0" smtClean="0"/>
              <a:t> </a:t>
            </a:r>
            <a:r>
              <a:rPr lang="en-US" dirty="0" err="1" smtClean="0"/>
              <a:t>dạng</a:t>
            </a:r>
            <a:r>
              <a:rPr lang="en-US" dirty="0" smtClean="0"/>
              <a:t>. =&gt; </a:t>
            </a:r>
            <a:r>
              <a:rPr lang="en-US" dirty="0" err="1" smtClean="0"/>
              <a:t>Kiểm</a:t>
            </a:r>
            <a:r>
              <a:rPr lang="en-US" dirty="0" smtClean="0"/>
              <a:t> </a:t>
            </a:r>
            <a:r>
              <a:rPr lang="en-US" dirty="0" err="1" smtClean="0"/>
              <a:t>tra</a:t>
            </a:r>
            <a:r>
              <a:rPr lang="en-US" dirty="0" smtClean="0"/>
              <a:t> lại tập </a:t>
            </a:r>
            <a:r>
              <a:rPr lang="en-US" dirty="0" err="1" smtClean="0"/>
              <a:t>dữ</a:t>
            </a:r>
            <a:r>
              <a:rPr lang="en-US" dirty="0" smtClean="0"/>
              <a:t> </a:t>
            </a:r>
            <a:r>
              <a:rPr lang="en-US" dirty="0" err="1" smtClean="0"/>
              <a:t>liệu</a:t>
            </a:r>
            <a:endParaRPr lang="en-US" dirty="0"/>
          </a:p>
        </p:txBody>
      </p:sp>
      <p:pic>
        <p:nvPicPr>
          <p:cNvPr id="6" name="Picture 5"/>
          <p:cNvPicPr>
            <a:picLocks noChangeAspect="1"/>
          </p:cNvPicPr>
          <p:nvPr/>
        </p:nvPicPr>
        <p:blipFill>
          <a:blip r:embed="rId4"/>
          <a:stretch>
            <a:fillRect/>
          </a:stretch>
        </p:blipFill>
        <p:spPr>
          <a:xfrm>
            <a:off x="4228513" y="3899541"/>
            <a:ext cx="4788610" cy="313012"/>
          </a:xfrm>
          <a:prstGeom prst="rect">
            <a:avLst/>
          </a:prstGeom>
        </p:spPr>
      </p:pic>
    </p:spTree>
    <p:extLst>
      <p:ext uri="{BB962C8B-B14F-4D97-AF65-F5344CB8AC3E}">
        <p14:creationId xmlns:p14="http://schemas.microsoft.com/office/powerpoint/2010/main" val="226879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3: Freeze LLM + MF, Train Q-Former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3" name="Picture 2"/>
          <p:cNvPicPr>
            <a:picLocks noChangeAspect="1"/>
          </p:cNvPicPr>
          <p:nvPr/>
        </p:nvPicPr>
        <p:blipFill>
          <a:blip r:embed="rId3"/>
          <a:stretch>
            <a:fillRect/>
          </a:stretch>
        </p:blipFill>
        <p:spPr>
          <a:xfrm>
            <a:off x="593632" y="2140765"/>
            <a:ext cx="8205010" cy="1924333"/>
          </a:xfrm>
          <a:prstGeom prst="rect">
            <a:avLst/>
          </a:prstGeom>
        </p:spPr>
      </p:pic>
    </p:spTree>
    <p:extLst>
      <p:ext uri="{BB962C8B-B14F-4D97-AF65-F5344CB8AC3E}">
        <p14:creationId xmlns:p14="http://schemas.microsoft.com/office/powerpoint/2010/main" val="3604408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1516</TotalTime>
  <Words>4324</Words>
  <Application>Microsoft Office PowerPoint</Application>
  <PresentationFormat>On-screen Show (16:9)</PresentationFormat>
  <Paragraphs>207</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-apple-system</vt:lpstr>
      <vt:lpstr>Arial</vt:lpstr>
      <vt:lpstr>Calibri</vt:lpstr>
      <vt:lpstr>Menlo</vt:lpstr>
      <vt:lpstr>Office Theme</vt:lpstr>
      <vt:lpstr>CĂN CHỈNH VÀ TÍCH HỢP THÔNG TIN CỘNG TÁC NHẰM NÂNG CAO HIỆU QUẢ CHO HỆ THỐNG TƯ VẤN DỰA TRÊN MÔ HÌNH NGÔN NGỮ LỚN</vt:lpstr>
      <vt:lpstr>Nội dung</vt:lpstr>
      <vt:lpstr>Tập dữ liệu huấn luyện ML 1M / 20M</vt:lpstr>
      <vt:lpstr>Tập dữ liệu huấn luyện ML 1M / 20M</vt:lpstr>
      <vt:lpstr>Tập dữ liệu huấn luyện ML 1M / 20M</vt:lpstr>
      <vt:lpstr>Tập dữ liệu huấn luyện ML 1M / 20M</vt:lpstr>
      <vt:lpstr>Tập dữ liệu huấn luyện ML 1M / 20M</vt:lpstr>
      <vt:lpstr>Tập dữ liệu huấn luyện ML 1M / 20M</vt:lpstr>
      <vt:lpstr>Tập dữ liệu huấn luyện ML 1M / 20M</vt:lpstr>
      <vt:lpstr>PowerPoint Presentation</vt:lpstr>
      <vt:lpstr>Kiến trúc đề xuất</vt:lpstr>
      <vt:lpstr>PowerPoint Presentation</vt:lpstr>
      <vt:lpstr>Huấn luyện mô hình</vt:lpstr>
      <vt:lpstr>Huấn luyện mô hình</vt:lpstr>
      <vt:lpstr>Huấn luyện mô hình</vt:lpstr>
      <vt:lpstr>Huấn luyện mô hình</vt:lpstr>
      <vt:lpstr>Huấn luyện mô hình</vt:lpstr>
      <vt:lpstr>Huấn luyện mô hình</vt:lpstr>
      <vt:lpstr>Huấn luyện mô hình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Ý TƯỞNG CHẤM ĐIỂM BÀI THI LẬP TRÌNH</dc:title>
  <cp:lastModifiedBy>Dell</cp:lastModifiedBy>
  <cp:revision>80</cp:revision>
  <dcterms:modified xsi:type="dcterms:W3CDTF">2026-03-10T14:42:00Z</dcterms:modified>
</cp:coreProperties>
</file>